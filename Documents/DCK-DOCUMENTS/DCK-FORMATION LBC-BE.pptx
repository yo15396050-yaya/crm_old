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256" r:id="rId3"/>
    <p:sldId id="260" r:id="rId4"/>
    <p:sldId id="257" r:id="rId5"/>
    <p:sldId id="276"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7" r:id="rId22"/>
    <p:sldId id="278" r:id="rId23"/>
    <p:sldId id="279" r:id="rId24"/>
    <p:sldId id="280" r:id="rId25"/>
    <p:sldId id="275" r:id="rId26"/>
  </p:sldIdLst>
  <p:sldSz cx="12192000" cy="6858000"/>
  <p:notesSz cx="6858000" cy="9144000"/>
  <p:custShowLst>
    <p:custShow name="Diaporama personnalisé 1" id="0">
      <p:sldLst>
        <p:sld r:id="rId7"/>
      </p:sldLst>
    </p:custShow>
  </p:custShow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32" autoAdjust="0"/>
    <p:restoredTop sz="91160" autoAdjust="0"/>
  </p:normalViewPr>
  <p:slideViewPr>
    <p:cSldViewPr snapToGrid="0">
      <p:cViewPr varScale="1">
        <p:scale>
          <a:sx n="88" d="100"/>
          <a:sy n="88" d="100"/>
        </p:scale>
        <p:origin x="171"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8B0513-D17D-49C6-BF9F-9B8C98916337}"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fr-FR"/>
        </a:p>
      </dgm:t>
    </dgm:pt>
    <dgm:pt modelId="{3345E704-0CE1-4C9E-9760-4D035F02E436}">
      <dgm:prSet phldrT="[Texte]" custT="1"/>
      <dgm:spPr/>
      <dgm:t>
        <a:bodyPr/>
        <a:lstStyle/>
        <a:p>
          <a:r>
            <a:rPr lang="fr-FR" sz="2000" dirty="0"/>
            <a:t>01</a:t>
          </a:r>
        </a:p>
      </dgm:t>
    </dgm:pt>
    <dgm:pt modelId="{32D6BF07-10F1-4304-B3F5-2AE9C83BF84E}" type="parTrans" cxnId="{2635D8DB-1655-406C-9D98-0E4CC984720B}">
      <dgm:prSet/>
      <dgm:spPr/>
      <dgm:t>
        <a:bodyPr/>
        <a:lstStyle/>
        <a:p>
          <a:endParaRPr lang="fr-FR"/>
        </a:p>
      </dgm:t>
    </dgm:pt>
    <dgm:pt modelId="{6AA42BF9-98C9-49E0-9559-0D0E41999D27}" type="sibTrans" cxnId="{2635D8DB-1655-406C-9D98-0E4CC984720B}">
      <dgm:prSet/>
      <dgm:spPr/>
      <dgm:t>
        <a:bodyPr/>
        <a:lstStyle/>
        <a:p>
          <a:endParaRPr lang="fr-FR"/>
        </a:p>
      </dgm:t>
    </dgm:pt>
    <dgm:pt modelId="{AF961448-2B22-45BF-A66E-97448A516DFE}">
      <dgm:prSet phldrT="[Texte]" custT="1"/>
      <dgm:spPr/>
      <dgm:t>
        <a:bodyPr/>
        <a:lstStyle/>
        <a:p>
          <a:pPr>
            <a:buNone/>
          </a:pPr>
          <a:r>
            <a:rPr lang="fr-FR" sz="2000" b="1" dirty="0"/>
            <a:t>ORGANISATION INTERNE </a:t>
          </a:r>
          <a:r>
            <a:rPr lang="fr-FR" sz="2000" dirty="0"/>
            <a:t>: Organes délibérant (stratégie) et exécutif (mise en œuvre, PPE, correspondance bancaire)</a:t>
          </a:r>
        </a:p>
      </dgm:t>
    </dgm:pt>
    <dgm:pt modelId="{9D18AC6E-6D83-460B-8EC9-577C10B88C95}" type="parTrans" cxnId="{6174E00E-A884-4120-844F-79EFF61681F9}">
      <dgm:prSet/>
      <dgm:spPr/>
      <dgm:t>
        <a:bodyPr/>
        <a:lstStyle/>
        <a:p>
          <a:endParaRPr lang="fr-FR"/>
        </a:p>
      </dgm:t>
    </dgm:pt>
    <dgm:pt modelId="{9DB14320-8421-4809-813D-DB560E86CBEB}" type="sibTrans" cxnId="{6174E00E-A884-4120-844F-79EFF61681F9}">
      <dgm:prSet/>
      <dgm:spPr/>
      <dgm:t>
        <a:bodyPr/>
        <a:lstStyle/>
        <a:p>
          <a:endParaRPr lang="fr-FR"/>
        </a:p>
      </dgm:t>
    </dgm:pt>
    <dgm:pt modelId="{A5796927-5C7E-4C29-9F7B-2E2C62433D25}">
      <dgm:prSet phldrT="[Texte]"/>
      <dgm:spPr/>
      <dgm:t>
        <a:bodyPr/>
        <a:lstStyle/>
        <a:p>
          <a:r>
            <a:rPr lang="fr-FR" dirty="0"/>
            <a:t>02</a:t>
          </a:r>
        </a:p>
      </dgm:t>
    </dgm:pt>
    <dgm:pt modelId="{AF8CE56E-88D0-42ED-B5B9-8A61C55FE8BB}" type="parTrans" cxnId="{65916901-CE44-4373-B7D7-3C58CBBFA49A}">
      <dgm:prSet/>
      <dgm:spPr/>
      <dgm:t>
        <a:bodyPr/>
        <a:lstStyle/>
        <a:p>
          <a:endParaRPr lang="fr-FR"/>
        </a:p>
      </dgm:t>
    </dgm:pt>
    <dgm:pt modelId="{F3DE32AD-06D0-4FF2-89BB-76F227AB117C}" type="sibTrans" cxnId="{65916901-CE44-4373-B7D7-3C58CBBFA49A}">
      <dgm:prSet/>
      <dgm:spPr/>
      <dgm:t>
        <a:bodyPr/>
        <a:lstStyle/>
        <a:p>
          <a:endParaRPr lang="fr-FR"/>
        </a:p>
      </dgm:t>
    </dgm:pt>
    <dgm:pt modelId="{ACF3BB22-72AD-43B8-B3A3-4B5E7EE6B9DD}">
      <dgm:prSet phldrT="[Texte]"/>
      <dgm:spPr/>
      <dgm:t>
        <a:bodyPr/>
        <a:lstStyle/>
        <a:p>
          <a:r>
            <a:rPr lang="fr-FR" dirty="0"/>
            <a:t>03</a:t>
          </a:r>
        </a:p>
      </dgm:t>
    </dgm:pt>
    <dgm:pt modelId="{A1034E60-2333-4F78-ACF4-FFFD815144BC}" type="parTrans" cxnId="{8F530B7D-B599-425B-BC3C-50530D3F7E1E}">
      <dgm:prSet/>
      <dgm:spPr/>
      <dgm:t>
        <a:bodyPr/>
        <a:lstStyle/>
        <a:p>
          <a:endParaRPr lang="fr-FR"/>
        </a:p>
      </dgm:t>
    </dgm:pt>
    <dgm:pt modelId="{A12BE32D-6CFF-4F9B-AB5A-F5C2321F2DB2}" type="sibTrans" cxnId="{8F530B7D-B599-425B-BC3C-50530D3F7E1E}">
      <dgm:prSet/>
      <dgm:spPr/>
      <dgm:t>
        <a:bodyPr/>
        <a:lstStyle/>
        <a:p>
          <a:endParaRPr lang="fr-FR"/>
        </a:p>
      </dgm:t>
    </dgm:pt>
    <dgm:pt modelId="{549F9650-3479-43CB-90C7-6746BF87058B}">
      <dgm:prSet custT="1"/>
      <dgm:spPr/>
      <dgm:t>
        <a:bodyPr/>
        <a:lstStyle/>
        <a:p>
          <a:pPr>
            <a:buNone/>
          </a:pPr>
          <a:endParaRPr lang="fr-FR" sz="1800"/>
        </a:p>
      </dgm:t>
    </dgm:pt>
    <dgm:pt modelId="{153B232A-417B-4A32-9ADD-3728894B8C86}" type="parTrans" cxnId="{6B295FC2-DFB9-4197-8C5A-B98113AC82D7}">
      <dgm:prSet/>
      <dgm:spPr/>
      <dgm:t>
        <a:bodyPr/>
        <a:lstStyle/>
        <a:p>
          <a:endParaRPr lang="fr-FR"/>
        </a:p>
      </dgm:t>
    </dgm:pt>
    <dgm:pt modelId="{399181D4-064E-402F-AB50-2961C1A7F06F}" type="sibTrans" cxnId="{6B295FC2-DFB9-4197-8C5A-B98113AC82D7}">
      <dgm:prSet/>
      <dgm:spPr/>
      <dgm:t>
        <a:bodyPr/>
        <a:lstStyle/>
        <a:p>
          <a:endParaRPr lang="fr-FR"/>
        </a:p>
      </dgm:t>
    </dgm:pt>
    <dgm:pt modelId="{5EC977F2-9C52-478A-80F4-A7159A814121}">
      <dgm:prSet custT="1"/>
      <dgm:spPr/>
      <dgm:t>
        <a:bodyPr/>
        <a:lstStyle/>
        <a:p>
          <a:pPr>
            <a:buSzPts val="1000"/>
            <a:buFont typeface="Wingdings" panose="05000000000000000000" pitchFamily="2" charset="2"/>
            <a:buNone/>
          </a:pPr>
          <a:r>
            <a:rPr lang="fr-FR" sz="2000" b="1" dirty="0"/>
            <a:t>SYSTÈME D’INFORMATION :</a:t>
          </a:r>
          <a:r>
            <a:rPr lang="fr-FR" sz="2000" dirty="0"/>
            <a:t> Profilage, filtrage, suivi, identification suspecte, prise en compte sanctions ciblées (mise à jour annuelle de l'efficacité)</a:t>
          </a:r>
        </a:p>
      </dgm:t>
    </dgm:pt>
    <dgm:pt modelId="{61FC112A-92B9-4EF3-BA58-83689813E732}" type="parTrans" cxnId="{B805B2D0-6C7B-412F-B5FD-C0EE967A70BF}">
      <dgm:prSet/>
      <dgm:spPr/>
      <dgm:t>
        <a:bodyPr/>
        <a:lstStyle/>
        <a:p>
          <a:endParaRPr lang="fr-FR"/>
        </a:p>
      </dgm:t>
    </dgm:pt>
    <dgm:pt modelId="{8C22AC36-1D47-472F-81AC-4684FEBD82AE}" type="sibTrans" cxnId="{B805B2D0-6C7B-412F-B5FD-C0EE967A70BF}">
      <dgm:prSet/>
      <dgm:spPr/>
      <dgm:t>
        <a:bodyPr/>
        <a:lstStyle/>
        <a:p>
          <a:endParaRPr lang="fr-FR"/>
        </a:p>
      </dgm:t>
    </dgm:pt>
    <dgm:pt modelId="{9193E2FF-13D2-4D3D-B3FF-87FF96FAF6AF}">
      <dgm:prSet custT="1"/>
      <dgm:spPr/>
      <dgm:t>
        <a:bodyPr/>
        <a:lstStyle/>
        <a:p>
          <a:endParaRPr lang="fr-FR" sz="1800" dirty="0"/>
        </a:p>
      </dgm:t>
    </dgm:pt>
    <dgm:pt modelId="{8568CE0D-08D5-4B6E-95D7-282711898638}" type="parTrans" cxnId="{FCE8D86A-C5BA-4657-9ABA-5C93A2AF7FF9}">
      <dgm:prSet/>
      <dgm:spPr/>
      <dgm:t>
        <a:bodyPr/>
        <a:lstStyle/>
        <a:p>
          <a:endParaRPr lang="fr-FR"/>
        </a:p>
      </dgm:t>
    </dgm:pt>
    <dgm:pt modelId="{02157A96-A5EF-4D3E-AC36-4EC6912B7B4B}" type="sibTrans" cxnId="{FCE8D86A-C5BA-4657-9ABA-5C93A2AF7FF9}">
      <dgm:prSet/>
      <dgm:spPr/>
      <dgm:t>
        <a:bodyPr/>
        <a:lstStyle/>
        <a:p>
          <a:endParaRPr lang="fr-FR"/>
        </a:p>
      </dgm:t>
    </dgm:pt>
    <dgm:pt modelId="{6316DEDA-3DB3-417D-9449-26F47BCC51EA}">
      <dgm:prSet custT="1"/>
      <dgm:spPr/>
      <dgm:t>
        <a:bodyPr/>
        <a:lstStyle/>
        <a:p>
          <a:pPr>
            <a:buNone/>
          </a:pPr>
          <a:r>
            <a:rPr lang="fr-FR" sz="2000" b="1" dirty="0"/>
            <a:t>STRUCTURE INTERNE LBC/FT/FP :</a:t>
          </a:r>
          <a:r>
            <a:rPr lang="fr-FR" sz="2000" dirty="0"/>
            <a:t> Dédiée, rattachée DG, centralise soupçons, rédige déclarations CENTIF, gère formation et risques</a:t>
          </a:r>
        </a:p>
      </dgm:t>
    </dgm:pt>
    <dgm:pt modelId="{6411D2F2-F544-4107-A724-0D7890A3AB52}" type="parTrans" cxnId="{3E037631-A809-432F-8E51-0F7C174A3D68}">
      <dgm:prSet/>
      <dgm:spPr/>
      <dgm:t>
        <a:bodyPr/>
        <a:lstStyle/>
        <a:p>
          <a:endParaRPr lang="fr-FR"/>
        </a:p>
      </dgm:t>
    </dgm:pt>
    <dgm:pt modelId="{0FB56F4C-DCF7-476A-A720-992B88F9E23F}" type="sibTrans" cxnId="{3E037631-A809-432F-8E51-0F7C174A3D68}">
      <dgm:prSet/>
      <dgm:spPr/>
      <dgm:t>
        <a:bodyPr/>
        <a:lstStyle/>
        <a:p>
          <a:endParaRPr lang="fr-FR"/>
        </a:p>
      </dgm:t>
    </dgm:pt>
    <dgm:pt modelId="{D80F4689-FEAE-41CD-8929-3D43DA4444C6}">
      <dgm:prSet/>
      <dgm:spPr/>
      <dgm:t>
        <a:bodyPr/>
        <a:lstStyle/>
        <a:p>
          <a:pPr>
            <a:buNone/>
          </a:pPr>
          <a:r>
            <a:rPr lang="fr-FR" sz="900" dirty="0"/>
            <a:t>04</a:t>
          </a:r>
        </a:p>
      </dgm:t>
    </dgm:pt>
    <dgm:pt modelId="{5E6F10DA-955B-40EA-A382-E0CF6405A1D8}" type="parTrans" cxnId="{BBED8060-1DD6-4AD8-82F7-636F9986FF98}">
      <dgm:prSet/>
      <dgm:spPr/>
      <dgm:t>
        <a:bodyPr/>
        <a:lstStyle/>
        <a:p>
          <a:endParaRPr lang="fr-FR"/>
        </a:p>
      </dgm:t>
    </dgm:pt>
    <dgm:pt modelId="{8A803C17-6FE3-4ED0-9593-19373260E730}" type="sibTrans" cxnId="{BBED8060-1DD6-4AD8-82F7-636F9986FF98}">
      <dgm:prSet/>
      <dgm:spPr/>
      <dgm:t>
        <a:bodyPr/>
        <a:lstStyle/>
        <a:p>
          <a:endParaRPr lang="fr-FR"/>
        </a:p>
      </dgm:t>
    </dgm:pt>
    <dgm:pt modelId="{99758B0C-F400-4B4E-AD43-3DC39A42067C}">
      <dgm:prSet custT="1"/>
      <dgm:spPr/>
      <dgm:t>
        <a:bodyPr/>
        <a:lstStyle/>
        <a:p>
          <a:pPr>
            <a:buSzPts val="1000"/>
            <a:buFont typeface="Wingdings" panose="05000000000000000000" pitchFamily="2" charset="2"/>
            <a:buNone/>
          </a:pPr>
          <a:r>
            <a:rPr lang="fr-FR" sz="2000" b="1" dirty="0"/>
            <a:t>FORMATION DU PERSONNEL :</a:t>
          </a:r>
          <a:r>
            <a:rPr lang="fr-FR" sz="2000" dirty="0"/>
            <a:t> Programme annuel pour personnel et gouvernance</a:t>
          </a:r>
          <a:r>
            <a:rPr lang="fr-FR" sz="900" dirty="0"/>
            <a:t>.</a:t>
          </a:r>
        </a:p>
      </dgm:t>
    </dgm:pt>
    <dgm:pt modelId="{318979FD-D46A-4240-AE30-8F691BFA0E8F}" type="parTrans" cxnId="{1592E035-E018-4B0D-BC6D-87D4179C0EB5}">
      <dgm:prSet/>
      <dgm:spPr/>
      <dgm:t>
        <a:bodyPr/>
        <a:lstStyle/>
        <a:p>
          <a:endParaRPr lang="fr-FR"/>
        </a:p>
      </dgm:t>
    </dgm:pt>
    <dgm:pt modelId="{C762CE55-81E5-44D6-830F-EC6FD9352618}" type="sibTrans" cxnId="{1592E035-E018-4B0D-BC6D-87D4179C0EB5}">
      <dgm:prSet/>
      <dgm:spPr/>
      <dgm:t>
        <a:bodyPr/>
        <a:lstStyle/>
        <a:p>
          <a:endParaRPr lang="fr-FR"/>
        </a:p>
      </dgm:t>
    </dgm:pt>
    <dgm:pt modelId="{04CC2B41-C4D5-4900-8327-01C31C5A5F41}">
      <dgm:prSet/>
      <dgm:spPr/>
      <dgm:t>
        <a:bodyPr/>
        <a:lstStyle/>
        <a:p>
          <a:endParaRPr lang="fr-FR" sz="900" dirty="0"/>
        </a:p>
      </dgm:t>
    </dgm:pt>
    <dgm:pt modelId="{2CAB5A3E-B09F-44FC-8CA8-AD41F06E34E2}" type="parTrans" cxnId="{D327DBEF-BC64-43B8-83C2-37F8A91B6B16}">
      <dgm:prSet/>
      <dgm:spPr/>
      <dgm:t>
        <a:bodyPr/>
        <a:lstStyle/>
        <a:p>
          <a:endParaRPr lang="fr-FR"/>
        </a:p>
      </dgm:t>
    </dgm:pt>
    <dgm:pt modelId="{862A8A9C-183D-478D-8736-01A0C9CE489E}" type="sibTrans" cxnId="{D327DBEF-BC64-43B8-83C2-37F8A91B6B16}">
      <dgm:prSet/>
      <dgm:spPr/>
      <dgm:t>
        <a:bodyPr/>
        <a:lstStyle/>
        <a:p>
          <a:endParaRPr lang="fr-FR"/>
        </a:p>
      </dgm:t>
    </dgm:pt>
    <dgm:pt modelId="{BB08528D-51E5-46DB-B6F2-E9867AB2DC9E}">
      <dgm:prSet/>
      <dgm:spPr/>
      <dgm:t>
        <a:bodyPr/>
        <a:lstStyle/>
        <a:p>
          <a:pPr>
            <a:buNone/>
          </a:pPr>
          <a:r>
            <a:rPr lang="fr-FR" sz="1400" dirty="0"/>
            <a:t>05</a:t>
          </a:r>
        </a:p>
      </dgm:t>
    </dgm:pt>
    <dgm:pt modelId="{A5E1538E-9E0B-4BC7-A07A-55F294EC1733}" type="parTrans" cxnId="{8C0A135F-0DC0-4E55-84B4-DCCEDF505701}">
      <dgm:prSet/>
      <dgm:spPr/>
      <dgm:t>
        <a:bodyPr/>
        <a:lstStyle/>
        <a:p>
          <a:endParaRPr lang="fr-FR"/>
        </a:p>
      </dgm:t>
    </dgm:pt>
    <dgm:pt modelId="{B7E145FD-E26F-4857-BA56-AED3A0BE834A}" type="sibTrans" cxnId="{8C0A135F-0DC0-4E55-84B4-DCCEDF505701}">
      <dgm:prSet/>
      <dgm:spPr/>
      <dgm:t>
        <a:bodyPr/>
        <a:lstStyle/>
        <a:p>
          <a:endParaRPr lang="fr-FR"/>
        </a:p>
      </dgm:t>
    </dgm:pt>
    <dgm:pt modelId="{6065A38F-8AB1-42CC-A00E-B7D1D4491CB8}">
      <dgm:prSet custT="1"/>
      <dgm:spPr/>
      <dgm:t>
        <a:bodyPr/>
        <a:lstStyle/>
        <a:p>
          <a:pPr>
            <a:buSzPts val="1000"/>
            <a:buFont typeface="Wingdings" panose="05000000000000000000" pitchFamily="2" charset="2"/>
            <a:buNone/>
          </a:pPr>
          <a:r>
            <a:rPr lang="fr-FR" sz="2000" b="1" dirty="0"/>
            <a:t>CONTRÔLES ET REPORTING :</a:t>
          </a:r>
          <a:r>
            <a:rPr lang="fr-FR" sz="2000" dirty="0"/>
            <a:t> Audit interne annuel, rapport annuel à BCEAO (dans les 2 mois).</a:t>
          </a:r>
        </a:p>
      </dgm:t>
    </dgm:pt>
    <dgm:pt modelId="{97C523F7-58CC-4562-96A9-9E879BAFF141}" type="parTrans" cxnId="{77D30A2A-7A7A-48F8-941B-31F6F8106E50}">
      <dgm:prSet/>
      <dgm:spPr/>
      <dgm:t>
        <a:bodyPr/>
        <a:lstStyle/>
        <a:p>
          <a:endParaRPr lang="fr-FR"/>
        </a:p>
      </dgm:t>
    </dgm:pt>
    <dgm:pt modelId="{EEAD86BD-8B31-4E70-AB2A-CB758DCB07D2}" type="sibTrans" cxnId="{77D30A2A-7A7A-48F8-941B-31F6F8106E50}">
      <dgm:prSet/>
      <dgm:spPr/>
      <dgm:t>
        <a:bodyPr/>
        <a:lstStyle/>
        <a:p>
          <a:endParaRPr lang="fr-FR"/>
        </a:p>
      </dgm:t>
    </dgm:pt>
    <dgm:pt modelId="{4200D2F3-DB48-4700-BA81-8B0CE3AC059B}">
      <dgm:prSet/>
      <dgm:spPr/>
      <dgm:t>
        <a:bodyPr/>
        <a:lstStyle/>
        <a:p>
          <a:endParaRPr lang="fr-FR" sz="1400"/>
        </a:p>
      </dgm:t>
    </dgm:pt>
    <dgm:pt modelId="{7A445668-31C5-46F1-B7BA-665295EC4288}" type="parTrans" cxnId="{BBB9EE0E-24AD-443B-B931-E1C8808A9BF7}">
      <dgm:prSet/>
      <dgm:spPr/>
      <dgm:t>
        <a:bodyPr/>
        <a:lstStyle/>
        <a:p>
          <a:endParaRPr lang="fr-FR"/>
        </a:p>
      </dgm:t>
    </dgm:pt>
    <dgm:pt modelId="{DE76BFB8-1897-45C6-8782-013052562F76}" type="sibTrans" cxnId="{BBB9EE0E-24AD-443B-B931-E1C8808A9BF7}">
      <dgm:prSet/>
      <dgm:spPr/>
      <dgm:t>
        <a:bodyPr/>
        <a:lstStyle/>
        <a:p>
          <a:endParaRPr lang="fr-FR"/>
        </a:p>
      </dgm:t>
    </dgm:pt>
    <dgm:pt modelId="{3E10C4C2-D90B-49FC-B2DE-167AB4F1EF97}" type="pres">
      <dgm:prSet presAssocID="{E88B0513-D17D-49C6-BF9F-9B8C98916337}" presName="linearFlow" presStyleCnt="0">
        <dgm:presLayoutVars>
          <dgm:dir/>
          <dgm:animLvl val="lvl"/>
          <dgm:resizeHandles val="exact"/>
        </dgm:presLayoutVars>
      </dgm:prSet>
      <dgm:spPr/>
    </dgm:pt>
    <dgm:pt modelId="{371C73BF-DA06-4B12-BF47-E157CD3B26AA}" type="pres">
      <dgm:prSet presAssocID="{3345E704-0CE1-4C9E-9760-4D035F02E436}" presName="composite" presStyleCnt="0"/>
      <dgm:spPr/>
    </dgm:pt>
    <dgm:pt modelId="{B2C8AC9F-67C5-4BC4-AD2D-1C47B790924A}" type="pres">
      <dgm:prSet presAssocID="{3345E704-0CE1-4C9E-9760-4D035F02E436}" presName="parentText" presStyleLbl="alignNode1" presStyleIdx="0" presStyleCnt="5">
        <dgm:presLayoutVars>
          <dgm:chMax val="1"/>
          <dgm:bulletEnabled val="1"/>
        </dgm:presLayoutVars>
      </dgm:prSet>
      <dgm:spPr/>
    </dgm:pt>
    <dgm:pt modelId="{37EBFAA4-1128-4E61-809B-A2104792C0F2}" type="pres">
      <dgm:prSet presAssocID="{3345E704-0CE1-4C9E-9760-4D035F02E436}" presName="descendantText" presStyleLbl="alignAcc1" presStyleIdx="0" presStyleCnt="5" custLinFactNeighborY="-2580">
        <dgm:presLayoutVars>
          <dgm:bulletEnabled val="1"/>
        </dgm:presLayoutVars>
      </dgm:prSet>
      <dgm:spPr/>
    </dgm:pt>
    <dgm:pt modelId="{EBC0545A-A3F1-4AEE-A084-05CBB44863F3}" type="pres">
      <dgm:prSet presAssocID="{6AA42BF9-98C9-49E0-9559-0D0E41999D27}" presName="sp" presStyleCnt="0"/>
      <dgm:spPr/>
    </dgm:pt>
    <dgm:pt modelId="{33A30FD9-49E3-471C-98BF-124537D16D04}" type="pres">
      <dgm:prSet presAssocID="{A5796927-5C7E-4C29-9F7B-2E2C62433D25}" presName="composite" presStyleCnt="0"/>
      <dgm:spPr/>
    </dgm:pt>
    <dgm:pt modelId="{E8B3BA4C-E456-4D44-9CAA-915348DBD86E}" type="pres">
      <dgm:prSet presAssocID="{A5796927-5C7E-4C29-9F7B-2E2C62433D25}" presName="parentText" presStyleLbl="alignNode1" presStyleIdx="1" presStyleCnt="5">
        <dgm:presLayoutVars>
          <dgm:chMax val="1"/>
          <dgm:bulletEnabled val="1"/>
        </dgm:presLayoutVars>
      </dgm:prSet>
      <dgm:spPr/>
    </dgm:pt>
    <dgm:pt modelId="{69D00711-714D-4EEA-AAFA-03F682E9DC24}" type="pres">
      <dgm:prSet presAssocID="{A5796927-5C7E-4C29-9F7B-2E2C62433D25}" presName="descendantText" presStyleLbl="alignAcc1" presStyleIdx="1" presStyleCnt="5">
        <dgm:presLayoutVars>
          <dgm:bulletEnabled val="1"/>
        </dgm:presLayoutVars>
      </dgm:prSet>
      <dgm:spPr/>
    </dgm:pt>
    <dgm:pt modelId="{D4E13A8A-E1F1-4770-BBAB-D0BAD0275538}" type="pres">
      <dgm:prSet presAssocID="{F3DE32AD-06D0-4FF2-89BB-76F227AB117C}" presName="sp" presStyleCnt="0"/>
      <dgm:spPr/>
    </dgm:pt>
    <dgm:pt modelId="{47971082-EC80-41C2-BD62-1CF8747CE5B5}" type="pres">
      <dgm:prSet presAssocID="{ACF3BB22-72AD-43B8-B3A3-4B5E7EE6B9DD}" presName="composite" presStyleCnt="0"/>
      <dgm:spPr/>
    </dgm:pt>
    <dgm:pt modelId="{8F5D160C-FB60-4DE9-B097-8692725272E6}" type="pres">
      <dgm:prSet presAssocID="{ACF3BB22-72AD-43B8-B3A3-4B5E7EE6B9DD}" presName="parentText" presStyleLbl="alignNode1" presStyleIdx="2" presStyleCnt="5">
        <dgm:presLayoutVars>
          <dgm:chMax val="1"/>
          <dgm:bulletEnabled val="1"/>
        </dgm:presLayoutVars>
      </dgm:prSet>
      <dgm:spPr/>
    </dgm:pt>
    <dgm:pt modelId="{67841EAB-7706-4ACF-98BB-4B178F355B36}" type="pres">
      <dgm:prSet presAssocID="{ACF3BB22-72AD-43B8-B3A3-4B5E7EE6B9DD}" presName="descendantText" presStyleLbl="alignAcc1" presStyleIdx="2" presStyleCnt="5">
        <dgm:presLayoutVars>
          <dgm:bulletEnabled val="1"/>
        </dgm:presLayoutVars>
      </dgm:prSet>
      <dgm:spPr/>
    </dgm:pt>
    <dgm:pt modelId="{DC75F13F-D86F-4004-B503-574ABBF2E2C6}" type="pres">
      <dgm:prSet presAssocID="{A12BE32D-6CFF-4F9B-AB5A-F5C2321F2DB2}" presName="sp" presStyleCnt="0"/>
      <dgm:spPr/>
    </dgm:pt>
    <dgm:pt modelId="{5B6FFA86-05E5-4A78-BD36-142C8FA58F43}" type="pres">
      <dgm:prSet presAssocID="{D80F4689-FEAE-41CD-8929-3D43DA4444C6}" presName="composite" presStyleCnt="0"/>
      <dgm:spPr/>
    </dgm:pt>
    <dgm:pt modelId="{45664B3E-65E3-405B-9180-3C4B8EA8EE28}" type="pres">
      <dgm:prSet presAssocID="{D80F4689-FEAE-41CD-8929-3D43DA4444C6}" presName="parentText" presStyleLbl="alignNode1" presStyleIdx="3" presStyleCnt="5">
        <dgm:presLayoutVars>
          <dgm:chMax val="1"/>
          <dgm:bulletEnabled val="1"/>
        </dgm:presLayoutVars>
      </dgm:prSet>
      <dgm:spPr/>
    </dgm:pt>
    <dgm:pt modelId="{37C7CB4F-7EF9-4B36-B795-B531A2BA1743}" type="pres">
      <dgm:prSet presAssocID="{D80F4689-FEAE-41CD-8929-3D43DA4444C6}" presName="descendantText" presStyleLbl="alignAcc1" presStyleIdx="3" presStyleCnt="5">
        <dgm:presLayoutVars>
          <dgm:bulletEnabled val="1"/>
        </dgm:presLayoutVars>
      </dgm:prSet>
      <dgm:spPr/>
    </dgm:pt>
    <dgm:pt modelId="{9C3EABDD-32AA-4FE3-BB63-76034D612F42}" type="pres">
      <dgm:prSet presAssocID="{8A803C17-6FE3-4ED0-9593-19373260E730}" presName="sp" presStyleCnt="0"/>
      <dgm:spPr/>
    </dgm:pt>
    <dgm:pt modelId="{01CC7C72-0A55-46EC-8554-26D0F98EE021}" type="pres">
      <dgm:prSet presAssocID="{BB08528D-51E5-46DB-B6F2-E9867AB2DC9E}" presName="composite" presStyleCnt="0"/>
      <dgm:spPr/>
    </dgm:pt>
    <dgm:pt modelId="{745467DF-06DB-4058-B73B-D0E76A9EE396}" type="pres">
      <dgm:prSet presAssocID="{BB08528D-51E5-46DB-B6F2-E9867AB2DC9E}" presName="parentText" presStyleLbl="alignNode1" presStyleIdx="4" presStyleCnt="5">
        <dgm:presLayoutVars>
          <dgm:chMax val="1"/>
          <dgm:bulletEnabled val="1"/>
        </dgm:presLayoutVars>
      </dgm:prSet>
      <dgm:spPr/>
    </dgm:pt>
    <dgm:pt modelId="{B06CD8FE-372E-4FCB-B612-6DE79633B811}" type="pres">
      <dgm:prSet presAssocID="{BB08528D-51E5-46DB-B6F2-E9867AB2DC9E}" presName="descendantText" presStyleLbl="alignAcc1" presStyleIdx="4" presStyleCnt="5">
        <dgm:presLayoutVars>
          <dgm:bulletEnabled val="1"/>
        </dgm:presLayoutVars>
      </dgm:prSet>
      <dgm:spPr/>
    </dgm:pt>
  </dgm:ptLst>
  <dgm:cxnLst>
    <dgm:cxn modelId="{65916901-CE44-4373-B7D7-3C58CBBFA49A}" srcId="{E88B0513-D17D-49C6-BF9F-9B8C98916337}" destId="{A5796927-5C7E-4C29-9F7B-2E2C62433D25}" srcOrd="1" destOrd="0" parTransId="{AF8CE56E-88D0-42ED-B5B9-8A61C55FE8BB}" sibTransId="{F3DE32AD-06D0-4FF2-89BB-76F227AB117C}"/>
    <dgm:cxn modelId="{6174E00E-A884-4120-844F-79EFF61681F9}" srcId="{3345E704-0CE1-4C9E-9760-4D035F02E436}" destId="{AF961448-2B22-45BF-A66E-97448A516DFE}" srcOrd="0" destOrd="0" parTransId="{9D18AC6E-6D83-460B-8EC9-577C10B88C95}" sibTransId="{9DB14320-8421-4809-813D-DB560E86CBEB}"/>
    <dgm:cxn modelId="{BBB9EE0E-24AD-443B-B931-E1C8808A9BF7}" srcId="{BB08528D-51E5-46DB-B6F2-E9867AB2DC9E}" destId="{4200D2F3-DB48-4700-BA81-8B0CE3AC059B}" srcOrd="1" destOrd="0" parTransId="{7A445668-31C5-46F1-B7BA-665295EC4288}" sibTransId="{DE76BFB8-1897-45C6-8782-013052562F76}"/>
    <dgm:cxn modelId="{77D30A2A-7A7A-48F8-941B-31F6F8106E50}" srcId="{BB08528D-51E5-46DB-B6F2-E9867AB2DC9E}" destId="{6065A38F-8AB1-42CC-A00E-B7D1D4491CB8}" srcOrd="0" destOrd="0" parTransId="{97C523F7-58CC-4562-96A9-9E879BAFF141}" sibTransId="{EEAD86BD-8B31-4E70-AB2A-CB758DCB07D2}"/>
    <dgm:cxn modelId="{3E037631-A809-432F-8E51-0F7C174A3D68}" srcId="{ACF3BB22-72AD-43B8-B3A3-4B5E7EE6B9DD}" destId="{6316DEDA-3DB3-417D-9449-26F47BCC51EA}" srcOrd="0" destOrd="0" parTransId="{6411D2F2-F544-4107-A724-0D7890A3AB52}" sibTransId="{0FB56F4C-DCF7-476A-A720-992B88F9E23F}"/>
    <dgm:cxn modelId="{1592E035-E018-4B0D-BC6D-87D4179C0EB5}" srcId="{D80F4689-FEAE-41CD-8929-3D43DA4444C6}" destId="{99758B0C-F400-4B4E-AD43-3DC39A42067C}" srcOrd="0" destOrd="0" parTransId="{318979FD-D46A-4240-AE30-8F691BFA0E8F}" sibTransId="{C762CE55-81E5-44D6-830F-EC6FD9352618}"/>
    <dgm:cxn modelId="{531A1538-B0D6-4542-B1B5-8B61BC509665}" type="presOf" srcId="{D80F4689-FEAE-41CD-8929-3D43DA4444C6}" destId="{45664B3E-65E3-405B-9180-3C4B8EA8EE28}" srcOrd="0" destOrd="0" presId="urn:microsoft.com/office/officeart/2005/8/layout/chevron2"/>
    <dgm:cxn modelId="{F22E155B-B915-4F82-A7FC-EF528D061465}" type="presOf" srcId="{3345E704-0CE1-4C9E-9760-4D035F02E436}" destId="{B2C8AC9F-67C5-4BC4-AD2D-1C47B790924A}" srcOrd="0" destOrd="0" presId="urn:microsoft.com/office/officeart/2005/8/layout/chevron2"/>
    <dgm:cxn modelId="{8C0A135F-0DC0-4E55-84B4-DCCEDF505701}" srcId="{E88B0513-D17D-49C6-BF9F-9B8C98916337}" destId="{BB08528D-51E5-46DB-B6F2-E9867AB2DC9E}" srcOrd="4" destOrd="0" parTransId="{A5E1538E-9E0B-4BC7-A07A-55F294EC1733}" sibTransId="{B7E145FD-E26F-4857-BA56-AED3A0BE834A}"/>
    <dgm:cxn modelId="{BBED8060-1DD6-4AD8-82F7-636F9986FF98}" srcId="{E88B0513-D17D-49C6-BF9F-9B8C98916337}" destId="{D80F4689-FEAE-41CD-8929-3D43DA4444C6}" srcOrd="3" destOrd="0" parTransId="{5E6F10DA-955B-40EA-A382-E0CF6405A1D8}" sibTransId="{8A803C17-6FE3-4ED0-9593-19373260E730}"/>
    <dgm:cxn modelId="{3E318E61-DEF6-45AC-8BE0-1D2B1833BEC1}" type="presOf" srcId="{A5796927-5C7E-4C29-9F7B-2E2C62433D25}" destId="{E8B3BA4C-E456-4D44-9CAA-915348DBD86E}" srcOrd="0" destOrd="0" presId="urn:microsoft.com/office/officeart/2005/8/layout/chevron2"/>
    <dgm:cxn modelId="{7302F464-0BC9-44B6-BFF2-041190C35173}" type="presOf" srcId="{AF961448-2B22-45BF-A66E-97448A516DFE}" destId="{37EBFAA4-1128-4E61-809B-A2104792C0F2}" srcOrd="0" destOrd="0" presId="urn:microsoft.com/office/officeart/2005/8/layout/chevron2"/>
    <dgm:cxn modelId="{84107847-13C1-4D9A-AAE5-2921195EE154}" type="presOf" srcId="{9193E2FF-13D2-4D3D-B3FF-87FF96FAF6AF}" destId="{69D00711-714D-4EEA-AAFA-03F682E9DC24}" srcOrd="0" destOrd="2" presId="urn:microsoft.com/office/officeart/2005/8/layout/chevron2"/>
    <dgm:cxn modelId="{FCE8D86A-C5BA-4657-9ABA-5C93A2AF7FF9}" srcId="{A5796927-5C7E-4C29-9F7B-2E2C62433D25}" destId="{9193E2FF-13D2-4D3D-B3FF-87FF96FAF6AF}" srcOrd="2" destOrd="0" parTransId="{8568CE0D-08D5-4B6E-95D7-282711898638}" sibTransId="{02157A96-A5EF-4D3E-AC36-4EC6912B7B4B}"/>
    <dgm:cxn modelId="{A09B494E-28F6-47DF-9701-38A207A57E96}" type="presOf" srcId="{ACF3BB22-72AD-43B8-B3A3-4B5E7EE6B9DD}" destId="{8F5D160C-FB60-4DE9-B097-8692725272E6}" srcOrd="0" destOrd="0" presId="urn:microsoft.com/office/officeart/2005/8/layout/chevron2"/>
    <dgm:cxn modelId="{177F1474-B770-43D5-ACD4-810F7CEE4FC6}" type="presOf" srcId="{BB08528D-51E5-46DB-B6F2-E9867AB2DC9E}" destId="{745467DF-06DB-4058-B73B-D0E76A9EE396}" srcOrd="0" destOrd="0" presId="urn:microsoft.com/office/officeart/2005/8/layout/chevron2"/>
    <dgm:cxn modelId="{BE1A1455-8109-4770-9422-D3DF675949F8}" type="presOf" srcId="{04CC2B41-C4D5-4900-8327-01C31C5A5F41}" destId="{37C7CB4F-7EF9-4B36-B795-B531A2BA1743}" srcOrd="0" destOrd="1" presId="urn:microsoft.com/office/officeart/2005/8/layout/chevron2"/>
    <dgm:cxn modelId="{8F530B7D-B599-425B-BC3C-50530D3F7E1E}" srcId="{E88B0513-D17D-49C6-BF9F-9B8C98916337}" destId="{ACF3BB22-72AD-43B8-B3A3-4B5E7EE6B9DD}" srcOrd="2" destOrd="0" parTransId="{A1034E60-2333-4F78-ACF4-FFFD815144BC}" sibTransId="{A12BE32D-6CFF-4F9B-AB5A-F5C2321F2DB2}"/>
    <dgm:cxn modelId="{C9A2AE7D-F76F-444C-87F5-E2571DD6D580}" type="presOf" srcId="{E88B0513-D17D-49C6-BF9F-9B8C98916337}" destId="{3E10C4C2-D90B-49FC-B2DE-167AB4F1EF97}" srcOrd="0" destOrd="0" presId="urn:microsoft.com/office/officeart/2005/8/layout/chevron2"/>
    <dgm:cxn modelId="{A89B0B7E-5B66-44EF-96C1-B9CEE7474058}" type="presOf" srcId="{549F9650-3479-43CB-90C7-6746BF87058B}" destId="{69D00711-714D-4EEA-AAFA-03F682E9DC24}" srcOrd="0" destOrd="0" presId="urn:microsoft.com/office/officeart/2005/8/layout/chevron2"/>
    <dgm:cxn modelId="{2210689C-7613-45E8-AB73-429928DE41E5}" type="presOf" srcId="{4200D2F3-DB48-4700-BA81-8B0CE3AC059B}" destId="{B06CD8FE-372E-4FCB-B612-6DE79633B811}" srcOrd="0" destOrd="1" presId="urn:microsoft.com/office/officeart/2005/8/layout/chevron2"/>
    <dgm:cxn modelId="{2F3036A9-4D21-47CA-B360-0248F7484E2D}" type="presOf" srcId="{6065A38F-8AB1-42CC-A00E-B7D1D4491CB8}" destId="{B06CD8FE-372E-4FCB-B612-6DE79633B811}" srcOrd="0" destOrd="0" presId="urn:microsoft.com/office/officeart/2005/8/layout/chevron2"/>
    <dgm:cxn modelId="{2B7FB9AF-8BB1-4685-BB18-F4D33C8F964E}" type="presOf" srcId="{5EC977F2-9C52-478A-80F4-A7159A814121}" destId="{69D00711-714D-4EEA-AAFA-03F682E9DC24}" srcOrd="0" destOrd="1" presId="urn:microsoft.com/office/officeart/2005/8/layout/chevron2"/>
    <dgm:cxn modelId="{6B295FC2-DFB9-4197-8C5A-B98113AC82D7}" srcId="{A5796927-5C7E-4C29-9F7B-2E2C62433D25}" destId="{549F9650-3479-43CB-90C7-6746BF87058B}" srcOrd="0" destOrd="0" parTransId="{153B232A-417B-4A32-9ADD-3728894B8C86}" sibTransId="{399181D4-064E-402F-AB50-2961C1A7F06F}"/>
    <dgm:cxn modelId="{B4C8ADCE-E846-4E86-8E97-655B5C461CFD}" type="presOf" srcId="{99758B0C-F400-4B4E-AD43-3DC39A42067C}" destId="{37C7CB4F-7EF9-4B36-B795-B531A2BA1743}" srcOrd="0" destOrd="0" presId="urn:microsoft.com/office/officeart/2005/8/layout/chevron2"/>
    <dgm:cxn modelId="{B805B2D0-6C7B-412F-B5FD-C0EE967A70BF}" srcId="{A5796927-5C7E-4C29-9F7B-2E2C62433D25}" destId="{5EC977F2-9C52-478A-80F4-A7159A814121}" srcOrd="1" destOrd="0" parTransId="{61FC112A-92B9-4EF3-BA58-83689813E732}" sibTransId="{8C22AC36-1D47-472F-81AC-4684FEBD82AE}"/>
    <dgm:cxn modelId="{2635D8DB-1655-406C-9D98-0E4CC984720B}" srcId="{E88B0513-D17D-49C6-BF9F-9B8C98916337}" destId="{3345E704-0CE1-4C9E-9760-4D035F02E436}" srcOrd="0" destOrd="0" parTransId="{32D6BF07-10F1-4304-B3F5-2AE9C83BF84E}" sibTransId="{6AA42BF9-98C9-49E0-9559-0D0E41999D27}"/>
    <dgm:cxn modelId="{D327DBEF-BC64-43B8-83C2-37F8A91B6B16}" srcId="{D80F4689-FEAE-41CD-8929-3D43DA4444C6}" destId="{04CC2B41-C4D5-4900-8327-01C31C5A5F41}" srcOrd="1" destOrd="0" parTransId="{2CAB5A3E-B09F-44FC-8CA8-AD41F06E34E2}" sibTransId="{862A8A9C-183D-478D-8736-01A0C9CE489E}"/>
    <dgm:cxn modelId="{BAAA49F2-C776-49D9-B1E0-05B8FD8B1BFF}" type="presOf" srcId="{6316DEDA-3DB3-417D-9449-26F47BCC51EA}" destId="{67841EAB-7706-4ACF-98BB-4B178F355B36}" srcOrd="0" destOrd="0" presId="urn:microsoft.com/office/officeart/2005/8/layout/chevron2"/>
    <dgm:cxn modelId="{18B0BF45-E1FE-4060-94AF-810E0C5C4FAE}" type="presParOf" srcId="{3E10C4C2-D90B-49FC-B2DE-167AB4F1EF97}" destId="{371C73BF-DA06-4B12-BF47-E157CD3B26AA}" srcOrd="0" destOrd="0" presId="urn:microsoft.com/office/officeart/2005/8/layout/chevron2"/>
    <dgm:cxn modelId="{BD436CC5-5AC0-43B4-9FBD-FC8C9F7166F5}" type="presParOf" srcId="{371C73BF-DA06-4B12-BF47-E157CD3B26AA}" destId="{B2C8AC9F-67C5-4BC4-AD2D-1C47B790924A}" srcOrd="0" destOrd="0" presId="urn:microsoft.com/office/officeart/2005/8/layout/chevron2"/>
    <dgm:cxn modelId="{58827AE5-93A3-4CED-BD7F-C1EB47DEC72A}" type="presParOf" srcId="{371C73BF-DA06-4B12-BF47-E157CD3B26AA}" destId="{37EBFAA4-1128-4E61-809B-A2104792C0F2}" srcOrd="1" destOrd="0" presId="urn:microsoft.com/office/officeart/2005/8/layout/chevron2"/>
    <dgm:cxn modelId="{579DC552-48F0-4387-999A-ACCD05B83CDD}" type="presParOf" srcId="{3E10C4C2-D90B-49FC-B2DE-167AB4F1EF97}" destId="{EBC0545A-A3F1-4AEE-A084-05CBB44863F3}" srcOrd="1" destOrd="0" presId="urn:microsoft.com/office/officeart/2005/8/layout/chevron2"/>
    <dgm:cxn modelId="{B7217DF9-A355-4E0D-8663-1005C2FB1475}" type="presParOf" srcId="{3E10C4C2-D90B-49FC-B2DE-167AB4F1EF97}" destId="{33A30FD9-49E3-471C-98BF-124537D16D04}" srcOrd="2" destOrd="0" presId="urn:microsoft.com/office/officeart/2005/8/layout/chevron2"/>
    <dgm:cxn modelId="{1FE5377A-C95A-4277-A86F-7B140A0CFE54}" type="presParOf" srcId="{33A30FD9-49E3-471C-98BF-124537D16D04}" destId="{E8B3BA4C-E456-4D44-9CAA-915348DBD86E}" srcOrd="0" destOrd="0" presId="urn:microsoft.com/office/officeart/2005/8/layout/chevron2"/>
    <dgm:cxn modelId="{6375C99D-12F2-44FA-AE38-7A62EC616A4E}" type="presParOf" srcId="{33A30FD9-49E3-471C-98BF-124537D16D04}" destId="{69D00711-714D-4EEA-AAFA-03F682E9DC24}" srcOrd="1" destOrd="0" presId="urn:microsoft.com/office/officeart/2005/8/layout/chevron2"/>
    <dgm:cxn modelId="{48647F91-CE28-49A6-B971-5276DA8231D2}" type="presParOf" srcId="{3E10C4C2-D90B-49FC-B2DE-167AB4F1EF97}" destId="{D4E13A8A-E1F1-4770-BBAB-D0BAD0275538}" srcOrd="3" destOrd="0" presId="urn:microsoft.com/office/officeart/2005/8/layout/chevron2"/>
    <dgm:cxn modelId="{1675083E-728B-465E-BCA6-FFF2868329BC}" type="presParOf" srcId="{3E10C4C2-D90B-49FC-B2DE-167AB4F1EF97}" destId="{47971082-EC80-41C2-BD62-1CF8747CE5B5}" srcOrd="4" destOrd="0" presId="urn:microsoft.com/office/officeart/2005/8/layout/chevron2"/>
    <dgm:cxn modelId="{A4850C4B-302A-41F2-A886-5A3471C640CB}" type="presParOf" srcId="{47971082-EC80-41C2-BD62-1CF8747CE5B5}" destId="{8F5D160C-FB60-4DE9-B097-8692725272E6}" srcOrd="0" destOrd="0" presId="urn:microsoft.com/office/officeart/2005/8/layout/chevron2"/>
    <dgm:cxn modelId="{75A73840-9DE3-46C4-BF4C-B42A02278D61}" type="presParOf" srcId="{47971082-EC80-41C2-BD62-1CF8747CE5B5}" destId="{67841EAB-7706-4ACF-98BB-4B178F355B36}" srcOrd="1" destOrd="0" presId="urn:microsoft.com/office/officeart/2005/8/layout/chevron2"/>
    <dgm:cxn modelId="{B1970E94-C90E-4E4E-B13E-194DEDDF9CD1}" type="presParOf" srcId="{3E10C4C2-D90B-49FC-B2DE-167AB4F1EF97}" destId="{DC75F13F-D86F-4004-B503-574ABBF2E2C6}" srcOrd="5" destOrd="0" presId="urn:microsoft.com/office/officeart/2005/8/layout/chevron2"/>
    <dgm:cxn modelId="{790C011C-191F-4EE2-A59F-FDE8637450F4}" type="presParOf" srcId="{3E10C4C2-D90B-49FC-B2DE-167AB4F1EF97}" destId="{5B6FFA86-05E5-4A78-BD36-142C8FA58F43}" srcOrd="6" destOrd="0" presId="urn:microsoft.com/office/officeart/2005/8/layout/chevron2"/>
    <dgm:cxn modelId="{B880A23E-940B-4C75-825D-E23B7920E2FF}" type="presParOf" srcId="{5B6FFA86-05E5-4A78-BD36-142C8FA58F43}" destId="{45664B3E-65E3-405B-9180-3C4B8EA8EE28}" srcOrd="0" destOrd="0" presId="urn:microsoft.com/office/officeart/2005/8/layout/chevron2"/>
    <dgm:cxn modelId="{95DC1791-B796-4BED-89E4-7A0F296F8BC2}" type="presParOf" srcId="{5B6FFA86-05E5-4A78-BD36-142C8FA58F43}" destId="{37C7CB4F-7EF9-4B36-B795-B531A2BA1743}" srcOrd="1" destOrd="0" presId="urn:microsoft.com/office/officeart/2005/8/layout/chevron2"/>
    <dgm:cxn modelId="{4F21C7C3-6E08-41E9-AE16-03A90445E295}" type="presParOf" srcId="{3E10C4C2-D90B-49FC-B2DE-167AB4F1EF97}" destId="{9C3EABDD-32AA-4FE3-BB63-76034D612F42}" srcOrd="7" destOrd="0" presId="urn:microsoft.com/office/officeart/2005/8/layout/chevron2"/>
    <dgm:cxn modelId="{796FAB94-A179-4F32-916F-50EF640312BD}" type="presParOf" srcId="{3E10C4C2-D90B-49FC-B2DE-167AB4F1EF97}" destId="{01CC7C72-0A55-46EC-8554-26D0F98EE021}" srcOrd="8" destOrd="0" presId="urn:microsoft.com/office/officeart/2005/8/layout/chevron2"/>
    <dgm:cxn modelId="{82432481-207E-488B-8107-7DC4D3B9F24C}" type="presParOf" srcId="{01CC7C72-0A55-46EC-8554-26D0F98EE021}" destId="{745467DF-06DB-4058-B73B-D0E76A9EE396}" srcOrd="0" destOrd="0" presId="urn:microsoft.com/office/officeart/2005/8/layout/chevron2"/>
    <dgm:cxn modelId="{B473A9A2-30D8-4A41-9548-0DAD14739C86}" type="presParOf" srcId="{01CC7C72-0A55-46EC-8554-26D0F98EE021}" destId="{B06CD8FE-372E-4FCB-B612-6DE79633B8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470784-C738-4870-B307-0B4C0E9F224A}" type="doc">
      <dgm:prSet loTypeId="urn:microsoft.com/office/officeart/2005/8/layout/chevron2" loCatId="list" qsTypeId="urn:microsoft.com/office/officeart/2005/8/quickstyle/3d1" qsCatId="3D" csTypeId="urn:microsoft.com/office/officeart/2005/8/colors/accent1_2" csCatId="accent1" phldr="1"/>
      <dgm:spPr/>
      <dgm:t>
        <a:bodyPr/>
        <a:lstStyle/>
        <a:p>
          <a:endParaRPr lang="fr-FR"/>
        </a:p>
      </dgm:t>
    </dgm:pt>
    <dgm:pt modelId="{D95E2B78-4B3B-43D4-B6FB-A689E9DFAFD3}">
      <dgm:prSet phldrT="[Texte]"/>
      <dgm:spPr/>
      <dgm:t>
        <a:bodyPr/>
        <a:lstStyle/>
        <a:p>
          <a:r>
            <a:rPr lang="fr-FR" dirty="0"/>
            <a:t>01</a:t>
          </a:r>
        </a:p>
      </dgm:t>
    </dgm:pt>
    <dgm:pt modelId="{330AD8B2-372C-454A-842C-FBF30EFA2D32}" type="parTrans" cxnId="{C526079E-C19F-4CB3-B8B2-F4CC2E5433B0}">
      <dgm:prSet/>
      <dgm:spPr/>
      <dgm:t>
        <a:bodyPr/>
        <a:lstStyle/>
        <a:p>
          <a:endParaRPr lang="fr-FR"/>
        </a:p>
      </dgm:t>
    </dgm:pt>
    <dgm:pt modelId="{81C9F67B-C2C8-4BC6-B0C5-34A6EFEC6129}" type="sibTrans" cxnId="{C526079E-C19F-4CB3-B8B2-F4CC2E5433B0}">
      <dgm:prSet/>
      <dgm:spPr/>
      <dgm:t>
        <a:bodyPr/>
        <a:lstStyle/>
        <a:p>
          <a:endParaRPr lang="fr-FR"/>
        </a:p>
      </dgm:t>
    </dgm:pt>
    <dgm:pt modelId="{16F0F254-0D6A-4621-8864-C591B9E0C20E}">
      <dgm:prSet phldrT="[Texte]"/>
      <dgm:spPr/>
      <dgm:t>
        <a:bodyPr/>
        <a:lstStyle/>
        <a:p>
          <a:r>
            <a:rPr lang="fr-FR" dirty="0"/>
            <a:t>05</a:t>
          </a:r>
        </a:p>
      </dgm:t>
    </dgm:pt>
    <dgm:pt modelId="{E4B0E270-9A3C-45E7-888A-FB5D6751BD08}" type="parTrans" cxnId="{B946E005-706B-4ACF-9AD9-609A932E344C}">
      <dgm:prSet/>
      <dgm:spPr/>
      <dgm:t>
        <a:bodyPr/>
        <a:lstStyle/>
        <a:p>
          <a:endParaRPr lang="fr-FR"/>
        </a:p>
      </dgm:t>
    </dgm:pt>
    <dgm:pt modelId="{32C58703-8E3F-43AF-AAAA-E780DAA9CCC9}" type="sibTrans" cxnId="{B946E005-706B-4ACF-9AD9-609A932E344C}">
      <dgm:prSet/>
      <dgm:spPr/>
      <dgm:t>
        <a:bodyPr/>
        <a:lstStyle/>
        <a:p>
          <a:endParaRPr lang="fr-FR"/>
        </a:p>
      </dgm:t>
    </dgm:pt>
    <dgm:pt modelId="{E5FB2D41-B07B-4C74-804E-3A8E6A451FE9}">
      <dgm:prSet phldrT="[Texte]"/>
      <dgm:spPr/>
      <dgm:t>
        <a:bodyPr/>
        <a:lstStyle/>
        <a:p>
          <a:r>
            <a:rPr lang="fr-FR" dirty="0"/>
            <a:t>06</a:t>
          </a:r>
        </a:p>
      </dgm:t>
    </dgm:pt>
    <dgm:pt modelId="{B09B43B9-87C8-4711-B2C2-6B4165C28D27}" type="parTrans" cxnId="{5AA6B8C4-81D6-425C-B4AD-29B9C2C579C3}">
      <dgm:prSet/>
      <dgm:spPr/>
      <dgm:t>
        <a:bodyPr/>
        <a:lstStyle/>
        <a:p>
          <a:endParaRPr lang="fr-FR"/>
        </a:p>
      </dgm:t>
    </dgm:pt>
    <dgm:pt modelId="{EDE371F0-FEC0-4929-A43D-3F3664BC8E27}" type="sibTrans" cxnId="{5AA6B8C4-81D6-425C-B4AD-29B9C2C579C3}">
      <dgm:prSet/>
      <dgm:spPr/>
      <dgm:t>
        <a:bodyPr/>
        <a:lstStyle/>
        <a:p>
          <a:endParaRPr lang="fr-FR"/>
        </a:p>
      </dgm:t>
    </dgm:pt>
    <dgm:pt modelId="{90E55B62-9F1C-43D7-A381-9EF6192BB64B}">
      <dgm:prSet phldrT="[Texte]"/>
      <dgm:spPr/>
      <dgm:t>
        <a:bodyPr/>
        <a:lstStyle/>
        <a:p>
          <a:r>
            <a:rPr lang="fr-FR" dirty="0"/>
            <a:t>02</a:t>
          </a:r>
        </a:p>
      </dgm:t>
    </dgm:pt>
    <dgm:pt modelId="{A3A5535C-3F63-4EBB-AF55-546264D23E60}" type="parTrans" cxnId="{9121D8A2-AD21-4B46-9147-A661054AE757}">
      <dgm:prSet/>
      <dgm:spPr/>
      <dgm:t>
        <a:bodyPr/>
        <a:lstStyle/>
        <a:p>
          <a:endParaRPr lang="fr-FR"/>
        </a:p>
      </dgm:t>
    </dgm:pt>
    <dgm:pt modelId="{95D76C98-36C9-448A-A790-B4249CC53BED}" type="sibTrans" cxnId="{9121D8A2-AD21-4B46-9147-A661054AE757}">
      <dgm:prSet/>
      <dgm:spPr/>
      <dgm:t>
        <a:bodyPr/>
        <a:lstStyle/>
        <a:p>
          <a:endParaRPr lang="fr-FR"/>
        </a:p>
      </dgm:t>
    </dgm:pt>
    <dgm:pt modelId="{E6B7CA5E-DFA6-4718-BC7B-3C62D3195B48}">
      <dgm:prSet phldrT="[Texte]"/>
      <dgm:spPr/>
      <dgm:t>
        <a:bodyPr/>
        <a:lstStyle/>
        <a:p>
          <a:r>
            <a:rPr lang="fr-FR" dirty="0"/>
            <a:t>04</a:t>
          </a:r>
        </a:p>
      </dgm:t>
    </dgm:pt>
    <dgm:pt modelId="{D01CEDD3-97A3-4540-8493-14B5152C1F0E}" type="parTrans" cxnId="{BCAAF718-1E08-4ADA-A20E-136689CD44A1}">
      <dgm:prSet/>
      <dgm:spPr/>
      <dgm:t>
        <a:bodyPr/>
        <a:lstStyle/>
        <a:p>
          <a:endParaRPr lang="fr-FR"/>
        </a:p>
      </dgm:t>
    </dgm:pt>
    <dgm:pt modelId="{94D3C38F-ED3A-42F4-90B3-792D86967B47}" type="sibTrans" cxnId="{BCAAF718-1E08-4ADA-A20E-136689CD44A1}">
      <dgm:prSet/>
      <dgm:spPr/>
      <dgm:t>
        <a:bodyPr/>
        <a:lstStyle/>
        <a:p>
          <a:endParaRPr lang="fr-FR"/>
        </a:p>
      </dgm:t>
    </dgm:pt>
    <dgm:pt modelId="{591E9863-F4E0-4AFE-A550-594829DE201D}">
      <dgm:prSet phldrT="[Texte]"/>
      <dgm:spPr/>
      <dgm:t>
        <a:bodyPr/>
        <a:lstStyle/>
        <a:p>
          <a:r>
            <a:rPr lang="fr-FR" dirty="0"/>
            <a:t>03</a:t>
          </a:r>
        </a:p>
      </dgm:t>
    </dgm:pt>
    <dgm:pt modelId="{87B9E6B7-3416-43D9-B2B1-5954450055C8}" type="parTrans" cxnId="{9D675ACF-3069-492C-B415-8779A4EFAC74}">
      <dgm:prSet/>
      <dgm:spPr/>
      <dgm:t>
        <a:bodyPr/>
        <a:lstStyle/>
        <a:p>
          <a:endParaRPr lang="fr-FR"/>
        </a:p>
      </dgm:t>
    </dgm:pt>
    <dgm:pt modelId="{D94BFC15-6466-4634-A425-2FD6E6467D73}" type="sibTrans" cxnId="{9D675ACF-3069-492C-B415-8779A4EFAC74}">
      <dgm:prSet/>
      <dgm:spPr/>
      <dgm:t>
        <a:bodyPr/>
        <a:lstStyle/>
        <a:p>
          <a:endParaRPr lang="fr-FR"/>
        </a:p>
      </dgm:t>
    </dgm:pt>
    <dgm:pt modelId="{781ED34A-DC3B-4BC7-8E2A-251B21CD89A7}">
      <dgm:prSet custT="1"/>
      <dgm:spPr/>
      <dgm:t>
        <a:bodyPr/>
        <a:lstStyle/>
        <a:p>
          <a:pPr>
            <a:buSzPts val="1000"/>
            <a:buFont typeface="Courier New" panose="02070309020205020404" pitchFamily="49" charset="0"/>
            <a:buNone/>
          </a:pPr>
          <a:r>
            <a:rPr lang="fr-FR" sz="2000" b="1" dirty="0"/>
            <a:t>Mise en place d'un dispositif LBC/FT/FP adapté</a:t>
          </a:r>
          <a:endParaRPr lang="fr-FR" sz="2000" dirty="0"/>
        </a:p>
      </dgm:t>
    </dgm:pt>
    <dgm:pt modelId="{5EF9DAA2-8066-43EB-9878-3FC85F57EE7D}" type="parTrans" cxnId="{FC4C5761-A701-4555-A0C0-AED41322E719}">
      <dgm:prSet/>
      <dgm:spPr/>
      <dgm:t>
        <a:bodyPr/>
        <a:lstStyle/>
        <a:p>
          <a:endParaRPr lang="fr-FR"/>
        </a:p>
      </dgm:t>
    </dgm:pt>
    <dgm:pt modelId="{B7AB9990-791A-4D2E-B2F4-F65D5D5AD054}" type="sibTrans" cxnId="{FC4C5761-A701-4555-A0C0-AED41322E719}">
      <dgm:prSet/>
      <dgm:spPr/>
      <dgm:t>
        <a:bodyPr/>
        <a:lstStyle/>
        <a:p>
          <a:endParaRPr lang="fr-FR"/>
        </a:p>
      </dgm:t>
    </dgm:pt>
    <dgm:pt modelId="{226D9065-FDAD-4A49-B1CB-3D49E662FE92}">
      <dgm:prSet custT="1"/>
      <dgm:spPr/>
      <dgm:t>
        <a:bodyPr/>
        <a:lstStyle/>
        <a:p>
          <a:pPr>
            <a:buSzPts val="1000"/>
            <a:buFont typeface="Courier New" panose="02070309020205020404" pitchFamily="49" charset="0"/>
            <a:buNone/>
          </a:pPr>
          <a:r>
            <a:rPr lang="fr-FR" sz="2000" b="1" dirty="0"/>
            <a:t>Élaboration d'un rapport annuel</a:t>
          </a:r>
        </a:p>
      </dgm:t>
    </dgm:pt>
    <dgm:pt modelId="{00D2DF86-EE9A-4CE4-8318-A6AB55FA325C}" type="parTrans" cxnId="{F124BE6F-5DD9-41E6-874D-1A7AC22B4134}">
      <dgm:prSet/>
      <dgm:spPr/>
      <dgm:t>
        <a:bodyPr/>
        <a:lstStyle/>
        <a:p>
          <a:endParaRPr lang="fr-FR"/>
        </a:p>
      </dgm:t>
    </dgm:pt>
    <dgm:pt modelId="{9D491F64-341F-47E5-994E-4DCBA7C3A796}" type="sibTrans" cxnId="{F124BE6F-5DD9-41E6-874D-1A7AC22B4134}">
      <dgm:prSet/>
      <dgm:spPr/>
      <dgm:t>
        <a:bodyPr/>
        <a:lstStyle/>
        <a:p>
          <a:endParaRPr lang="fr-FR"/>
        </a:p>
      </dgm:t>
    </dgm:pt>
    <dgm:pt modelId="{608249D7-13F6-451F-A734-E25B422D8026}">
      <dgm:prSet custT="1"/>
      <dgm:spPr/>
      <dgm:t>
        <a:bodyPr/>
        <a:lstStyle/>
        <a:p>
          <a:pPr>
            <a:buSzPts val="1000"/>
            <a:buFont typeface="Courier New" panose="02070309020205020404" pitchFamily="49" charset="0"/>
            <a:buNone/>
          </a:pPr>
          <a:r>
            <a:rPr lang="fr-FR" sz="2000" b="1" dirty="0"/>
            <a:t>Système d’information :</a:t>
          </a:r>
          <a:r>
            <a:rPr lang="fr-FR" sz="2000" dirty="0"/>
            <a:t> Recensement opérations, identification suspecte, prise en compte sanctions ciblées (mise à jour tous les 3 ans de l'efficacité</a:t>
          </a:r>
        </a:p>
      </dgm:t>
    </dgm:pt>
    <dgm:pt modelId="{B0C53CC0-BC32-436F-9EE4-E257323D7AD5}" type="parTrans" cxnId="{FA795720-2588-46AA-8A3E-BC91502690E1}">
      <dgm:prSet/>
      <dgm:spPr/>
      <dgm:t>
        <a:bodyPr/>
        <a:lstStyle/>
        <a:p>
          <a:endParaRPr lang="fr-FR"/>
        </a:p>
      </dgm:t>
    </dgm:pt>
    <dgm:pt modelId="{939FA090-C0C0-474B-8A1D-90D525E4760F}" type="sibTrans" cxnId="{FA795720-2588-46AA-8A3E-BC91502690E1}">
      <dgm:prSet/>
      <dgm:spPr/>
      <dgm:t>
        <a:bodyPr/>
        <a:lstStyle/>
        <a:p>
          <a:endParaRPr lang="fr-FR"/>
        </a:p>
      </dgm:t>
    </dgm:pt>
    <dgm:pt modelId="{6E1674E4-814D-46F4-BCF7-B35DFECB5313}">
      <dgm:prSet custT="1"/>
      <dgm:spPr/>
      <dgm:t>
        <a:bodyPr/>
        <a:lstStyle/>
        <a:p>
          <a:pPr>
            <a:buSzPts val="1000"/>
            <a:buFont typeface="Courier New" panose="02070309020205020404" pitchFamily="49" charset="0"/>
            <a:buNone/>
          </a:pPr>
          <a:r>
            <a:rPr lang="fr-FR" sz="1800" b="1" dirty="0"/>
            <a:t>Dispositif interne :</a:t>
          </a:r>
          <a:r>
            <a:rPr lang="fr-FR" sz="1800" dirty="0"/>
            <a:t> Personne désignée pour centraliser les soupçons et interagir avec la CENTIF.</a:t>
          </a:r>
        </a:p>
      </dgm:t>
    </dgm:pt>
    <dgm:pt modelId="{76E8B9BB-3227-4718-B4E3-1BC0FDBEC714}" type="parTrans" cxnId="{563E3517-58D3-4B47-AB6A-B25B23DD44F4}">
      <dgm:prSet/>
      <dgm:spPr/>
      <dgm:t>
        <a:bodyPr/>
        <a:lstStyle/>
        <a:p>
          <a:endParaRPr lang="fr-FR"/>
        </a:p>
      </dgm:t>
    </dgm:pt>
    <dgm:pt modelId="{079F3C4A-7A39-461E-8637-1F3615FFE4C6}" type="sibTrans" cxnId="{563E3517-58D3-4B47-AB6A-B25B23DD44F4}">
      <dgm:prSet/>
      <dgm:spPr/>
      <dgm:t>
        <a:bodyPr/>
        <a:lstStyle/>
        <a:p>
          <a:endParaRPr lang="fr-FR"/>
        </a:p>
      </dgm:t>
    </dgm:pt>
    <dgm:pt modelId="{6307395D-43B1-4F45-B126-D60A6A119223}">
      <dgm:prSet custT="1"/>
      <dgm:spPr/>
      <dgm:t>
        <a:bodyPr/>
        <a:lstStyle/>
        <a:p>
          <a:pPr>
            <a:buSzPts val="1000"/>
            <a:buFont typeface="Courier New" panose="02070309020205020404" pitchFamily="49" charset="0"/>
            <a:buNone/>
          </a:pPr>
          <a:r>
            <a:rPr lang="fr-FR" sz="1600" b="1" dirty="0"/>
            <a:t>Reporting :</a:t>
          </a:r>
          <a:r>
            <a:rPr lang="fr-FR" sz="1600" dirty="0"/>
            <a:t> Rapport annuel à la BCEAO et Ministère des Finances (dans les 2 mois). Déclaration trimestrielle des opérations de change à la BCEAO</a:t>
          </a:r>
        </a:p>
      </dgm:t>
    </dgm:pt>
    <dgm:pt modelId="{285C34CD-2F17-48AC-BF49-EF4F198AD28B}" type="parTrans" cxnId="{BC329247-27BA-4EDA-B615-98A5004A3595}">
      <dgm:prSet/>
      <dgm:spPr/>
      <dgm:t>
        <a:bodyPr/>
        <a:lstStyle/>
        <a:p>
          <a:endParaRPr lang="fr-FR"/>
        </a:p>
      </dgm:t>
    </dgm:pt>
    <dgm:pt modelId="{88B43C40-97B0-4B65-852B-2E4CC72D4F45}" type="sibTrans" cxnId="{BC329247-27BA-4EDA-B615-98A5004A3595}">
      <dgm:prSet/>
      <dgm:spPr/>
      <dgm:t>
        <a:bodyPr/>
        <a:lstStyle/>
        <a:p>
          <a:endParaRPr lang="fr-FR"/>
        </a:p>
      </dgm:t>
    </dgm:pt>
    <dgm:pt modelId="{028614CB-64CA-4D2C-ADB5-C001027C2CBB}">
      <dgm:prSet custT="1"/>
      <dgm:spPr/>
      <dgm:t>
        <a:bodyPr/>
        <a:lstStyle/>
        <a:p>
          <a:pPr>
            <a:buSzPts val="1000"/>
            <a:buFont typeface="Courier New" panose="02070309020205020404" pitchFamily="49" charset="0"/>
            <a:buNone/>
          </a:pPr>
          <a:r>
            <a:rPr lang="fr-FR" sz="1800" b="1" dirty="0"/>
            <a:t>Surveillance :</a:t>
          </a:r>
          <a:r>
            <a:rPr lang="fr-FR" sz="1800" dirty="0"/>
            <a:t> La BCEAO assure la surveillance de leurs obligations</a:t>
          </a:r>
        </a:p>
      </dgm:t>
    </dgm:pt>
    <dgm:pt modelId="{8E88829D-3800-4712-82EB-595192926633}" type="parTrans" cxnId="{63CB6C56-880A-4432-972A-7037EB90EC71}">
      <dgm:prSet/>
      <dgm:spPr/>
      <dgm:t>
        <a:bodyPr/>
        <a:lstStyle/>
        <a:p>
          <a:endParaRPr lang="fr-FR"/>
        </a:p>
      </dgm:t>
    </dgm:pt>
    <dgm:pt modelId="{36057FDE-32AA-4387-B608-409DE6FA64B5}" type="sibTrans" cxnId="{63CB6C56-880A-4432-972A-7037EB90EC71}">
      <dgm:prSet/>
      <dgm:spPr/>
      <dgm:t>
        <a:bodyPr/>
        <a:lstStyle/>
        <a:p>
          <a:endParaRPr lang="fr-FR"/>
        </a:p>
      </dgm:t>
    </dgm:pt>
    <dgm:pt modelId="{22B1BD8B-FA2D-4983-9481-039F970975D7}" type="pres">
      <dgm:prSet presAssocID="{12470784-C738-4870-B307-0B4C0E9F224A}" presName="linearFlow" presStyleCnt="0">
        <dgm:presLayoutVars>
          <dgm:dir/>
          <dgm:animLvl val="lvl"/>
          <dgm:resizeHandles val="exact"/>
        </dgm:presLayoutVars>
      </dgm:prSet>
      <dgm:spPr/>
    </dgm:pt>
    <dgm:pt modelId="{EB09AC78-8F5B-4E93-BDB5-5D805AE7B56D}" type="pres">
      <dgm:prSet presAssocID="{D95E2B78-4B3B-43D4-B6FB-A689E9DFAFD3}" presName="composite" presStyleCnt="0"/>
      <dgm:spPr/>
    </dgm:pt>
    <dgm:pt modelId="{82745983-EED1-427F-B7D3-275B601FAEF9}" type="pres">
      <dgm:prSet presAssocID="{D95E2B78-4B3B-43D4-B6FB-A689E9DFAFD3}" presName="parentText" presStyleLbl="alignNode1" presStyleIdx="0" presStyleCnt="6">
        <dgm:presLayoutVars>
          <dgm:chMax val="1"/>
          <dgm:bulletEnabled val="1"/>
        </dgm:presLayoutVars>
      </dgm:prSet>
      <dgm:spPr/>
    </dgm:pt>
    <dgm:pt modelId="{165DBA63-62B0-498C-9BC4-994F4104411A}" type="pres">
      <dgm:prSet presAssocID="{D95E2B78-4B3B-43D4-B6FB-A689E9DFAFD3}" presName="descendantText" presStyleLbl="alignAcc1" presStyleIdx="0" presStyleCnt="6" custLinFactNeighborX="146" custLinFactNeighborY="-791">
        <dgm:presLayoutVars>
          <dgm:bulletEnabled val="1"/>
        </dgm:presLayoutVars>
      </dgm:prSet>
      <dgm:spPr/>
    </dgm:pt>
    <dgm:pt modelId="{A54866B1-51AC-4D22-9B42-FD5A0A3E1C56}" type="pres">
      <dgm:prSet presAssocID="{81C9F67B-C2C8-4BC6-B0C5-34A6EFEC6129}" presName="sp" presStyleCnt="0"/>
      <dgm:spPr/>
    </dgm:pt>
    <dgm:pt modelId="{1AB2A8AD-3789-4677-8A83-A036E2E26F55}" type="pres">
      <dgm:prSet presAssocID="{90E55B62-9F1C-43D7-A381-9EF6192BB64B}" presName="composite" presStyleCnt="0"/>
      <dgm:spPr/>
    </dgm:pt>
    <dgm:pt modelId="{D1A79B4D-AE3F-42CB-8B1B-D928B4FA4370}" type="pres">
      <dgm:prSet presAssocID="{90E55B62-9F1C-43D7-A381-9EF6192BB64B}" presName="parentText" presStyleLbl="alignNode1" presStyleIdx="1" presStyleCnt="6">
        <dgm:presLayoutVars>
          <dgm:chMax val="1"/>
          <dgm:bulletEnabled val="1"/>
        </dgm:presLayoutVars>
      </dgm:prSet>
      <dgm:spPr/>
    </dgm:pt>
    <dgm:pt modelId="{EBA9A995-2B2A-4C82-9B7E-248A620017D5}" type="pres">
      <dgm:prSet presAssocID="{90E55B62-9F1C-43D7-A381-9EF6192BB64B}" presName="descendantText" presStyleLbl="alignAcc1" presStyleIdx="1" presStyleCnt="6" custLinFactNeighborX="0">
        <dgm:presLayoutVars>
          <dgm:bulletEnabled val="1"/>
        </dgm:presLayoutVars>
      </dgm:prSet>
      <dgm:spPr/>
    </dgm:pt>
    <dgm:pt modelId="{FF918A68-C29F-44C4-B1B6-6CAF106B606E}" type="pres">
      <dgm:prSet presAssocID="{95D76C98-36C9-448A-A790-B4249CC53BED}" presName="sp" presStyleCnt="0"/>
      <dgm:spPr/>
    </dgm:pt>
    <dgm:pt modelId="{2CB61683-2217-4F2A-B79B-CB8EE94E5ECA}" type="pres">
      <dgm:prSet presAssocID="{591E9863-F4E0-4AFE-A550-594829DE201D}" presName="composite" presStyleCnt="0"/>
      <dgm:spPr/>
    </dgm:pt>
    <dgm:pt modelId="{F17A9459-9182-4BAE-9C87-34C70E20FCEC}" type="pres">
      <dgm:prSet presAssocID="{591E9863-F4E0-4AFE-A550-594829DE201D}" presName="parentText" presStyleLbl="alignNode1" presStyleIdx="2" presStyleCnt="6">
        <dgm:presLayoutVars>
          <dgm:chMax val="1"/>
          <dgm:bulletEnabled val="1"/>
        </dgm:presLayoutVars>
      </dgm:prSet>
      <dgm:spPr/>
    </dgm:pt>
    <dgm:pt modelId="{033FAE24-125E-4496-9502-19B01C42D599}" type="pres">
      <dgm:prSet presAssocID="{591E9863-F4E0-4AFE-A550-594829DE201D}" presName="descendantText" presStyleLbl="alignAcc1" presStyleIdx="2" presStyleCnt="6">
        <dgm:presLayoutVars>
          <dgm:bulletEnabled val="1"/>
        </dgm:presLayoutVars>
      </dgm:prSet>
      <dgm:spPr/>
    </dgm:pt>
    <dgm:pt modelId="{029EF96A-4239-41CE-A3E3-97D1F3784694}" type="pres">
      <dgm:prSet presAssocID="{D94BFC15-6466-4634-A425-2FD6E6467D73}" presName="sp" presStyleCnt="0"/>
      <dgm:spPr/>
    </dgm:pt>
    <dgm:pt modelId="{317C113E-EB86-4EB6-9F80-5C4CA83C5A3E}" type="pres">
      <dgm:prSet presAssocID="{E6B7CA5E-DFA6-4718-BC7B-3C62D3195B48}" presName="composite" presStyleCnt="0"/>
      <dgm:spPr/>
    </dgm:pt>
    <dgm:pt modelId="{9B073764-1A6B-4B3F-9BDB-02E5EA873A6B}" type="pres">
      <dgm:prSet presAssocID="{E6B7CA5E-DFA6-4718-BC7B-3C62D3195B48}" presName="parentText" presStyleLbl="alignNode1" presStyleIdx="3" presStyleCnt="6">
        <dgm:presLayoutVars>
          <dgm:chMax val="1"/>
          <dgm:bulletEnabled val="1"/>
        </dgm:presLayoutVars>
      </dgm:prSet>
      <dgm:spPr/>
    </dgm:pt>
    <dgm:pt modelId="{9BB88B7F-1C48-46B2-BEE9-903BF10CDDE5}" type="pres">
      <dgm:prSet presAssocID="{E6B7CA5E-DFA6-4718-BC7B-3C62D3195B48}" presName="descendantText" presStyleLbl="alignAcc1" presStyleIdx="3" presStyleCnt="6">
        <dgm:presLayoutVars>
          <dgm:bulletEnabled val="1"/>
        </dgm:presLayoutVars>
      </dgm:prSet>
      <dgm:spPr/>
    </dgm:pt>
    <dgm:pt modelId="{2BA8A6A8-47EE-432F-9192-30612D4ADCE4}" type="pres">
      <dgm:prSet presAssocID="{94D3C38F-ED3A-42F4-90B3-792D86967B47}" presName="sp" presStyleCnt="0"/>
      <dgm:spPr/>
    </dgm:pt>
    <dgm:pt modelId="{42FDC589-D082-4379-ABE5-09C35EE7C024}" type="pres">
      <dgm:prSet presAssocID="{16F0F254-0D6A-4621-8864-C591B9E0C20E}" presName="composite" presStyleCnt="0"/>
      <dgm:spPr/>
    </dgm:pt>
    <dgm:pt modelId="{379A742D-2B83-4E84-B8D2-8F89C646152B}" type="pres">
      <dgm:prSet presAssocID="{16F0F254-0D6A-4621-8864-C591B9E0C20E}" presName="parentText" presStyleLbl="alignNode1" presStyleIdx="4" presStyleCnt="6">
        <dgm:presLayoutVars>
          <dgm:chMax val="1"/>
          <dgm:bulletEnabled val="1"/>
        </dgm:presLayoutVars>
      </dgm:prSet>
      <dgm:spPr/>
    </dgm:pt>
    <dgm:pt modelId="{C0F12193-DC8E-458F-BA4D-13F30043231F}" type="pres">
      <dgm:prSet presAssocID="{16F0F254-0D6A-4621-8864-C591B9E0C20E}" presName="descendantText" presStyleLbl="alignAcc1" presStyleIdx="4" presStyleCnt="6" custLinFactNeighborY="-5536">
        <dgm:presLayoutVars>
          <dgm:bulletEnabled val="1"/>
        </dgm:presLayoutVars>
      </dgm:prSet>
      <dgm:spPr/>
    </dgm:pt>
    <dgm:pt modelId="{69872BB8-16E0-49BD-A922-C59DA0F39532}" type="pres">
      <dgm:prSet presAssocID="{32C58703-8E3F-43AF-AAAA-E780DAA9CCC9}" presName="sp" presStyleCnt="0"/>
      <dgm:spPr/>
    </dgm:pt>
    <dgm:pt modelId="{A7BBC88F-6C2C-4AF4-8306-783F5A94C2BD}" type="pres">
      <dgm:prSet presAssocID="{E5FB2D41-B07B-4C74-804E-3A8E6A451FE9}" presName="composite" presStyleCnt="0"/>
      <dgm:spPr/>
    </dgm:pt>
    <dgm:pt modelId="{215C2E9F-4052-4010-955A-A9E76453837A}" type="pres">
      <dgm:prSet presAssocID="{E5FB2D41-B07B-4C74-804E-3A8E6A451FE9}" presName="parentText" presStyleLbl="alignNode1" presStyleIdx="5" presStyleCnt="6">
        <dgm:presLayoutVars>
          <dgm:chMax val="1"/>
          <dgm:bulletEnabled val="1"/>
        </dgm:presLayoutVars>
      </dgm:prSet>
      <dgm:spPr/>
    </dgm:pt>
    <dgm:pt modelId="{8165B1A7-CA1C-4695-9716-D186226AEE2D}" type="pres">
      <dgm:prSet presAssocID="{E5FB2D41-B07B-4C74-804E-3A8E6A451FE9}" presName="descendantText" presStyleLbl="alignAcc1" presStyleIdx="5" presStyleCnt="6">
        <dgm:presLayoutVars>
          <dgm:bulletEnabled val="1"/>
        </dgm:presLayoutVars>
      </dgm:prSet>
      <dgm:spPr/>
    </dgm:pt>
  </dgm:ptLst>
  <dgm:cxnLst>
    <dgm:cxn modelId="{B946E005-706B-4ACF-9AD9-609A932E344C}" srcId="{12470784-C738-4870-B307-0B4C0E9F224A}" destId="{16F0F254-0D6A-4621-8864-C591B9E0C20E}" srcOrd="4" destOrd="0" parTransId="{E4B0E270-9A3C-45E7-888A-FB5D6751BD08}" sibTransId="{32C58703-8E3F-43AF-AAAA-E780DAA9CCC9}"/>
    <dgm:cxn modelId="{563E3517-58D3-4B47-AB6A-B25B23DD44F4}" srcId="{E6B7CA5E-DFA6-4718-BC7B-3C62D3195B48}" destId="{6E1674E4-814D-46F4-BCF7-B35DFECB5313}" srcOrd="0" destOrd="0" parTransId="{76E8B9BB-3227-4718-B4E3-1BC0FDBEC714}" sibTransId="{079F3C4A-7A39-461E-8637-1F3615FFE4C6}"/>
    <dgm:cxn modelId="{BCAAF718-1E08-4ADA-A20E-136689CD44A1}" srcId="{12470784-C738-4870-B307-0B4C0E9F224A}" destId="{E6B7CA5E-DFA6-4718-BC7B-3C62D3195B48}" srcOrd="3" destOrd="0" parTransId="{D01CEDD3-97A3-4540-8493-14B5152C1F0E}" sibTransId="{94D3C38F-ED3A-42F4-90B3-792D86967B47}"/>
    <dgm:cxn modelId="{FA795720-2588-46AA-8A3E-BC91502690E1}" srcId="{591E9863-F4E0-4AFE-A550-594829DE201D}" destId="{608249D7-13F6-451F-A734-E25B422D8026}" srcOrd="0" destOrd="0" parTransId="{B0C53CC0-BC32-436F-9EE4-E257323D7AD5}" sibTransId="{939FA090-C0C0-474B-8A1D-90D525E4760F}"/>
    <dgm:cxn modelId="{6EE9BB2D-A235-4330-A39F-34382A713102}" type="presOf" srcId="{90E55B62-9F1C-43D7-A381-9EF6192BB64B}" destId="{D1A79B4D-AE3F-42CB-8B1B-D928B4FA4370}" srcOrd="0" destOrd="0" presId="urn:microsoft.com/office/officeart/2005/8/layout/chevron2"/>
    <dgm:cxn modelId="{B3CEB139-A1A4-421C-86D4-BFBF808BBCCC}" type="presOf" srcId="{E6B7CA5E-DFA6-4718-BC7B-3C62D3195B48}" destId="{9B073764-1A6B-4B3F-9BDB-02E5EA873A6B}" srcOrd="0" destOrd="0" presId="urn:microsoft.com/office/officeart/2005/8/layout/chevron2"/>
    <dgm:cxn modelId="{FC4C5761-A701-4555-A0C0-AED41322E719}" srcId="{D95E2B78-4B3B-43D4-B6FB-A689E9DFAFD3}" destId="{781ED34A-DC3B-4BC7-8E2A-251B21CD89A7}" srcOrd="0" destOrd="0" parTransId="{5EF9DAA2-8066-43EB-9878-3FC85F57EE7D}" sibTransId="{B7AB9990-791A-4D2E-B2F4-F65D5D5AD054}"/>
    <dgm:cxn modelId="{27D63066-9B11-4FC3-B297-9937EA711E5E}" type="presOf" srcId="{028614CB-64CA-4D2C-ADB5-C001027C2CBB}" destId="{8165B1A7-CA1C-4695-9716-D186226AEE2D}" srcOrd="0" destOrd="0" presId="urn:microsoft.com/office/officeart/2005/8/layout/chevron2"/>
    <dgm:cxn modelId="{BC329247-27BA-4EDA-B615-98A5004A3595}" srcId="{16F0F254-0D6A-4621-8864-C591B9E0C20E}" destId="{6307395D-43B1-4F45-B126-D60A6A119223}" srcOrd="0" destOrd="0" parTransId="{285C34CD-2F17-48AC-BF49-EF4F198AD28B}" sibTransId="{88B43C40-97B0-4B65-852B-2E4CC72D4F45}"/>
    <dgm:cxn modelId="{9DDD7B6C-053B-4251-84B2-33EA7E931923}" type="presOf" srcId="{E5FB2D41-B07B-4C74-804E-3A8E6A451FE9}" destId="{215C2E9F-4052-4010-955A-A9E76453837A}" srcOrd="0" destOrd="0" presId="urn:microsoft.com/office/officeart/2005/8/layout/chevron2"/>
    <dgm:cxn modelId="{0659536F-6076-43CC-83A9-10908D9ED3AB}" type="presOf" srcId="{608249D7-13F6-451F-A734-E25B422D8026}" destId="{033FAE24-125E-4496-9502-19B01C42D599}" srcOrd="0" destOrd="0" presId="urn:microsoft.com/office/officeart/2005/8/layout/chevron2"/>
    <dgm:cxn modelId="{F124BE6F-5DD9-41E6-874D-1A7AC22B4134}" srcId="{90E55B62-9F1C-43D7-A381-9EF6192BB64B}" destId="{226D9065-FDAD-4A49-B1CB-3D49E662FE92}" srcOrd="0" destOrd="0" parTransId="{00D2DF86-EE9A-4CE4-8318-A6AB55FA325C}" sibTransId="{9D491F64-341F-47E5-994E-4DCBA7C3A796}"/>
    <dgm:cxn modelId="{DA11D950-D55C-4D86-BEF7-4DC600C46932}" type="presOf" srcId="{226D9065-FDAD-4A49-B1CB-3D49E662FE92}" destId="{EBA9A995-2B2A-4C82-9B7E-248A620017D5}" srcOrd="0" destOrd="0" presId="urn:microsoft.com/office/officeart/2005/8/layout/chevron2"/>
    <dgm:cxn modelId="{63CB6C56-880A-4432-972A-7037EB90EC71}" srcId="{E5FB2D41-B07B-4C74-804E-3A8E6A451FE9}" destId="{028614CB-64CA-4D2C-ADB5-C001027C2CBB}" srcOrd="0" destOrd="0" parTransId="{8E88829D-3800-4712-82EB-595192926633}" sibTransId="{36057FDE-32AA-4387-B608-409DE6FA64B5}"/>
    <dgm:cxn modelId="{ED75035A-6F71-4182-B262-9546163C49DF}" type="presOf" srcId="{16F0F254-0D6A-4621-8864-C591B9E0C20E}" destId="{379A742D-2B83-4E84-B8D2-8F89C646152B}" srcOrd="0" destOrd="0" presId="urn:microsoft.com/office/officeart/2005/8/layout/chevron2"/>
    <dgm:cxn modelId="{1C59D17D-D2C4-40CA-A6FA-F3CAE15D245C}" type="presOf" srcId="{591E9863-F4E0-4AFE-A550-594829DE201D}" destId="{F17A9459-9182-4BAE-9C87-34C70E20FCEC}" srcOrd="0" destOrd="0" presId="urn:microsoft.com/office/officeart/2005/8/layout/chevron2"/>
    <dgm:cxn modelId="{C526079E-C19F-4CB3-B8B2-F4CC2E5433B0}" srcId="{12470784-C738-4870-B307-0B4C0E9F224A}" destId="{D95E2B78-4B3B-43D4-B6FB-A689E9DFAFD3}" srcOrd="0" destOrd="0" parTransId="{330AD8B2-372C-454A-842C-FBF30EFA2D32}" sibTransId="{81C9F67B-C2C8-4BC6-B0C5-34A6EFEC6129}"/>
    <dgm:cxn modelId="{7E41589E-ABD7-4BFC-9AF3-1C7AEE2E9D75}" type="presOf" srcId="{6307395D-43B1-4F45-B126-D60A6A119223}" destId="{C0F12193-DC8E-458F-BA4D-13F30043231F}" srcOrd="0" destOrd="0" presId="urn:microsoft.com/office/officeart/2005/8/layout/chevron2"/>
    <dgm:cxn modelId="{9121D8A2-AD21-4B46-9147-A661054AE757}" srcId="{12470784-C738-4870-B307-0B4C0E9F224A}" destId="{90E55B62-9F1C-43D7-A381-9EF6192BB64B}" srcOrd="1" destOrd="0" parTransId="{A3A5535C-3F63-4EBB-AF55-546264D23E60}" sibTransId="{95D76C98-36C9-448A-A790-B4249CC53BED}"/>
    <dgm:cxn modelId="{5AA6B8C4-81D6-425C-B4AD-29B9C2C579C3}" srcId="{12470784-C738-4870-B307-0B4C0E9F224A}" destId="{E5FB2D41-B07B-4C74-804E-3A8E6A451FE9}" srcOrd="5" destOrd="0" parTransId="{B09B43B9-87C8-4711-B2C2-6B4165C28D27}" sibTransId="{EDE371F0-FEC0-4929-A43D-3F3664BC8E27}"/>
    <dgm:cxn modelId="{8650B7CA-0A8F-46DB-B958-7BD3DFE464CD}" type="presOf" srcId="{D95E2B78-4B3B-43D4-B6FB-A689E9DFAFD3}" destId="{82745983-EED1-427F-B7D3-275B601FAEF9}" srcOrd="0" destOrd="0" presId="urn:microsoft.com/office/officeart/2005/8/layout/chevron2"/>
    <dgm:cxn modelId="{9D675ACF-3069-492C-B415-8779A4EFAC74}" srcId="{12470784-C738-4870-B307-0B4C0E9F224A}" destId="{591E9863-F4E0-4AFE-A550-594829DE201D}" srcOrd="2" destOrd="0" parTransId="{87B9E6B7-3416-43D9-B2B1-5954450055C8}" sibTransId="{D94BFC15-6466-4634-A425-2FD6E6467D73}"/>
    <dgm:cxn modelId="{C53931EC-1D23-42D2-80CB-C5F1C591672F}" type="presOf" srcId="{781ED34A-DC3B-4BC7-8E2A-251B21CD89A7}" destId="{165DBA63-62B0-498C-9BC4-994F4104411A}" srcOrd="0" destOrd="0" presId="urn:microsoft.com/office/officeart/2005/8/layout/chevron2"/>
    <dgm:cxn modelId="{C31852EF-F9C4-4B4F-A891-AC0CC4BEB8F1}" type="presOf" srcId="{12470784-C738-4870-B307-0B4C0E9F224A}" destId="{22B1BD8B-FA2D-4983-9481-039F970975D7}" srcOrd="0" destOrd="0" presId="urn:microsoft.com/office/officeart/2005/8/layout/chevron2"/>
    <dgm:cxn modelId="{552F93F1-B4F4-4711-B07D-F296D66AEC77}" type="presOf" srcId="{6E1674E4-814D-46F4-BCF7-B35DFECB5313}" destId="{9BB88B7F-1C48-46B2-BEE9-903BF10CDDE5}" srcOrd="0" destOrd="0" presId="urn:microsoft.com/office/officeart/2005/8/layout/chevron2"/>
    <dgm:cxn modelId="{403D0534-1586-4D1F-B832-5337D79F75A5}" type="presParOf" srcId="{22B1BD8B-FA2D-4983-9481-039F970975D7}" destId="{EB09AC78-8F5B-4E93-BDB5-5D805AE7B56D}" srcOrd="0" destOrd="0" presId="urn:microsoft.com/office/officeart/2005/8/layout/chevron2"/>
    <dgm:cxn modelId="{BFDA6BDB-D5C3-496E-AA0C-0DA4075261C7}" type="presParOf" srcId="{EB09AC78-8F5B-4E93-BDB5-5D805AE7B56D}" destId="{82745983-EED1-427F-B7D3-275B601FAEF9}" srcOrd="0" destOrd="0" presId="urn:microsoft.com/office/officeart/2005/8/layout/chevron2"/>
    <dgm:cxn modelId="{958871CE-BA34-4D9A-9798-54CDB549B629}" type="presParOf" srcId="{EB09AC78-8F5B-4E93-BDB5-5D805AE7B56D}" destId="{165DBA63-62B0-498C-9BC4-994F4104411A}" srcOrd="1" destOrd="0" presId="urn:microsoft.com/office/officeart/2005/8/layout/chevron2"/>
    <dgm:cxn modelId="{682039E8-929D-46C3-8E5D-CD752243FE1A}" type="presParOf" srcId="{22B1BD8B-FA2D-4983-9481-039F970975D7}" destId="{A54866B1-51AC-4D22-9B42-FD5A0A3E1C56}" srcOrd="1" destOrd="0" presId="urn:microsoft.com/office/officeart/2005/8/layout/chevron2"/>
    <dgm:cxn modelId="{334C4578-389E-485F-B303-4E31C2731C9C}" type="presParOf" srcId="{22B1BD8B-FA2D-4983-9481-039F970975D7}" destId="{1AB2A8AD-3789-4677-8A83-A036E2E26F55}" srcOrd="2" destOrd="0" presId="urn:microsoft.com/office/officeart/2005/8/layout/chevron2"/>
    <dgm:cxn modelId="{FBA3C2A3-D2B6-4B6F-8542-CD8A1C77942C}" type="presParOf" srcId="{1AB2A8AD-3789-4677-8A83-A036E2E26F55}" destId="{D1A79B4D-AE3F-42CB-8B1B-D928B4FA4370}" srcOrd="0" destOrd="0" presId="urn:microsoft.com/office/officeart/2005/8/layout/chevron2"/>
    <dgm:cxn modelId="{2D5F81B5-011D-4D54-8797-1788E25DE103}" type="presParOf" srcId="{1AB2A8AD-3789-4677-8A83-A036E2E26F55}" destId="{EBA9A995-2B2A-4C82-9B7E-248A620017D5}" srcOrd="1" destOrd="0" presId="urn:microsoft.com/office/officeart/2005/8/layout/chevron2"/>
    <dgm:cxn modelId="{941B30B8-CF4F-47EF-AD82-6F922F8A5AD2}" type="presParOf" srcId="{22B1BD8B-FA2D-4983-9481-039F970975D7}" destId="{FF918A68-C29F-44C4-B1B6-6CAF106B606E}" srcOrd="3" destOrd="0" presId="urn:microsoft.com/office/officeart/2005/8/layout/chevron2"/>
    <dgm:cxn modelId="{CAA978C2-C697-4547-9DE2-F96124FE619D}" type="presParOf" srcId="{22B1BD8B-FA2D-4983-9481-039F970975D7}" destId="{2CB61683-2217-4F2A-B79B-CB8EE94E5ECA}" srcOrd="4" destOrd="0" presId="urn:microsoft.com/office/officeart/2005/8/layout/chevron2"/>
    <dgm:cxn modelId="{08D2045D-19C5-4DC5-BDCA-39DF8376420C}" type="presParOf" srcId="{2CB61683-2217-4F2A-B79B-CB8EE94E5ECA}" destId="{F17A9459-9182-4BAE-9C87-34C70E20FCEC}" srcOrd="0" destOrd="0" presId="urn:microsoft.com/office/officeart/2005/8/layout/chevron2"/>
    <dgm:cxn modelId="{30841F86-B9E3-4FF1-9AEE-EAF67C89F002}" type="presParOf" srcId="{2CB61683-2217-4F2A-B79B-CB8EE94E5ECA}" destId="{033FAE24-125E-4496-9502-19B01C42D599}" srcOrd="1" destOrd="0" presId="urn:microsoft.com/office/officeart/2005/8/layout/chevron2"/>
    <dgm:cxn modelId="{FCF619D2-BCC2-4017-AECD-25B77B55728C}" type="presParOf" srcId="{22B1BD8B-FA2D-4983-9481-039F970975D7}" destId="{029EF96A-4239-41CE-A3E3-97D1F3784694}" srcOrd="5" destOrd="0" presId="urn:microsoft.com/office/officeart/2005/8/layout/chevron2"/>
    <dgm:cxn modelId="{B64211BE-7E5D-4668-9DA9-7998AF9B58AA}" type="presParOf" srcId="{22B1BD8B-FA2D-4983-9481-039F970975D7}" destId="{317C113E-EB86-4EB6-9F80-5C4CA83C5A3E}" srcOrd="6" destOrd="0" presId="urn:microsoft.com/office/officeart/2005/8/layout/chevron2"/>
    <dgm:cxn modelId="{86CE5A09-F944-4BCC-9957-08E56B5024CE}" type="presParOf" srcId="{317C113E-EB86-4EB6-9F80-5C4CA83C5A3E}" destId="{9B073764-1A6B-4B3F-9BDB-02E5EA873A6B}" srcOrd="0" destOrd="0" presId="urn:microsoft.com/office/officeart/2005/8/layout/chevron2"/>
    <dgm:cxn modelId="{F55FF016-CDB9-4141-B675-298BAF1BF863}" type="presParOf" srcId="{317C113E-EB86-4EB6-9F80-5C4CA83C5A3E}" destId="{9BB88B7F-1C48-46B2-BEE9-903BF10CDDE5}" srcOrd="1" destOrd="0" presId="urn:microsoft.com/office/officeart/2005/8/layout/chevron2"/>
    <dgm:cxn modelId="{9372A4AF-198E-4F8F-BEFA-4DFAE4F69534}" type="presParOf" srcId="{22B1BD8B-FA2D-4983-9481-039F970975D7}" destId="{2BA8A6A8-47EE-432F-9192-30612D4ADCE4}" srcOrd="7" destOrd="0" presId="urn:microsoft.com/office/officeart/2005/8/layout/chevron2"/>
    <dgm:cxn modelId="{9C7D7B89-4C9E-4AF5-BAD6-158F0B5FF986}" type="presParOf" srcId="{22B1BD8B-FA2D-4983-9481-039F970975D7}" destId="{42FDC589-D082-4379-ABE5-09C35EE7C024}" srcOrd="8" destOrd="0" presId="urn:microsoft.com/office/officeart/2005/8/layout/chevron2"/>
    <dgm:cxn modelId="{C6C253F3-2ECF-4150-840C-1F8E0A35BEC9}" type="presParOf" srcId="{42FDC589-D082-4379-ABE5-09C35EE7C024}" destId="{379A742D-2B83-4E84-B8D2-8F89C646152B}" srcOrd="0" destOrd="0" presId="urn:microsoft.com/office/officeart/2005/8/layout/chevron2"/>
    <dgm:cxn modelId="{911D61AD-4FF4-4643-867E-36444F2CA497}" type="presParOf" srcId="{42FDC589-D082-4379-ABE5-09C35EE7C024}" destId="{C0F12193-DC8E-458F-BA4D-13F30043231F}" srcOrd="1" destOrd="0" presId="urn:microsoft.com/office/officeart/2005/8/layout/chevron2"/>
    <dgm:cxn modelId="{AA007151-F074-446A-9F66-2DCDD65D1877}" type="presParOf" srcId="{22B1BD8B-FA2D-4983-9481-039F970975D7}" destId="{69872BB8-16E0-49BD-A922-C59DA0F39532}" srcOrd="9" destOrd="0" presId="urn:microsoft.com/office/officeart/2005/8/layout/chevron2"/>
    <dgm:cxn modelId="{E6F66E13-2C62-40D9-8AE4-E0D41B5467BE}" type="presParOf" srcId="{22B1BD8B-FA2D-4983-9481-039F970975D7}" destId="{A7BBC88F-6C2C-4AF4-8306-783F5A94C2BD}" srcOrd="10" destOrd="0" presId="urn:microsoft.com/office/officeart/2005/8/layout/chevron2"/>
    <dgm:cxn modelId="{1E704CD4-41F4-454E-BE66-4C7C871278A5}" type="presParOf" srcId="{A7BBC88F-6C2C-4AF4-8306-783F5A94C2BD}" destId="{215C2E9F-4052-4010-955A-A9E76453837A}" srcOrd="0" destOrd="0" presId="urn:microsoft.com/office/officeart/2005/8/layout/chevron2"/>
    <dgm:cxn modelId="{5C598D52-B753-4647-AB6C-27F8291F1F30}" type="presParOf" srcId="{A7BBC88F-6C2C-4AF4-8306-783F5A94C2BD}" destId="{8165B1A7-CA1C-4695-9716-D186226AEE2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C8AC9F-67C5-4BC4-AD2D-1C47B790924A}">
      <dsp:nvSpPr>
        <dsp:cNvPr id="0" name=""/>
        <dsp:cNvSpPr/>
      </dsp:nvSpPr>
      <dsp:spPr>
        <a:xfrm rot="5400000">
          <a:off x="-140771" y="14446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FR" sz="2000" kern="1200" dirty="0"/>
            <a:t>01</a:t>
          </a:r>
        </a:p>
      </dsp:txBody>
      <dsp:txXfrm rot="-5400000">
        <a:off x="1" y="332156"/>
        <a:ext cx="656932" cy="281543"/>
      </dsp:txXfrm>
    </dsp:sp>
    <dsp:sp modelId="{37EBFAA4-1128-4E61-809B-A2104792C0F2}">
      <dsp:nvSpPr>
        <dsp:cNvPr id="0" name=""/>
        <dsp:cNvSpPr/>
      </dsp:nvSpPr>
      <dsp:spPr>
        <a:xfrm rot="5400000">
          <a:off x="5325659" y="-4668726"/>
          <a:ext cx="610329"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fr-FR" sz="2000" b="1" kern="1200" dirty="0"/>
            <a:t>ORGANISATION INTERNE </a:t>
          </a:r>
          <a:r>
            <a:rPr lang="fr-FR" sz="2000" kern="1200" dirty="0"/>
            <a:t>: Organes délibérant (stratégie) et exécutif (mise en œuvre, PPE, correspondance bancaire)</a:t>
          </a:r>
        </a:p>
      </dsp:txBody>
      <dsp:txXfrm rot="-5400000">
        <a:off x="656932" y="29795"/>
        <a:ext cx="9917989" cy="550741"/>
      </dsp:txXfrm>
    </dsp:sp>
    <dsp:sp modelId="{E8B3BA4C-E456-4D44-9CAA-915348DBD86E}">
      <dsp:nvSpPr>
        <dsp:cNvPr id="0" name=""/>
        <dsp:cNvSpPr/>
      </dsp:nvSpPr>
      <dsp:spPr>
        <a:xfrm rot="5400000">
          <a:off x="-140771" y="96391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02</a:t>
          </a:r>
        </a:p>
      </dsp:txBody>
      <dsp:txXfrm rot="-5400000">
        <a:off x="1" y="1151606"/>
        <a:ext cx="656932" cy="281543"/>
      </dsp:txXfrm>
    </dsp:sp>
    <dsp:sp modelId="{69D00711-714D-4EEA-AAFA-03F682E9DC24}">
      <dsp:nvSpPr>
        <dsp:cNvPr id="0" name=""/>
        <dsp:cNvSpPr/>
      </dsp:nvSpPr>
      <dsp:spPr>
        <a:xfrm rot="5400000">
          <a:off x="5325819" y="-3845745"/>
          <a:ext cx="610008"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None/>
          </a:pPr>
          <a:endParaRPr lang="fr-FR" sz="1800" kern="1200"/>
        </a:p>
        <a:p>
          <a:pPr marL="228600" lvl="1" indent="-228600" algn="l" defTabSz="889000">
            <a:lnSpc>
              <a:spcPct val="90000"/>
            </a:lnSpc>
            <a:spcBef>
              <a:spcPct val="0"/>
            </a:spcBef>
            <a:spcAft>
              <a:spcPct val="15000"/>
            </a:spcAft>
            <a:buSzPts val="1000"/>
            <a:buFont typeface="Wingdings" panose="05000000000000000000" pitchFamily="2" charset="2"/>
            <a:buNone/>
          </a:pPr>
          <a:r>
            <a:rPr lang="fr-FR" sz="2000" b="1" kern="1200" dirty="0"/>
            <a:t>SYSTÈME D’INFORMATION :</a:t>
          </a:r>
          <a:r>
            <a:rPr lang="fr-FR" sz="2000" kern="1200" dirty="0"/>
            <a:t> Profilage, filtrage, suivi, identification suspecte, prise en compte sanctions ciblées (mise à jour annuelle de l'efficacité)</a:t>
          </a:r>
        </a:p>
        <a:p>
          <a:pPr marL="171450" lvl="1" indent="-171450" algn="l" defTabSz="800100">
            <a:lnSpc>
              <a:spcPct val="90000"/>
            </a:lnSpc>
            <a:spcBef>
              <a:spcPct val="0"/>
            </a:spcBef>
            <a:spcAft>
              <a:spcPct val="15000"/>
            </a:spcAft>
            <a:buChar char="•"/>
          </a:pPr>
          <a:endParaRPr lang="fr-FR" sz="1800" kern="1200" dirty="0"/>
        </a:p>
      </dsp:txBody>
      <dsp:txXfrm rot="-5400000">
        <a:off x="656932" y="852920"/>
        <a:ext cx="9918005" cy="550452"/>
      </dsp:txXfrm>
    </dsp:sp>
    <dsp:sp modelId="{8F5D160C-FB60-4DE9-B097-8692725272E6}">
      <dsp:nvSpPr>
        <dsp:cNvPr id="0" name=""/>
        <dsp:cNvSpPr/>
      </dsp:nvSpPr>
      <dsp:spPr>
        <a:xfrm rot="5400000">
          <a:off x="-140771" y="178336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03</a:t>
          </a:r>
        </a:p>
      </dsp:txBody>
      <dsp:txXfrm rot="-5400000">
        <a:off x="1" y="1971056"/>
        <a:ext cx="656932" cy="281543"/>
      </dsp:txXfrm>
    </dsp:sp>
    <dsp:sp modelId="{67841EAB-7706-4ACF-98BB-4B178F355B36}">
      <dsp:nvSpPr>
        <dsp:cNvPr id="0" name=""/>
        <dsp:cNvSpPr/>
      </dsp:nvSpPr>
      <dsp:spPr>
        <a:xfrm rot="5400000">
          <a:off x="5325819" y="-3026295"/>
          <a:ext cx="610008"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fr-FR" sz="2000" b="1" kern="1200" dirty="0"/>
            <a:t>STRUCTURE INTERNE LBC/FT/FP :</a:t>
          </a:r>
          <a:r>
            <a:rPr lang="fr-FR" sz="2000" kern="1200" dirty="0"/>
            <a:t> Dédiée, rattachée DG, centralise soupçons, rédige déclarations CENTIF, gère formation et risques</a:t>
          </a:r>
        </a:p>
      </dsp:txBody>
      <dsp:txXfrm rot="-5400000">
        <a:off x="656932" y="1672370"/>
        <a:ext cx="9918005" cy="550452"/>
      </dsp:txXfrm>
    </dsp:sp>
    <dsp:sp modelId="{45664B3E-65E3-405B-9180-3C4B8EA8EE28}">
      <dsp:nvSpPr>
        <dsp:cNvPr id="0" name=""/>
        <dsp:cNvSpPr/>
      </dsp:nvSpPr>
      <dsp:spPr>
        <a:xfrm rot="5400000">
          <a:off x="-140771" y="260281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04</a:t>
          </a:r>
        </a:p>
      </dsp:txBody>
      <dsp:txXfrm rot="-5400000">
        <a:off x="1" y="2790506"/>
        <a:ext cx="656932" cy="281543"/>
      </dsp:txXfrm>
    </dsp:sp>
    <dsp:sp modelId="{37C7CB4F-7EF9-4B36-B795-B531A2BA1743}">
      <dsp:nvSpPr>
        <dsp:cNvPr id="0" name=""/>
        <dsp:cNvSpPr/>
      </dsp:nvSpPr>
      <dsp:spPr>
        <a:xfrm rot="5400000">
          <a:off x="5325819" y="-2206845"/>
          <a:ext cx="610008"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Wingdings" panose="05000000000000000000" pitchFamily="2" charset="2"/>
            <a:buNone/>
          </a:pPr>
          <a:r>
            <a:rPr lang="fr-FR" sz="2000" b="1" kern="1200" dirty="0"/>
            <a:t>FORMATION DU PERSONNEL :</a:t>
          </a:r>
          <a:r>
            <a:rPr lang="fr-FR" sz="2000" kern="1200" dirty="0"/>
            <a:t> Programme annuel pour personnel et gouvernance</a:t>
          </a:r>
          <a:r>
            <a:rPr lang="fr-FR" sz="900" kern="1200" dirty="0"/>
            <a:t>.</a:t>
          </a:r>
        </a:p>
        <a:p>
          <a:pPr marL="57150" lvl="1" indent="-57150" algn="l" defTabSz="400050">
            <a:lnSpc>
              <a:spcPct val="90000"/>
            </a:lnSpc>
            <a:spcBef>
              <a:spcPct val="0"/>
            </a:spcBef>
            <a:spcAft>
              <a:spcPct val="15000"/>
            </a:spcAft>
            <a:buChar char="•"/>
          </a:pPr>
          <a:endParaRPr lang="fr-FR" sz="900" kern="1200" dirty="0"/>
        </a:p>
      </dsp:txBody>
      <dsp:txXfrm rot="-5400000">
        <a:off x="656932" y="2491820"/>
        <a:ext cx="9918005" cy="550452"/>
      </dsp:txXfrm>
    </dsp:sp>
    <dsp:sp modelId="{745467DF-06DB-4058-B73B-D0E76A9EE396}">
      <dsp:nvSpPr>
        <dsp:cNvPr id="0" name=""/>
        <dsp:cNvSpPr/>
      </dsp:nvSpPr>
      <dsp:spPr>
        <a:xfrm rot="5400000">
          <a:off x="-140771" y="342226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05</a:t>
          </a:r>
        </a:p>
      </dsp:txBody>
      <dsp:txXfrm rot="-5400000">
        <a:off x="1" y="3609956"/>
        <a:ext cx="656932" cy="281543"/>
      </dsp:txXfrm>
    </dsp:sp>
    <dsp:sp modelId="{B06CD8FE-372E-4FCB-B612-6DE79633B811}">
      <dsp:nvSpPr>
        <dsp:cNvPr id="0" name=""/>
        <dsp:cNvSpPr/>
      </dsp:nvSpPr>
      <dsp:spPr>
        <a:xfrm rot="5400000">
          <a:off x="5325819" y="-1387395"/>
          <a:ext cx="610008"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Wingdings" panose="05000000000000000000" pitchFamily="2" charset="2"/>
            <a:buNone/>
          </a:pPr>
          <a:r>
            <a:rPr lang="fr-FR" sz="2000" b="1" kern="1200" dirty="0"/>
            <a:t>CONTRÔLES ET REPORTING :</a:t>
          </a:r>
          <a:r>
            <a:rPr lang="fr-FR" sz="2000" kern="1200" dirty="0"/>
            <a:t> Audit interne annuel, rapport annuel à BCEAO (dans les 2 mois).</a:t>
          </a:r>
        </a:p>
        <a:p>
          <a:pPr marL="114300" lvl="1" indent="-114300" algn="l" defTabSz="622300">
            <a:lnSpc>
              <a:spcPct val="90000"/>
            </a:lnSpc>
            <a:spcBef>
              <a:spcPct val="0"/>
            </a:spcBef>
            <a:spcAft>
              <a:spcPct val="15000"/>
            </a:spcAft>
            <a:buChar char="•"/>
          </a:pPr>
          <a:endParaRPr lang="fr-FR" sz="1400" kern="1200"/>
        </a:p>
      </dsp:txBody>
      <dsp:txXfrm rot="-5400000">
        <a:off x="656932" y="3311270"/>
        <a:ext cx="9918005" cy="550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45983-EED1-427F-B7D3-275B601FAEF9}">
      <dsp:nvSpPr>
        <dsp:cNvPr id="0" name=""/>
        <dsp:cNvSpPr/>
      </dsp:nvSpPr>
      <dsp:spPr>
        <a:xfrm rot="5400000">
          <a:off x="-120988" y="125132"/>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01</a:t>
          </a:r>
        </a:p>
      </dsp:txBody>
      <dsp:txXfrm rot="-5400000">
        <a:off x="0" y="286450"/>
        <a:ext cx="564612" cy="241976"/>
      </dsp:txXfrm>
    </dsp:sp>
    <dsp:sp modelId="{165DBA63-62B0-498C-9BC4-994F4104411A}">
      <dsp:nvSpPr>
        <dsp:cNvPr id="0" name=""/>
        <dsp:cNvSpPr/>
      </dsp:nvSpPr>
      <dsp:spPr>
        <a:xfrm rot="5400000">
          <a:off x="5277964" y="-4713352"/>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Courier New" panose="02070309020205020404" pitchFamily="49" charset="0"/>
            <a:buNone/>
          </a:pPr>
          <a:r>
            <a:rPr lang="fr-FR" sz="2000" b="1" kern="1200" dirty="0"/>
            <a:t>Mise en place d'un dispositif LBC/FT/FP adapté</a:t>
          </a:r>
          <a:endParaRPr lang="fr-FR" sz="2000" kern="1200" dirty="0"/>
        </a:p>
      </dsp:txBody>
      <dsp:txXfrm rot="-5400000">
        <a:off x="564612" y="25593"/>
        <a:ext cx="9925394" cy="473096"/>
      </dsp:txXfrm>
    </dsp:sp>
    <dsp:sp modelId="{D1A79B4D-AE3F-42CB-8B1B-D928B4FA4370}">
      <dsp:nvSpPr>
        <dsp:cNvPr id="0" name=""/>
        <dsp:cNvSpPr/>
      </dsp:nvSpPr>
      <dsp:spPr>
        <a:xfrm rot="5400000">
          <a:off x="-120988" y="832424"/>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02</a:t>
          </a:r>
        </a:p>
      </dsp:txBody>
      <dsp:txXfrm rot="-5400000">
        <a:off x="0" y="993742"/>
        <a:ext cx="564612" cy="241976"/>
      </dsp:txXfrm>
    </dsp:sp>
    <dsp:sp modelId="{EBA9A995-2B2A-4C82-9B7E-248A620017D5}">
      <dsp:nvSpPr>
        <dsp:cNvPr id="0" name=""/>
        <dsp:cNvSpPr/>
      </dsp:nvSpPr>
      <dsp:spPr>
        <a:xfrm rot="5400000">
          <a:off x="5277964" y="-4001916"/>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Courier New" panose="02070309020205020404" pitchFamily="49" charset="0"/>
            <a:buNone/>
          </a:pPr>
          <a:r>
            <a:rPr lang="fr-FR" sz="2000" b="1" kern="1200" dirty="0"/>
            <a:t>Élaboration d'un rapport annuel</a:t>
          </a:r>
        </a:p>
      </dsp:txBody>
      <dsp:txXfrm rot="-5400000">
        <a:off x="564612" y="737029"/>
        <a:ext cx="9925394" cy="473096"/>
      </dsp:txXfrm>
    </dsp:sp>
    <dsp:sp modelId="{F17A9459-9182-4BAE-9C87-34C70E20FCEC}">
      <dsp:nvSpPr>
        <dsp:cNvPr id="0" name=""/>
        <dsp:cNvSpPr/>
      </dsp:nvSpPr>
      <dsp:spPr>
        <a:xfrm rot="5400000">
          <a:off x="-120988" y="1539716"/>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03</a:t>
          </a:r>
        </a:p>
      </dsp:txBody>
      <dsp:txXfrm rot="-5400000">
        <a:off x="0" y="1701034"/>
        <a:ext cx="564612" cy="241976"/>
      </dsp:txXfrm>
    </dsp:sp>
    <dsp:sp modelId="{033FAE24-125E-4496-9502-19B01C42D599}">
      <dsp:nvSpPr>
        <dsp:cNvPr id="0" name=""/>
        <dsp:cNvSpPr/>
      </dsp:nvSpPr>
      <dsp:spPr>
        <a:xfrm rot="5400000">
          <a:off x="5277964" y="-3294623"/>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Courier New" panose="02070309020205020404" pitchFamily="49" charset="0"/>
            <a:buNone/>
          </a:pPr>
          <a:r>
            <a:rPr lang="fr-FR" sz="2000" b="1" kern="1200" dirty="0"/>
            <a:t>Système d’information :</a:t>
          </a:r>
          <a:r>
            <a:rPr lang="fr-FR" sz="2000" kern="1200" dirty="0"/>
            <a:t> Recensement opérations, identification suspecte, prise en compte sanctions ciblées (mise à jour tous les 3 ans de l'efficacité</a:t>
          </a:r>
        </a:p>
      </dsp:txBody>
      <dsp:txXfrm rot="-5400000">
        <a:off x="564612" y="1444322"/>
        <a:ext cx="9925394" cy="473096"/>
      </dsp:txXfrm>
    </dsp:sp>
    <dsp:sp modelId="{9B073764-1A6B-4B3F-9BDB-02E5EA873A6B}">
      <dsp:nvSpPr>
        <dsp:cNvPr id="0" name=""/>
        <dsp:cNvSpPr/>
      </dsp:nvSpPr>
      <dsp:spPr>
        <a:xfrm rot="5400000">
          <a:off x="-120988" y="2247008"/>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04</a:t>
          </a:r>
        </a:p>
      </dsp:txBody>
      <dsp:txXfrm rot="-5400000">
        <a:off x="0" y="2408326"/>
        <a:ext cx="564612" cy="241976"/>
      </dsp:txXfrm>
    </dsp:sp>
    <dsp:sp modelId="{9BB88B7F-1C48-46B2-BEE9-903BF10CDDE5}">
      <dsp:nvSpPr>
        <dsp:cNvPr id="0" name=""/>
        <dsp:cNvSpPr/>
      </dsp:nvSpPr>
      <dsp:spPr>
        <a:xfrm rot="5400000">
          <a:off x="5277964" y="-2587331"/>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SzPts val="1000"/>
            <a:buFont typeface="Courier New" panose="02070309020205020404" pitchFamily="49" charset="0"/>
            <a:buNone/>
          </a:pPr>
          <a:r>
            <a:rPr lang="fr-FR" sz="1800" b="1" kern="1200" dirty="0"/>
            <a:t>Dispositif interne :</a:t>
          </a:r>
          <a:r>
            <a:rPr lang="fr-FR" sz="1800" kern="1200" dirty="0"/>
            <a:t> Personne désignée pour centraliser les soupçons et interagir avec la CENTIF.</a:t>
          </a:r>
        </a:p>
      </dsp:txBody>
      <dsp:txXfrm rot="-5400000">
        <a:off x="564612" y="2151614"/>
        <a:ext cx="9925394" cy="473096"/>
      </dsp:txXfrm>
    </dsp:sp>
    <dsp:sp modelId="{379A742D-2B83-4E84-B8D2-8F89C646152B}">
      <dsp:nvSpPr>
        <dsp:cNvPr id="0" name=""/>
        <dsp:cNvSpPr/>
      </dsp:nvSpPr>
      <dsp:spPr>
        <a:xfrm rot="5400000">
          <a:off x="-120988" y="2954300"/>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05</a:t>
          </a:r>
        </a:p>
      </dsp:txBody>
      <dsp:txXfrm rot="-5400000">
        <a:off x="0" y="3115618"/>
        <a:ext cx="564612" cy="241976"/>
      </dsp:txXfrm>
    </dsp:sp>
    <dsp:sp modelId="{C0F12193-DC8E-458F-BA4D-13F30043231F}">
      <dsp:nvSpPr>
        <dsp:cNvPr id="0" name=""/>
        <dsp:cNvSpPr/>
      </dsp:nvSpPr>
      <dsp:spPr>
        <a:xfrm rot="5400000">
          <a:off x="5277964" y="-1909064"/>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SzPts val="1000"/>
            <a:buFont typeface="Courier New" panose="02070309020205020404" pitchFamily="49" charset="0"/>
            <a:buNone/>
          </a:pPr>
          <a:r>
            <a:rPr lang="fr-FR" sz="1600" b="1" kern="1200" dirty="0"/>
            <a:t>Reporting :</a:t>
          </a:r>
          <a:r>
            <a:rPr lang="fr-FR" sz="1600" kern="1200" dirty="0"/>
            <a:t> Rapport annuel à la BCEAO et Ministère des Finances (dans les 2 mois). Déclaration trimestrielle des opérations de change à la BCEAO</a:t>
          </a:r>
        </a:p>
      </dsp:txBody>
      <dsp:txXfrm rot="-5400000">
        <a:off x="564612" y="2829881"/>
        <a:ext cx="9925394" cy="473096"/>
      </dsp:txXfrm>
    </dsp:sp>
    <dsp:sp modelId="{215C2E9F-4052-4010-955A-A9E76453837A}">
      <dsp:nvSpPr>
        <dsp:cNvPr id="0" name=""/>
        <dsp:cNvSpPr/>
      </dsp:nvSpPr>
      <dsp:spPr>
        <a:xfrm rot="5400000">
          <a:off x="-120988" y="3661593"/>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06</a:t>
          </a:r>
        </a:p>
      </dsp:txBody>
      <dsp:txXfrm rot="-5400000">
        <a:off x="0" y="3822911"/>
        <a:ext cx="564612" cy="241976"/>
      </dsp:txXfrm>
    </dsp:sp>
    <dsp:sp modelId="{8165B1A7-CA1C-4695-9716-D186226AEE2D}">
      <dsp:nvSpPr>
        <dsp:cNvPr id="0" name=""/>
        <dsp:cNvSpPr/>
      </dsp:nvSpPr>
      <dsp:spPr>
        <a:xfrm rot="5400000">
          <a:off x="5277964" y="-1172747"/>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SzPts val="1000"/>
            <a:buFont typeface="Courier New" panose="02070309020205020404" pitchFamily="49" charset="0"/>
            <a:buNone/>
          </a:pPr>
          <a:r>
            <a:rPr lang="fr-FR" sz="1800" b="1" kern="1200" dirty="0"/>
            <a:t>Surveillance :</a:t>
          </a:r>
          <a:r>
            <a:rPr lang="fr-FR" sz="1800" kern="1200" dirty="0"/>
            <a:t> La BCEAO assure la surveillance de leurs obligations</a:t>
          </a:r>
        </a:p>
      </dsp:txBody>
      <dsp:txXfrm rot="-5400000">
        <a:off x="564612" y="3566198"/>
        <a:ext cx="9925394" cy="47309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83B64-2F6D-4DBE-8E14-388E40ACD669}" type="datetimeFigureOut">
              <a:rPr lang="fr-FR" smtClean="0"/>
              <a:t>09/08/2025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469B4-B438-4EEA-AEB0-E916027C2C0D}" type="slidenum">
              <a:rPr lang="fr-FR" smtClean="0"/>
              <a:t>‹N°›</a:t>
            </a:fld>
            <a:endParaRPr lang="fr-FR"/>
          </a:p>
        </p:txBody>
      </p:sp>
    </p:spTree>
    <p:extLst>
      <p:ext uri="{BB962C8B-B14F-4D97-AF65-F5344CB8AC3E}">
        <p14:creationId xmlns:p14="http://schemas.microsoft.com/office/powerpoint/2010/main" val="2023378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23469B4-B438-4EEA-AEB0-E916027C2C0D}" type="slidenum">
              <a:rPr lang="fr-FR" smtClean="0"/>
              <a:t>7</a:t>
            </a:fld>
            <a:endParaRPr lang="fr-FR"/>
          </a:p>
        </p:txBody>
      </p:sp>
    </p:spTree>
    <p:extLst>
      <p:ext uri="{BB962C8B-B14F-4D97-AF65-F5344CB8AC3E}">
        <p14:creationId xmlns:p14="http://schemas.microsoft.com/office/powerpoint/2010/main" val="133694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23469B4-B438-4EEA-AEB0-E916027C2C0D}" type="slidenum">
              <a:rPr lang="fr-FR" smtClean="0"/>
              <a:t>17</a:t>
            </a:fld>
            <a:endParaRPr lang="fr-FR"/>
          </a:p>
        </p:txBody>
      </p:sp>
    </p:spTree>
    <p:extLst>
      <p:ext uri="{BB962C8B-B14F-4D97-AF65-F5344CB8AC3E}">
        <p14:creationId xmlns:p14="http://schemas.microsoft.com/office/powerpoint/2010/main" val="3719802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9E8F86-1993-500D-97B5-FD897D1BC11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EA69834-E2B7-0AF0-D839-7F0C7BCAC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FF28B69-0104-202A-B48F-1F68109282A4}"/>
              </a:ext>
            </a:extLst>
          </p:cNvPr>
          <p:cNvSpPr>
            <a:spLocks noGrp="1"/>
          </p:cNvSpPr>
          <p:nvPr>
            <p:ph type="dt" sz="half" idx="10"/>
          </p:nvPr>
        </p:nvSpPr>
        <p:spPr/>
        <p:txBody>
          <a:bodyPr/>
          <a:lstStyle/>
          <a:p>
            <a:fld id="{D77A968C-FB9C-4DED-9B56-30F9F2C78B25}" type="datetime1">
              <a:rPr lang="fr-FR" smtClean="0"/>
              <a:t>09/08/2025</a:t>
            </a:fld>
            <a:endParaRPr lang="fr-FR"/>
          </a:p>
        </p:txBody>
      </p:sp>
      <p:sp>
        <p:nvSpPr>
          <p:cNvPr id="5" name="Espace réservé du pied de page 4">
            <a:extLst>
              <a:ext uri="{FF2B5EF4-FFF2-40B4-BE49-F238E27FC236}">
                <a16:creationId xmlns:a16="http://schemas.microsoft.com/office/drawing/2014/main" id="{A8970CD6-485B-0500-94A6-4648CD946F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5038C20-561B-1F54-5C16-AE141944E529}"/>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1392436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94BF91-F43A-7FD1-7553-E1285A74F9B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41A79E7-B788-7A21-42F2-05F880BDA6F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7FAC3F6-F7FA-F421-FF46-0FEBD02118D7}"/>
              </a:ext>
            </a:extLst>
          </p:cNvPr>
          <p:cNvSpPr>
            <a:spLocks noGrp="1"/>
          </p:cNvSpPr>
          <p:nvPr>
            <p:ph type="dt" sz="half" idx="10"/>
          </p:nvPr>
        </p:nvSpPr>
        <p:spPr/>
        <p:txBody>
          <a:bodyPr/>
          <a:lstStyle/>
          <a:p>
            <a:fld id="{55A21FCF-1757-4354-919B-2ABE83B8415A}" type="datetime1">
              <a:rPr lang="fr-FR" smtClean="0"/>
              <a:t>09/08/2025</a:t>
            </a:fld>
            <a:endParaRPr lang="fr-FR"/>
          </a:p>
        </p:txBody>
      </p:sp>
      <p:sp>
        <p:nvSpPr>
          <p:cNvPr id="5" name="Espace réservé du pied de page 4">
            <a:extLst>
              <a:ext uri="{FF2B5EF4-FFF2-40B4-BE49-F238E27FC236}">
                <a16:creationId xmlns:a16="http://schemas.microsoft.com/office/drawing/2014/main" id="{8055CB0B-603D-A528-5709-3E87E065F73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EB9E52D-44BD-8FD6-D306-6F8937AA31BA}"/>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1904878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D09A59-5324-2E36-7FF6-C87C06B7ACE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7A3F1C-6799-DD15-7CCC-58E9FF8A66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B7709FD-F2E1-3E37-747F-607E97A595DC}"/>
              </a:ext>
            </a:extLst>
          </p:cNvPr>
          <p:cNvSpPr>
            <a:spLocks noGrp="1"/>
          </p:cNvSpPr>
          <p:nvPr>
            <p:ph type="dt" sz="half" idx="10"/>
          </p:nvPr>
        </p:nvSpPr>
        <p:spPr/>
        <p:txBody>
          <a:bodyPr/>
          <a:lstStyle/>
          <a:p>
            <a:fld id="{E9903F4C-1A7D-4A48-93E3-027B2230998B}" type="datetime1">
              <a:rPr lang="fr-FR" smtClean="0"/>
              <a:t>09/08/2025</a:t>
            </a:fld>
            <a:endParaRPr lang="fr-FR"/>
          </a:p>
        </p:txBody>
      </p:sp>
      <p:sp>
        <p:nvSpPr>
          <p:cNvPr id="5" name="Espace réservé du pied de page 4">
            <a:extLst>
              <a:ext uri="{FF2B5EF4-FFF2-40B4-BE49-F238E27FC236}">
                <a16:creationId xmlns:a16="http://schemas.microsoft.com/office/drawing/2014/main" id="{3B4A2318-AD0F-6A4F-35D5-C9A91D1F929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16557EC-2AA2-4EF5-A3DD-71D8873D427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1832092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8267A8-557E-41DD-6EAF-C0D41DE0FA0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F88F1DB-C5AC-2B67-4CAB-884471EA47D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29C0453-D36C-2196-336D-91BB6B99BA1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E67DB7A-B227-4D81-D009-92421D0A7444}"/>
              </a:ext>
            </a:extLst>
          </p:cNvPr>
          <p:cNvSpPr>
            <a:spLocks noGrp="1"/>
          </p:cNvSpPr>
          <p:nvPr>
            <p:ph type="dt" sz="half" idx="10"/>
          </p:nvPr>
        </p:nvSpPr>
        <p:spPr/>
        <p:txBody>
          <a:bodyPr/>
          <a:lstStyle/>
          <a:p>
            <a:fld id="{DD8DEEE1-88B7-422D-B848-0EA051376AA9}" type="datetime1">
              <a:rPr lang="fr-FR" smtClean="0"/>
              <a:t>09/08/2025</a:t>
            </a:fld>
            <a:endParaRPr lang="fr-FR"/>
          </a:p>
        </p:txBody>
      </p:sp>
      <p:sp>
        <p:nvSpPr>
          <p:cNvPr id="6" name="Espace réservé du pied de page 5">
            <a:extLst>
              <a:ext uri="{FF2B5EF4-FFF2-40B4-BE49-F238E27FC236}">
                <a16:creationId xmlns:a16="http://schemas.microsoft.com/office/drawing/2014/main" id="{DAE42A2C-C043-77EF-E8A9-C3BDC8F6C6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C482725-5A88-F048-3491-29DEB99D4596}"/>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2487919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C23A3-54C0-D465-3F35-F9383F7F37A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8C8E5E4-BB01-0510-3D88-7E0C3C5E12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61F8F20-3118-2E11-6122-BFCC788D12B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F0A54BE-5CA6-F7FF-7620-1848EC11C5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F1F3B72-7A6F-705F-640B-0D37554AB48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94E47CE-CD2B-429C-C1DC-E527AF1C826F}"/>
              </a:ext>
            </a:extLst>
          </p:cNvPr>
          <p:cNvSpPr>
            <a:spLocks noGrp="1"/>
          </p:cNvSpPr>
          <p:nvPr>
            <p:ph type="dt" sz="half" idx="10"/>
          </p:nvPr>
        </p:nvSpPr>
        <p:spPr/>
        <p:txBody>
          <a:bodyPr/>
          <a:lstStyle/>
          <a:p>
            <a:fld id="{E2461535-D1FE-41B0-99B2-DD2D60F78250}" type="datetime1">
              <a:rPr lang="fr-FR" smtClean="0"/>
              <a:t>09/08/2025</a:t>
            </a:fld>
            <a:endParaRPr lang="fr-FR"/>
          </a:p>
        </p:txBody>
      </p:sp>
      <p:sp>
        <p:nvSpPr>
          <p:cNvPr id="8" name="Espace réservé du pied de page 7">
            <a:extLst>
              <a:ext uri="{FF2B5EF4-FFF2-40B4-BE49-F238E27FC236}">
                <a16:creationId xmlns:a16="http://schemas.microsoft.com/office/drawing/2014/main" id="{6980D88D-A8F1-B43F-2F73-D64FE0EE363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0A4E7F3-865F-C61E-AD50-F9EAF7BFEB1C}"/>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568109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B8A471-B957-C2FB-281C-C94380E658D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B1C05CA-B67C-1519-8622-09C5DDADFE61}"/>
              </a:ext>
            </a:extLst>
          </p:cNvPr>
          <p:cNvSpPr>
            <a:spLocks noGrp="1"/>
          </p:cNvSpPr>
          <p:nvPr>
            <p:ph type="dt" sz="half" idx="10"/>
          </p:nvPr>
        </p:nvSpPr>
        <p:spPr/>
        <p:txBody>
          <a:bodyPr/>
          <a:lstStyle/>
          <a:p>
            <a:fld id="{8D8ECF4F-A998-4278-A2C4-2299B8C3CAD4}" type="datetime1">
              <a:rPr lang="fr-FR" smtClean="0"/>
              <a:t>09/08/2025</a:t>
            </a:fld>
            <a:endParaRPr lang="fr-FR"/>
          </a:p>
        </p:txBody>
      </p:sp>
      <p:sp>
        <p:nvSpPr>
          <p:cNvPr id="4" name="Espace réservé du pied de page 3">
            <a:extLst>
              <a:ext uri="{FF2B5EF4-FFF2-40B4-BE49-F238E27FC236}">
                <a16:creationId xmlns:a16="http://schemas.microsoft.com/office/drawing/2014/main" id="{504AD79A-F58F-610F-DA39-161FE378641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9D0F9D7-4FE7-7A5E-8775-5B04AA21F22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3896364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6E3B227-FA7A-A3C7-5816-124CCD34DE0F}"/>
              </a:ext>
            </a:extLst>
          </p:cNvPr>
          <p:cNvSpPr>
            <a:spLocks noGrp="1"/>
          </p:cNvSpPr>
          <p:nvPr>
            <p:ph type="dt" sz="half" idx="10"/>
          </p:nvPr>
        </p:nvSpPr>
        <p:spPr/>
        <p:txBody>
          <a:bodyPr/>
          <a:lstStyle/>
          <a:p>
            <a:fld id="{3A473838-5F91-402B-94D7-9150A1628E1E}" type="datetime1">
              <a:rPr lang="fr-FR" smtClean="0"/>
              <a:t>09/08/2025</a:t>
            </a:fld>
            <a:endParaRPr lang="fr-FR"/>
          </a:p>
        </p:txBody>
      </p:sp>
      <p:sp>
        <p:nvSpPr>
          <p:cNvPr id="3" name="Espace réservé du pied de page 2">
            <a:extLst>
              <a:ext uri="{FF2B5EF4-FFF2-40B4-BE49-F238E27FC236}">
                <a16:creationId xmlns:a16="http://schemas.microsoft.com/office/drawing/2014/main" id="{06DFA9FE-889A-F225-CD12-0BB3442597F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229C4B2-6390-BD5E-7090-332F2AAF68D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2972014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9326D7-0DEB-7463-76D8-CA38B21725F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5C9FF86-60AF-4469-B94E-9697F41DE8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C74EA7D-FA81-A3AF-2D9F-15BF31DE54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0B0E809-6AFB-8A60-F2F9-02FD098CB1E9}"/>
              </a:ext>
            </a:extLst>
          </p:cNvPr>
          <p:cNvSpPr>
            <a:spLocks noGrp="1"/>
          </p:cNvSpPr>
          <p:nvPr>
            <p:ph type="dt" sz="half" idx="10"/>
          </p:nvPr>
        </p:nvSpPr>
        <p:spPr/>
        <p:txBody>
          <a:bodyPr/>
          <a:lstStyle/>
          <a:p>
            <a:fld id="{516E303E-DB6C-4869-9608-3C8F2CC9A44D}" type="datetime1">
              <a:rPr lang="fr-FR" smtClean="0"/>
              <a:t>09/08/2025</a:t>
            </a:fld>
            <a:endParaRPr lang="fr-FR"/>
          </a:p>
        </p:txBody>
      </p:sp>
      <p:sp>
        <p:nvSpPr>
          <p:cNvPr id="6" name="Espace réservé du pied de page 5">
            <a:extLst>
              <a:ext uri="{FF2B5EF4-FFF2-40B4-BE49-F238E27FC236}">
                <a16:creationId xmlns:a16="http://schemas.microsoft.com/office/drawing/2014/main" id="{2680418C-5B80-B0AC-494F-62843BDF33B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60DAA1A-02CD-CECD-3C23-6CA82EFD00AA}"/>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2337945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63D2E9-BA7B-2716-6F5F-59D2F048464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DC64939-6ECE-8A9D-1C23-3915E71D47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5105FB6-C5AE-48CE-A7B2-D46F05E0FB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0AB79B5-B7F1-516B-4DF5-8675E14BA62D}"/>
              </a:ext>
            </a:extLst>
          </p:cNvPr>
          <p:cNvSpPr>
            <a:spLocks noGrp="1"/>
          </p:cNvSpPr>
          <p:nvPr>
            <p:ph type="dt" sz="half" idx="10"/>
          </p:nvPr>
        </p:nvSpPr>
        <p:spPr/>
        <p:txBody>
          <a:bodyPr/>
          <a:lstStyle/>
          <a:p>
            <a:fld id="{09C19EAE-C9BB-4B52-B747-D5DED2AB767B}" type="datetime1">
              <a:rPr lang="fr-FR" smtClean="0"/>
              <a:t>09/08/2025</a:t>
            </a:fld>
            <a:endParaRPr lang="fr-FR"/>
          </a:p>
        </p:txBody>
      </p:sp>
      <p:sp>
        <p:nvSpPr>
          <p:cNvPr id="6" name="Espace réservé du pied de page 5">
            <a:extLst>
              <a:ext uri="{FF2B5EF4-FFF2-40B4-BE49-F238E27FC236}">
                <a16:creationId xmlns:a16="http://schemas.microsoft.com/office/drawing/2014/main" id="{E64E7503-8F98-2592-135E-995591A3FC9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1544BEE-B65E-8EA3-6BAB-2F35D8A206C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4137835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80406D-0859-36E0-1DA7-D21EB7257D4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ECDF46A-0275-26E8-F777-1AB6C9F3231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0F10BC4-7D3E-5C55-FAA7-7A1D69BB2C84}"/>
              </a:ext>
            </a:extLst>
          </p:cNvPr>
          <p:cNvSpPr>
            <a:spLocks noGrp="1"/>
          </p:cNvSpPr>
          <p:nvPr>
            <p:ph type="dt" sz="half" idx="10"/>
          </p:nvPr>
        </p:nvSpPr>
        <p:spPr/>
        <p:txBody>
          <a:bodyPr/>
          <a:lstStyle/>
          <a:p>
            <a:fld id="{7487C9EF-0936-4A2C-89F6-639282358733}" type="datetime1">
              <a:rPr lang="fr-FR" smtClean="0"/>
              <a:t>09/08/2025</a:t>
            </a:fld>
            <a:endParaRPr lang="fr-FR"/>
          </a:p>
        </p:txBody>
      </p:sp>
      <p:sp>
        <p:nvSpPr>
          <p:cNvPr id="5" name="Espace réservé du pied de page 4">
            <a:extLst>
              <a:ext uri="{FF2B5EF4-FFF2-40B4-BE49-F238E27FC236}">
                <a16:creationId xmlns:a16="http://schemas.microsoft.com/office/drawing/2014/main" id="{94AE38AD-966F-7D74-CBE4-1ED5A353D81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DA779B-6539-F305-6637-30ACF04ACCF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212680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02783FF-4F73-DF29-E906-A307A2AE8AC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6B90A01-C1A9-4857-B895-467FCB45ACD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DA3D78-A4BC-431A-5318-F147579A4921}"/>
              </a:ext>
            </a:extLst>
          </p:cNvPr>
          <p:cNvSpPr>
            <a:spLocks noGrp="1"/>
          </p:cNvSpPr>
          <p:nvPr>
            <p:ph type="dt" sz="half" idx="10"/>
          </p:nvPr>
        </p:nvSpPr>
        <p:spPr/>
        <p:txBody>
          <a:bodyPr/>
          <a:lstStyle/>
          <a:p>
            <a:fld id="{4BF7523D-3950-4800-AB73-F08DBB1DE212}" type="datetime1">
              <a:rPr lang="fr-FR" smtClean="0"/>
              <a:t>09/08/2025</a:t>
            </a:fld>
            <a:endParaRPr lang="fr-FR"/>
          </a:p>
        </p:txBody>
      </p:sp>
      <p:sp>
        <p:nvSpPr>
          <p:cNvPr id="5" name="Espace réservé du pied de page 4">
            <a:extLst>
              <a:ext uri="{FF2B5EF4-FFF2-40B4-BE49-F238E27FC236}">
                <a16:creationId xmlns:a16="http://schemas.microsoft.com/office/drawing/2014/main" id="{DB7C73F6-8641-065F-EA89-FF44183CE62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570BD1D-3779-CE86-F7B7-4C0C9FC66BF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321657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A77871-E7BA-57CA-8BE7-BA48EC909D4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I"/>
          </a:p>
        </p:txBody>
      </p:sp>
      <p:sp>
        <p:nvSpPr>
          <p:cNvPr id="3" name="Sous-titre 2">
            <a:extLst>
              <a:ext uri="{FF2B5EF4-FFF2-40B4-BE49-F238E27FC236}">
                <a16:creationId xmlns:a16="http://schemas.microsoft.com/office/drawing/2014/main" id="{445B455A-BB30-9D5A-7E37-17215EACDE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I"/>
          </a:p>
        </p:txBody>
      </p:sp>
      <p:sp>
        <p:nvSpPr>
          <p:cNvPr id="4" name="Espace réservé de la date 3">
            <a:extLst>
              <a:ext uri="{FF2B5EF4-FFF2-40B4-BE49-F238E27FC236}">
                <a16:creationId xmlns:a16="http://schemas.microsoft.com/office/drawing/2014/main" id="{E5DB82E3-0555-B618-11C2-67B94A8C9D4E}"/>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5" name="Espace réservé du pied de page 4">
            <a:extLst>
              <a:ext uri="{FF2B5EF4-FFF2-40B4-BE49-F238E27FC236}">
                <a16:creationId xmlns:a16="http://schemas.microsoft.com/office/drawing/2014/main" id="{CCA845B8-3EB5-21AC-7516-F444347B998E}"/>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2D95B1FE-665E-71C9-C03D-75354CC7558B}"/>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3655901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AA6E8C-1BF9-8BAD-D37D-B2FEE8638F29}"/>
              </a:ext>
            </a:extLst>
          </p:cNvPr>
          <p:cNvSpPr>
            <a:spLocks noGrp="1"/>
          </p:cNvSpPr>
          <p:nvPr>
            <p:ph type="title"/>
          </p:nvPr>
        </p:nvSpPr>
        <p:spPr/>
        <p:txBody>
          <a:bodyPr/>
          <a:lstStyle/>
          <a:p>
            <a:r>
              <a:rPr lang="fr-FR"/>
              <a:t>Modifiez le style du titre</a:t>
            </a:r>
            <a:endParaRPr lang="fr-CI"/>
          </a:p>
        </p:txBody>
      </p:sp>
      <p:sp>
        <p:nvSpPr>
          <p:cNvPr id="3" name="Espace réservé du contenu 2">
            <a:extLst>
              <a:ext uri="{FF2B5EF4-FFF2-40B4-BE49-F238E27FC236}">
                <a16:creationId xmlns:a16="http://schemas.microsoft.com/office/drawing/2014/main" id="{7619CD24-5E2D-6CF6-8F0B-779CC40FD9D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e la date 3">
            <a:extLst>
              <a:ext uri="{FF2B5EF4-FFF2-40B4-BE49-F238E27FC236}">
                <a16:creationId xmlns:a16="http://schemas.microsoft.com/office/drawing/2014/main" id="{6EFC3824-0B26-AAD1-038A-38152E183690}"/>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5" name="Espace réservé du pied de page 4">
            <a:extLst>
              <a:ext uri="{FF2B5EF4-FFF2-40B4-BE49-F238E27FC236}">
                <a16:creationId xmlns:a16="http://schemas.microsoft.com/office/drawing/2014/main" id="{7CD0B786-68F5-3786-A087-B2368D308AD1}"/>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2D4D2397-F4E7-8F7D-C547-59786DE9D974}"/>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28439215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7FCD22-8392-DF63-C5EE-661863346B1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I"/>
          </a:p>
        </p:txBody>
      </p:sp>
      <p:sp>
        <p:nvSpPr>
          <p:cNvPr id="3" name="Espace réservé du texte 2">
            <a:extLst>
              <a:ext uri="{FF2B5EF4-FFF2-40B4-BE49-F238E27FC236}">
                <a16:creationId xmlns:a16="http://schemas.microsoft.com/office/drawing/2014/main" id="{3634440D-F25C-FC51-5234-01AB7697B2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07E8108-EB5F-4BCC-1C8C-F048B6381DFC}"/>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5" name="Espace réservé du pied de page 4">
            <a:extLst>
              <a:ext uri="{FF2B5EF4-FFF2-40B4-BE49-F238E27FC236}">
                <a16:creationId xmlns:a16="http://schemas.microsoft.com/office/drawing/2014/main" id="{81B6E1C3-19DD-36CE-247D-7F1F9CDE1563}"/>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39223586-CCD4-D72A-B331-A59A9461E06B}"/>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21908349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C77994-863C-41D2-5F67-46331BCD262F}"/>
              </a:ext>
            </a:extLst>
          </p:cNvPr>
          <p:cNvSpPr>
            <a:spLocks noGrp="1"/>
          </p:cNvSpPr>
          <p:nvPr>
            <p:ph type="title"/>
          </p:nvPr>
        </p:nvSpPr>
        <p:spPr/>
        <p:txBody>
          <a:bodyPr/>
          <a:lstStyle/>
          <a:p>
            <a:r>
              <a:rPr lang="fr-FR"/>
              <a:t>Modifiez le style du titre</a:t>
            </a:r>
            <a:endParaRPr lang="fr-CI"/>
          </a:p>
        </p:txBody>
      </p:sp>
      <p:sp>
        <p:nvSpPr>
          <p:cNvPr id="3" name="Espace réservé du contenu 2">
            <a:extLst>
              <a:ext uri="{FF2B5EF4-FFF2-40B4-BE49-F238E27FC236}">
                <a16:creationId xmlns:a16="http://schemas.microsoft.com/office/drawing/2014/main" id="{D4F8A762-D0F5-9EB9-C46E-5023EBB04A2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u contenu 3">
            <a:extLst>
              <a:ext uri="{FF2B5EF4-FFF2-40B4-BE49-F238E27FC236}">
                <a16:creationId xmlns:a16="http://schemas.microsoft.com/office/drawing/2014/main" id="{607B98C2-FFB4-7A77-D7F1-57F7365C8D8A}"/>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5" name="Espace réservé de la date 4">
            <a:extLst>
              <a:ext uri="{FF2B5EF4-FFF2-40B4-BE49-F238E27FC236}">
                <a16:creationId xmlns:a16="http://schemas.microsoft.com/office/drawing/2014/main" id="{79BC24E7-37D0-053D-70D3-33BA21D8E316}"/>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6" name="Espace réservé du pied de page 5">
            <a:extLst>
              <a:ext uri="{FF2B5EF4-FFF2-40B4-BE49-F238E27FC236}">
                <a16:creationId xmlns:a16="http://schemas.microsoft.com/office/drawing/2014/main" id="{672B0FDB-F82B-45AB-0838-E4DA76A36D3B}"/>
              </a:ext>
            </a:extLst>
          </p:cNvPr>
          <p:cNvSpPr>
            <a:spLocks noGrp="1"/>
          </p:cNvSpPr>
          <p:nvPr>
            <p:ph type="ftr" sz="quarter" idx="11"/>
          </p:nvPr>
        </p:nvSpPr>
        <p:spPr/>
        <p:txBody>
          <a:bodyPr/>
          <a:lstStyle/>
          <a:p>
            <a:endParaRPr lang="fr-CI"/>
          </a:p>
        </p:txBody>
      </p:sp>
      <p:sp>
        <p:nvSpPr>
          <p:cNvPr id="7" name="Espace réservé du numéro de diapositive 6">
            <a:extLst>
              <a:ext uri="{FF2B5EF4-FFF2-40B4-BE49-F238E27FC236}">
                <a16:creationId xmlns:a16="http://schemas.microsoft.com/office/drawing/2014/main" id="{0343A3D1-FB6E-1B5F-C0C0-A889C7AC3220}"/>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704743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10583B-D6AA-7CE9-3D65-8D501F6EB434}"/>
              </a:ext>
            </a:extLst>
          </p:cNvPr>
          <p:cNvSpPr>
            <a:spLocks noGrp="1"/>
          </p:cNvSpPr>
          <p:nvPr>
            <p:ph type="title"/>
          </p:nvPr>
        </p:nvSpPr>
        <p:spPr>
          <a:xfrm>
            <a:off x="839788" y="365125"/>
            <a:ext cx="10515600" cy="1325563"/>
          </a:xfrm>
        </p:spPr>
        <p:txBody>
          <a:bodyPr/>
          <a:lstStyle/>
          <a:p>
            <a:r>
              <a:rPr lang="fr-FR"/>
              <a:t>Modifiez le style du titre</a:t>
            </a:r>
            <a:endParaRPr lang="fr-CI"/>
          </a:p>
        </p:txBody>
      </p:sp>
      <p:sp>
        <p:nvSpPr>
          <p:cNvPr id="3" name="Espace réservé du texte 2">
            <a:extLst>
              <a:ext uri="{FF2B5EF4-FFF2-40B4-BE49-F238E27FC236}">
                <a16:creationId xmlns:a16="http://schemas.microsoft.com/office/drawing/2014/main" id="{EAFC5BB2-76F2-5B63-309E-7FF032F561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2F91E9B-472F-3807-E189-49C3C037D0E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5" name="Espace réservé du texte 4">
            <a:extLst>
              <a:ext uri="{FF2B5EF4-FFF2-40B4-BE49-F238E27FC236}">
                <a16:creationId xmlns:a16="http://schemas.microsoft.com/office/drawing/2014/main" id="{EEEBAC0B-6E66-C04A-84A1-41CC0374D4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5A766F4-6EEE-5427-F0DA-6C3FFEFAE24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7" name="Espace réservé de la date 6">
            <a:extLst>
              <a:ext uri="{FF2B5EF4-FFF2-40B4-BE49-F238E27FC236}">
                <a16:creationId xmlns:a16="http://schemas.microsoft.com/office/drawing/2014/main" id="{33A65C06-101C-E4A2-AF68-06157EBA5F4F}"/>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8" name="Espace réservé du pied de page 7">
            <a:extLst>
              <a:ext uri="{FF2B5EF4-FFF2-40B4-BE49-F238E27FC236}">
                <a16:creationId xmlns:a16="http://schemas.microsoft.com/office/drawing/2014/main" id="{532404F8-5228-4FE2-AE0D-520FF0686A1F}"/>
              </a:ext>
            </a:extLst>
          </p:cNvPr>
          <p:cNvSpPr>
            <a:spLocks noGrp="1"/>
          </p:cNvSpPr>
          <p:nvPr>
            <p:ph type="ftr" sz="quarter" idx="11"/>
          </p:nvPr>
        </p:nvSpPr>
        <p:spPr/>
        <p:txBody>
          <a:bodyPr/>
          <a:lstStyle/>
          <a:p>
            <a:endParaRPr lang="fr-CI"/>
          </a:p>
        </p:txBody>
      </p:sp>
      <p:sp>
        <p:nvSpPr>
          <p:cNvPr id="9" name="Espace réservé du numéro de diapositive 8">
            <a:extLst>
              <a:ext uri="{FF2B5EF4-FFF2-40B4-BE49-F238E27FC236}">
                <a16:creationId xmlns:a16="http://schemas.microsoft.com/office/drawing/2014/main" id="{6809C676-8C9C-526F-457E-B4CCE54DED7B}"/>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106628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5A1F80-4AE0-5723-5612-4935BB811573}"/>
              </a:ext>
            </a:extLst>
          </p:cNvPr>
          <p:cNvSpPr>
            <a:spLocks noGrp="1"/>
          </p:cNvSpPr>
          <p:nvPr>
            <p:ph type="title"/>
          </p:nvPr>
        </p:nvSpPr>
        <p:spPr/>
        <p:txBody>
          <a:bodyPr/>
          <a:lstStyle/>
          <a:p>
            <a:r>
              <a:rPr lang="fr-FR"/>
              <a:t>Modifiez le style du titre</a:t>
            </a:r>
            <a:endParaRPr lang="fr-CI"/>
          </a:p>
        </p:txBody>
      </p:sp>
      <p:sp>
        <p:nvSpPr>
          <p:cNvPr id="3" name="Espace réservé de la date 2">
            <a:extLst>
              <a:ext uri="{FF2B5EF4-FFF2-40B4-BE49-F238E27FC236}">
                <a16:creationId xmlns:a16="http://schemas.microsoft.com/office/drawing/2014/main" id="{7493A529-9A25-F4D5-0EB2-BE3307231243}"/>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4" name="Espace réservé du pied de page 3">
            <a:extLst>
              <a:ext uri="{FF2B5EF4-FFF2-40B4-BE49-F238E27FC236}">
                <a16:creationId xmlns:a16="http://schemas.microsoft.com/office/drawing/2014/main" id="{1490A8A4-20A1-14EF-476C-3486AE056FE0}"/>
              </a:ext>
            </a:extLst>
          </p:cNvPr>
          <p:cNvSpPr>
            <a:spLocks noGrp="1"/>
          </p:cNvSpPr>
          <p:nvPr>
            <p:ph type="ftr" sz="quarter" idx="11"/>
          </p:nvPr>
        </p:nvSpPr>
        <p:spPr/>
        <p:txBody>
          <a:bodyPr/>
          <a:lstStyle/>
          <a:p>
            <a:endParaRPr lang="fr-CI"/>
          </a:p>
        </p:txBody>
      </p:sp>
      <p:sp>
        <p:nvSpPr>
          <p:cNvPr id="5" name="Espace réservé du numéro de diapositive 4">
            <a:extLst>
              <a:ext uri="{FF2B5EF4-FFF2-40B4-BE49-F238E27FC236}">
                <a16:creationId xmlns:a16="http://schemas.microsoft.com/office/drawing/2014/main" id="{D278A45C-7495-8838-AFF4-9F927918039F}"/>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139580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7630C99-4206-592A-4F2C-DADA476DB3D2}"/>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3" name="Espace réservé du pied de page 2">
            <a:extLst>
              <a:ext uri="{FF2B5EF4-FFF2-40B4-BE49-F238E27FC236}">
                <a16:creationId xmlns:a16="http://schemas.microsoft.com/office/drawing/2014/main" id="{EE151DAF-42A0-9B9B-90B3-0FC813E0DFD6}"/>
              </a:ext>
            </a:extLst>
          </p:cNvPr>
          <p:cNvSpPr>
            <a:spLocks noGrp="1"/>
          </p:cNvSpPr>
          <p:nvPr>
            <p:ph type="ftr" sz="quarter" idx="11"/>
          </p:nvPr>
        </p:nvSpPr>
        <p:spPr/>
        <p:txBody>
          <a:bodyPr/>
          <a:lstStyle/>
          <a:p>
            <a:endParaRPr lang="fr-CI"/>
          </a:p>
        </p:txBody>
      </p:sp>
      <p:sp>
        <p:nvSpPr>
          <p:cNvPr id="4" name="Espace réservé du numéro de diapositive 3">
            <a:extLst>
              <a:ext uri="{FF2B5EF4-FFF2-40B4-BE49-F238E27FC236}">
                <a16:creationId xmlns:a16="http://schemas.microsoft.com/office/drawing/2014/main" id="{6E11B3DC-F15D-11A7-D98C-3CDD3A814970}"/>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729940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1854EE-536B-361D-AA91-9B2D179B352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I"/>
          </a:p>
        </p:txBody>
      </p:sp>
      <p:sp>
        <p:nvSpPr>
          <p:cNvPr id="3" name="Espace réservé du contenu 2">
            <a:extLst>
              <a:ext uri="{FF2B5EF4-FFF2-40B4-BE49-F238E27FC236}">
                <a16:creationId xmlns:a16="http://schemas.microsoft.com/office/drawing/2014/main" id="{169A9704-F53E-C060-BA4B-489414FA95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u texte 3">
            <a:extLst>
              <a:ext uri="{FF2B5EF4-FFF2-40B4-BE49-F238E27FC236}">
                <a16:creationId xmlns:a16="http://schemas.microsoft.com/office/drawing/2014/main" id="{20193255-D3DF-013E-9F8E-854BF29C1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58CD723-BC99-176F-5C64-760DB4C18A6B}"/>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6" name="Espace réservé du pied de page 5">
            <a:extLst>
              <a:ext uri="{FF2B5EF4-FFF2-40B4-BE49-F238E27FC236}">
                <a16:creationId xmlns:a16="http://schemas.microsoft.com/office/drawing/2014/main" id="{D68D6907-C262-FF4A-D790-A65B46FDDEB9}"/>
              </a:ext>
            </a:extLst>
          </p:cNvPr>
          <p:cNvSpPr>
            <a:spLocks noGrp="1"/>
          </p:cNvSpPr>
          <p:nvPr>
            <p:ph type="ftr" sz="quarter" idx="11"/>
          </p:nvPr>
        </p:nvSpPr>
        <p:spPr/>
        <p:txBody>
          <a:bodyPr/>
          <a:lstStyle/>
          <a:p>
            <a:endParaRPr lang="fr-CI"/>
          </a:p>
        </p:txBody>
      </p:sp>
      <p:sp>
        <p:nvSpPr>
          <p:cNvPr id="7" name="Espace réservé du numéro de diapositive 6">
            <a:extLst>
              <a:ext uri="{FF2B5EF4-FFF2-40B4-BE49-F238E27FC236}">
                <a16:creationId xmlns:a16="http://schemas.microsoft.com/office/drawing/2014/main" id="{38B36955-7CBF-5DFE-F053-A99CA35590CB}"/>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393573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26F9FC-BC9B-E35D-A411-68EF5765A41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I"/>
          </a:p>
        </p:txBody>
      </p:sp>
      <p:sp>
        <p:nvSpPr>
          <p:cNvPr id="3" name="Espace réservé pour une image  2">
            <a:extLst>
              <a:ext uri="{FF2B5EF4-FFF2-40B4-BE49-F238E27FC236}">
                <a16:creationId xmlns:a16="http://schemas.microsoft.com/office/drawing/2014/main" id="{424DA0C9-FFAD-B3FD-483A-2AD5652630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I"/>
          </a:p>
        </p:txBody>
      </p:sp>
      <p:sp>
        <p:nvSpPr>
          <p:cNvPr id="4" name="Espace réservé du texte 3">
            <a:extLst>
              <a:ext uri="{FF2B5EF4-FFF2-40B4-BE49-F238E27FC236}">
                <a16:creationId xmlns:a16="http://schemas.microsoft.com/office/drawing/2014/main" id="{AB565083-F1B6-09A8-0E4C-F7444354F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DBCAE52-F854-FC52-3BCC-5582D2060624}"/>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6" name="Espace réservé du pied de page 5">
            <a:extLst>
              <a:ext uri="{FF2B5EF4-FFF2-40B4-BE49-F238E27FC236}">
                <a16:creationId xmlns:a16="http://schemas.microsoft.com/office/drawing/2014/main" id="{CD21598E-7F3B-20DB-C145-AA31DDECCFC0}"/>
              </a:ext>
            </a:extLst>
          </p:cNvPr>
          <p:cNvSpPr>
            <a:spLocks noGrp="1"/>
          </p:cNvSpPr>
          <p:nvPr>
            <p:ph type="ftr" sz="quarter" idx="11"/>
          </p:nvPr>
        </p:nvSpPr>
        <p:spPr/>
        <p:txBody>
          <a:bodyPr/>
          <a:lstStyle/>
          <a:p>
            <a:endParaRPr lang="fr-CI"/>
          </a:p>
        </p:txBody>
      </p:sp>
      <p:sp>
        <p:nvSpPr>
          <p:cNvPr id="7" name="Espace réservé du numéro de diapositive 6">
            <a:extLst>
              <a:ext uri="{FF2B5EF4-FFF2-40B4-BE49-F238E27FC236}">
                <a16:creationId xmlns:a16="http://schemas.microsoft.com/office/drawing/2014/main" id="{8D71C7E2-E356-DA90-FBB0-5E0012D572B6}"/>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16281375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E8169F-5C81-51D3-65FE-EC8665224D8C}"/>
              </a:ext>
            </a:extLst>
          </p:cNvPr>
          <p:cNvSpPr>
            <a:spLocks noGrp="1"/>
          </p:cNvSpPr>
          <p:nvPr>
            <p:ph type="title"/>
          </p:nvPr>
        </p:nvSpPr>
        <p:spPr/>
        <p:txBody>
          <a:bodyPr/>
          <a:lstStyle/>
          <a:p>
            <a:r>
              <a:rPr lang="fr-FR"/>
              <a:t>Modifiez le style du titre</a:t>
            </a:r>
            <a:endParaRPr lang="fr-CI"/>
          </a:p>
        </p:txBody>
      </p:sp>
      <p:sp>
        <p:nvSpPr>
          <p:cNvPr id="3" name="Espace réservé du texte vertical 2">
            <a:extLst>
              <a:ext uri="{FF2B5EF4-FFF2-40B4-BE49-F238E27FC236}">
                <a16:creationId xmlns:a16="http://schemas.microsoft.com/office/drawing/2014/main" id="{7EF83E3B-E0B9-90CE-55F8-85491C94882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e la date 3">
            <a:extLst>
              <a:ext uri="{FF2B5EF4-FFF2-40B4-BE49-F238E27FC236}">
                <a16:creationId xmlns:a16="http://schemas.microsoft.com/office/drawing/2014/main" id="{7728A4FC-8370-ED00-1E37-73A1D4DE70D6}"/>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5" name="Espace réservé du pied de page 4">
            <a:extLst>
              <a:ext uri="{FF2B5EF4-FFF2-40B4-BE49-F238E27FC236}">
                <a16:creationId xmlns:a16="http://schemas.microsoft.com/office/drawing/2014/main" id="{16615A5E-4A93-BEBE-5943-7FB51EBF99A5}"/>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8DF7D754-472A-5B59-BC64-23696AA23319}"/>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41409142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BA28B58-48AF-6DEF-91FB-0AC541320945}"/>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I"/>
          </a:p>
        </p:txBody>
      </p:sp>
      <p:sp>
        <p:nvSpPr>
          <p:cNvPr id="3" name="Espace réservé du texte vertical 2">
            <a:extLst>
              <a:ext uri="{FF2B5EF4-FFF2-40B4-BE49-F238E27FC236}">
                <a16:creationId xmlns:a16="http://schemas.microsoft.com/office/drawing/2014/main" id="{DAE83C6E-E510-90DC-96CA-A44631EEA3D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e la date 3">
            <a:extLst>
              <a:ext uri="{FF2B5EF4-FFF2-40B4-BE49-F238E27FC236}">
                <a16:creationId xmlns:a16="http://schemas.microsoft.com/office/drawing/2014/main" id="{8C784829-3AA8-FF73-EA76-241CEE293A1E}"/>
              </a:ext>
            </a:extLst>
          </p:cNvPr>
          <p:cNvSpPr>
            <a:spLocks noGrp="1"/>
          </p:cNvSpPr>
          <p:nvPr>
            <p:ph type="dt" sz="half" idx="10"/>
          </p:nvPr>
        </p:nvSpPr>
        <p:spPr/>
        <p:txBody>
          <a:bodyPr/>
          <a:lstStyle/>
          <a:p>
            <a:fld id="{84365C0C-4923-46AA-88AA-8FD6F5BB5873}" type="datetimeFigureOut">
              <a:rPr lang="fr-CI" smtClean="0"/>
              <a:t>09/08/2025</a:t>
            </a:fld>
            <a:endParaRPr lang="fr-CI"/>
          </a:p>
        </p:txBody>
      </p:sp>
      <p:sp>
        <p:nvSpPr>
          <p:cNvPr id="5" name="Espace réservé du pied de page 4">
            <a:extLst>
              <a:ext uri="{FF2B5EF4-FFF2-40B4-BE49-F238E27FC236}">
                <a16:creationId xmlns:a16="http://schemas.microsoft.com/office/drawing/2014/main" id="{99399DE6-C496-CEA7-B33A-5EE3AC9128A4}"/>
              </a:ext>
            </a:extLst>
          </p:cNvPr>
          <p:cNvSpPr>
            <a:spLocks noGrp="1"/>
          </p:cNvSpPr>
          <p:nvPr>
            <p:ph type="ftr" sz="quarter" idx="11"/>
          </p:nvPr>
        </p:nvSpPr>
        <p:spPr/>
        <p:txBody>
          <a:bodyPr/>
          <a:lstStyle/>
          <a:p>
            <a:endParaRPr lang="fr-CI"/>
          </a:p>
        </p:txBody>
      </p:sp>
      <p:sp>
        <p:nvSpPr>
          <p:cNvPr id="6" name="Espace réservé du numéro de diapositive 5">
            <a:extLst>
              <a:ext uri="{FF2B5EF4-FFF2-40B4-BE49-F238E27FC236}">
                <a16:creationId xmlns:a16="http://schemas.microsoft.com/office/drawing/2014/main" id="{921DAA77-8B4F-E7F5-F85E-1D1E372030C1}"/>
              </a:ext>
            </a:extLst>
          </p:cNvPr>
          <p:cNvSpPr>
            <a:spLocks noGrp="1"/>
          </p:cNvSpPr>
          <p:nvPr>
            <p:ph type="sldNum" sz="quarter" idx="12"/>
          </p:nvPr>
        </p:nvSpPr>
        <p:spPr/>
        <p:txBody>
          <a:bodyPr/>
          <a:lstStyle/>
          <a:p>
            <a:fld id="{A12A8D91-686E-4AAA-B64F-07111A8E976E}" type="slidenum">
              <a:rPr lang="fr-CI" smtClean="0"/>
              <a:t>‹N°›</a:t>
            </a:fld>
            <a:endParaRPr lang="fr-CI"/>
          </a:p>
        </p:txBody>
      </p:sp>
    </p:spTree>
    <p:extLst>
      <p:ext uri="{BB962C8B-B14F-4D97-AF65-F5344CB8AC3E}">
        <p14:creationId xmlns:p14="http://schemas.microsoft.com/office/powerpoint/2010/main" val="4196626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9705378-F2E4-A7BD-3A45-CB5AD5A2E7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3465E17-20B2-94BC-FDB6-E316ED6E14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CFA8BD0-B673-1857-5B2A-52C0E1292B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8B8EA-5DC1-47AD-A238-984D27414777}" type="datetime1">
              <a:rPr lang="fr-FR" smtClean="0"/>
              <a:t>09/08/2025</a:t>
            </a:fld>
            <a:endParaRPr lang="fr-FR"/>
          </a:p>
        </p:txBody>
      </p:sp>
      <p:sp>
        <p:nvSpPr>
          <p:cNvPr id="5" name="Espace réservé du pied de page 4">
            <a:extLst>
              <a:ext uri="{FF2B5EF4-FFF2-40B4-BE49-F238E27FC236}">
                <a16:creationId xmlns:a16="http://schemas.microsoft.com/office/drawing/2014/main" id="{4AE2E537-05DB-A7FA-3432-9EA504F0C3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B1BCCCB-5C55-76F6-01DB-C15396C485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65EF2A-7100-4002-84A4-48AC14F7C3FE}" type="slidenum">
              <a:rPr lang="fr-FR" smtClean="0"/>
              <a:t>‹N°›</a:t>
            </a:fld>
            <a:endParaRPr lang="fr-FR"/>
          </a:p>
        </p:txBody>
      </p:sp>
    </p:spTree>
    <p:extLst>
      <p:ext uri="{BB962C8B-B14F-4D97-AF65-F5344CB8AC3E}">
        <p14:creationId xmlns:p14="http://schemas.microsoft.com/office/powerpoint/2010/main" val="3760126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74E57B5-0780-FD8E-7747-F188DA2F9B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I"/>
          </a:p>
        </p:txBody>
      </p:sp>
      <p:sp>
        <p:nvSpPr>
          <p:cNvPr id="3" name="Espace réservé du texte 2">
            <a:extLst>
              <a:ext uri="{FF2B5EF4-FFF2-40B4-BE49-F238E27FC236}">
                <a16:creationId xmlns:a16="http://schemas.microsoft.com/office/drawing/2014/main" id="{6D71902C-0306-1F46-2953-5A8E0056D3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4" name="Espace réservé de la date 3">
            <a:extLst>
              <a:ext uri="{FF2B5EF4-FFF2-40B4-BE49-F238E27FC236}">
                <a16:creationId xmlns:a16="http://schemas.microsoft.com/office/drawing/2014/main" id="{22C1CE5B-C720-ABC6-6908-DBF312F4F1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365C0C-4923-46AA-88AA-8FD6F5BB5873}" type="datetimeFigureOut">
              <a:rPr lang="fr-CI" smtClean="0"/>
              <a:t>09/08/2025</a:t>
            </a:fld>
            <a:endParaRPr lang="fr-CI"/>
          </a:p>
        </p:txBody>
      </p:sp>
      <p:sp>
        <p:nvSpPr>
          <p:cNvPr id="5" name="Espace réservé du pied de page 4">
            <a:extLst>
              <a:ext uri="{FF2B5EF4-FFF2-40B4-BE49-F238E27FC236}">
                <a16:creationId xmlns:a16="http://schemas.microsoft.com/office/drawing/2014/main" id="{E3F94E59-BA20-1D38-8803-8DA4549AF3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I"/>
          </a:p>
        </p:txBody>
      </p:sp>
      <p:sp>
        <p:nvSpPr>
          <p:cNvPr id="6" name="Espace réservé du numéro de diapositive 5">
            <a:extLst>
              <a:ext uri="{FF2B5EF4-FFF2-40B4-BE49-F238E27FC236}">
                <a16:creationId xmlns:a16="http://schemas.microsoft.com/office/drawing/2014/main" id="{4F4674FC-08A5-8B97-EE80-BB5B7E8C9F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2A8D91-686E-4AAA-B64F-07111A8E976E}" type="slidenum">
              <a:rPr lang="fr-CI" smtClean="0"/>
              <a:t>‹N°›</a:t>
            </a:fld>
            <a:endParaRPr lang="fr-CI"/>
          </a:p>
        </p:txBody>
      </p:sp>
    </p:spTree>
    <p:extLst>
      <p:ext uri="{BB962C8B-B14F-4D97-AF65-F5344CB8AC3E}">
        <p14:creationId xmlns:p14="http://schemas.microsoft.com/office/powerpoint/2010/main" val="23765280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A9FA42-7BCF-573E-DA9F-69777C534162}"/>
              </a:ext>
            </a:extLst>
          </p:cNvPr>
          <p:cNvSpPr>
            <a:spLocks noGrp="1"/>
          </p:cNvSpPr>
          <p:nvPr>
            <p:ph type="ctrTitle"/>
          </p:nvPr>
        </p:nvSpPr>
        <p:spPr>
          <a:xfrm>
            <a:off x="1599027" y="3763817"/>
            <a:ext cx="9373772" cy="1448264"/>
          </a:xfrm>
        </p:spPr>
        <p:txBody>
          <a:bodyPr>
            <a:normAutofit fontScale="90000"/>
          </a:bodyPr>
          <a:lstStyle/>
          <a:p>
            <a:r>
              <a:rPr lang="fr-FR" b="1" dirty="0">
                <a:solidFill>
                  <a:schemeClr val="accent4"/>
                </a:solidFill>
              </a:rPr>
              <a:t>LUTTE CONTRE LE BLANCHIMENT DES CAPITAUX </a:t>
            </a:r>
            <a:br>
              <a:rPr lang="fr-FR" b="1" dirty="0">
                <a:solidFill>
                  <a:schemeClr val="accent4"/>
                </a:solidFill>
              </a:rPr>
            </a:br>
            <a:r>
              <a:rPr lang="fr-FR" b="1" dirty="0">
                <a:solidFill>
                  <a:schemeClr val="accent4"/>
                </a:solidFill>
              </a:rPr>
              <a:t>ET </a:t>
            </a:r>
            <a:br>
              <a:rPr lang="fr-FR" b="1" dirty="0">
                <a:solidFill>
                  <a:schemeClr val="accent4"/>
                </a:solidFill>
              </a:rPr>
            </a:br>
            <a:r>
              <a:rPr lang="fr-FR" b="1" dirty="0">
                <a:solidFill>
                  <a:schemeClr val="accent4"/>
                </a:solidFill>
              </a:rPr>
              <a:t>LES BÉNÉFICIAIRES EFFECTIFS</a:t>
            </a:r>
            <a:br>
              <a:rPr lang="fr-FR" dirty="0"/>
            </a:br>
            <a:br>
              <a:rPr lang="fr-FR" dirty="0"/>
            </a:br>
            <a:endParaRPr lang="fr-FR" dirty="0"/>
          </a:p>
        </p:txBody>
      </p:sp>
      <p:sp>
        <p:nvSpPr>
          <p:cNvPr id="3" name="Sous-titre 2">
            <a:extLst>
              <a:ext uri="{FF2B5EF4-FFF2-40B4-BE49-F238E27FC236}">
                <a16:creationId xmlns:a16="http://schemas.microsoft.com/office/drawing/2014/main" id="{2A370A30-A0B5-4151-A449-89F1A1C24F20}"/>
              </a:ext>
            </a:extLst>
          </p:cNvPr>
          <p:cNvSpPr>
            <a:spLocks noGrp="1"/>
          </p:cNvSpPr>
          <p:nvPr>
            <p:ph type="subTitle" idx="1"/>
          </p:nvPr>
        </p:nvSpPr>
        <p:spPr>
          <a:xfrm>
            <a:off x="1599027" y="4620683"/>
            <a:ext cx="8993945" cy="1448264"/>
          </a:xfrm>
        </p:spPr>
        <p:txBody>
          <a:bodyPr/>
          <a:lstStyle/>
          <a:p>
            <a:r>
              <a:rPr lang="fr-FR" b="1" dirty="0">
                <a:solidFill>
                  <a:schemeClr val="tx2">
                    <a:lumMod val="75000"/>
                  </a:schemeClr>
                </a:solidFill>
                <a:latin typeface="Aptos" panose="020B0004020202020204" pitchFamily="34" charset="0"/>
              </a:rPr>
              <a:t>LA LUTTE CONTRE LE BLANCHIMENT DE CAPITAUX EN CÔTE D'IVOIRE : OBLIGATIONS ET ENJEUX.</a:t>
            </a:r>
          </a:p>
          <a:p>
            <a:endParaRPr lang="fr-FR" dirty="0"/>
          </a:p>
        </p:txBody>
      </p:sp>
      <p:sp>
        <p:nvSpPr>
          <p:cNvPr id="5" name="Sous-titre 2">
            <a:extLst>
              <a:ext uri="{FF2B5EF4-FFF2-40B4-BE49-F238E27FC236}">
                <a16:creationId xmlns:a16="http://schemas.microsoft.com/office/drawing/2014/main" id="{69296210-A902-31B5-C733-D7D0DD15F509}"/>
              </a:ext>
            </a:extLst>
          </p:cNvPr>
          <p:cNvSpPr txBox="1">
            <a:spLocks/>
          </p:cNvSpPr>
          <p:nvPr/>
        </p:nvSpPr>
        <p:spPr>
          <a:xfrm>
            <a:off x="7787640" y="624930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pic>
        <p:nvPicPr>
          <p:cNvPr id="7" name="Image 6">
            <a:extLst>
              <a:ext uri="{FF2B5EF4-FFF2-40B4-BE49-F238E27FC236}">
                <a16:creationId xmlns:a16="http://schemas.microsoft.com/office/drawing/2014/main" id="{64FB8BB7-183C-753E-FD8B-C057EB2D9C9A}"/>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892541" y="5212081"/>
            <a:ext cx="3916680" cy="1330960"/>
          </a:xfrm>
          <a:prstGeom prst="rect">
            <a:avLst/>
          </a:prstGeom>
          <a:noFill/>
          <a:ln>
            <a:noFill/>
          </a:ln>
          <a:extLst>
            <a:ext uri="{53640926-AAD7-44D8-BBD7-CCE9431645EC}">
              <a14:shadowObscured xmlns:a14="http://schemas.microsoft.com/office/drawing/2010/main"/>
            </a:ext>
          </a:extLst>
        </p:spPr>
      </p:pic>
      <p:sp>
        <p:nvSpPr>
          <p:cNvPr id="11" name="ZoneTexte 10">
            <a:extLst>
              <a:ext uri="{FF2B5EF4-FFF2-40B4-BE49-F238E27FC236}">
                <a16:creationId xmlns:a16="http://schemas.microsoft.com/office/drawing/2014/main" id="{AF79ABDE-A307-858F-7E8E-B915E9F8F0AA}"/>
              </a:ext>
            </a:extLst>
          </p:cNvPr>
          <p:cNvSpPr txBox="1"/>
          <p:nvPr/>
        </p:nvSpPr>
        <p:spPr>
          <a:xfrm>
            <a:off x="640080" y="6465142"/>
            <a:ext cx="6823710" cy="646331"/>
          </a:xfrm>
          <a:prstGeom prst="rect">
            <a:avLst/>
          </a:prstGeom>
          <a:noFill/>
        </p:spPr>
        <p:txBody>
          <a:bodyPr wrap="square">
            <a:spAutoFit/>
          </a:bodyPr>
          <a:lstStyle/>
          <a:p>
            <a:r>
              <a:rPr lang="fr-FR" dirty="0">
                <a:latin typeface="Tw Cen MT"/>
                <a:cs typeface="Tw Cen MT"/>
              </a:rPr>
              <a:t>©</a:t>
            </a:r>
            <a:r>
              <a:rPr lang="fr-FR" spc="5" dirty="0">
                <a:latin typeface="Tw Cen MT"/>
                <a:cs typeface="Tw Cen MT"/>
              </a:rPr>
              <a:t> 2025</a:t>
            </a:r>
            <a:r>
              <a:rPr lang="fr-FR" spc="-25" dirty="0">
                <a:latin typeface="Tw Cen MT"/>
                <a:cs typeface="Tw Cen MT"/>
              </a:rPr>
              <a:t> DC-KNOWING</a:t>
            </a:r>
            <a:endParaRPr lang="fr-FR" dirty="0">
              <a:latin typeface="Tw Cen MT"/>
              <a:cs typeface="Tw Cen MT"/>
            </a:endParaRPr>
          </a:p>
          <a:p>
            <a:endParaRPr lang="fr-FR" dirty="0"/>
          </a:p>
        </p:txBody>
      </p:sp>
      <p:pic>
        <p:nvPicPr>
          <p:cNvPr id="6" name="Image 5">
            <a:extLst>
              <a:ext uri="{FF2B5EF4-FFF2-40B4-BE49-F238E27FC236}">
                <a16:creationId xmlns:a16="http://schemas.microsoft.com/office/drawing/2014/main" id="{3F71BE98-5828-8B37-6CDB-5986CD406934}"/>
              </a:ext>
            </a:extLst>
          </p:cNvPr>
          <p:cNvPicPr>
            <a:picLocks noChangeAspect="1"/>
          </p:cNvPicPr>
          <p:nvPr/>
        </p:nvPicPr>
        <p:blipFill>
          <a:blip r:embed="rId3"/>
          <a:srcRect l="50000" r="26459"/>
          <a:stretch>
            <a:fillRect/>
          </a:stretch>
        </p:blipFill>
        <p:spPr>
          <a:xfrm>
            <a:off x="0" y="437191"/>
            <a:ext cx="512364" cy="6281587"/>
          </a:xfrm>
          <a:prstGeom prst="rect">
            <a:avLst/>
          </a:prstGeom>
        </p:spPr>
      </p:pic>
    </p:spTree>
    <p:extLst>
      <p:ext uri="{BB962C8B-B14F-4D97-AF65-F5344CB8AC3E}">
        <p14:creationId xmlns:p14="http://schemas.microsoft.com/office/powerpoint/2010/main" val="1645195628"/>
      </p:ext>
    </p:extLst>
  </p:cSld>
  <p:clrMapOvr>
    <a:masterClrMapping/>
  </p:clrMapOvr>
  <mc:AlternateContent xmlns:mc="http://schemas.openxmlformats.org/markup-compatibility/2006" xmlns:p14="http://schemas.microsoft.com/office/powerpoint/2010/main">
    <mc:Choice Requires="p14">
      <p:transition spd="slow" p14:dur="800" advClick="0" advTm="5000">
        <p:circle/>
      </p:transition>
    </mc:Choice>
    <mc:Fallback xmlns="">
      <p:transition spd="slow" advClick="0" advTm="5000">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17C240-0F1D-E77E-34EB-53F2B311C144}"/>
              </a:ext>
            </a:extLst>
          </p:cNvPr>
          <p:cNvSpPr>
            <a:spLocks noGrp="1"/>
          </p:cNvSpPr>
          <p:nvPr>
            <p:ph type="ctrTitle"/>
          </p:nvPr>
        </p:nvSpPr>
        <p:spPr>
          <a:xfrm>
            <a:off x="1524000" y="1543276"/>
            <a:ext cx="9144000" cy="1082118"/>
          </a:xfrm>
        </p:spPr>
        <p:txBody>
          <a:bodyPr>
            <a:normAutofit/>
          </a:bodyPr>
          <a:lstStyle/>
          <a:p>
            <a:r>
              <a:rPr lang="fr-FR" b="1" dirty="0">
                <a:solidFill>
                  <a:srgbClr val="FF0000"/>
                </a:solidFill>
              </a:rPr>
              <a:t>INTERVENTION DU JURISTE</a:t>
            </a:r>
            <a:endParaRPr lang="fr-FR" dirty="0">
              <a:solidFill>
                <a:srgbClr val="FF0000"/>
              </a:solidFill>
            </a:endParaRPr>
          </a:p>
        </p:txBody>
      </p:sp>
      <p:sp>
        <p:nvSpPr>
          <p:cNvPr id="4" name="Espace réservé du numéro de diapositive 1">
            <a:extLst>
              <a:ext uri="{FF2B5EF4-FFF2-40B4-BE49-F238E27FC236}">
                <a16:creationId xmlns:a16="http://schemas.microsoft.com/office/drawing/2014/main" id="{E7E62603-1DFA-B8AD-B2A0-404FF06DEAB6}"/>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2</a:t>
            </a:fld>
            <a:endParaRPr lang="fr-CI" dirty="0">
              <a:solidFill>
                <a:schemeClr val="bg1">
                  <a:lumMod val="65000"/>
                </a:schemeClr>
              </a:solidFill>
            </a:endParaRPr>
          </a:p>
        </p:txBody>
      </p:sp>
      <p:pic>
        <p:nvPicPr>
          <p:cNvPr id="6" name="Image 5">
            <a:extLst>
              <a:ext uri="{FF2B5EF4-FFF2-40B4-BE49-F238E27FC236}">
                <a16:creationId xmlns:a16="http://schemas.microsoft.com/office/drawing/2014/main" id="{D3A4B65B-89DE-1349-033B-AA8FA6969500}"/>
              </a:ext>
            </a:extLst>
          </p:cNvPr>
          <p:cNvPicPr>
            <a:picLocks noChangeAspect="1"/>
          </p:cNvPicPr>
          <p:nvPr/>
        </p:nvPicPr>
        <p:blipFill rotWithShape="1">
          <a:blip r:embed="rId2">
            <a:extLst>
              <a:ext uri="{28A0092B-C50C-407E-A947-70E740481C1C}">
                <a14:useLocalDpi xmlns:a14="http://schemas.microsoft.com/office/drawing/2010/main" val="0"/>
              </a:ext>
            </a:extLst>
          </a:blip>
          <a:srcRect l="13234" t="32390" r="22347" b="45262"/>
          <a:stretch>
            <a:fillRect/>
          </a:stretch>
        </p:blipFill>
        <p:spPr bwMode="auto">
          <a:xfrm>
            <a:off x="9650186" y="5419813"/>
            <a:ext cx="2406949" cy="793817"/>
          </a:xfrm>
          <a:prstGeom prst="rect">
            <a:avLst/>
          </a:prstGeom>
          <a:noFill/>
          <a:ln>
            <a:noFill/>
          </a:ln>
          <a:extLst>
            <a:ext uri="{53640926-AAD7-44D8-BBD7-CCE9431645EC}">
              <a14:shadowObscured xmlns:a14="http://schemas.microsoft.com/office/drawing/2010/main"/>
            </a:ext>
          </a:extLst>
        </p:spPr>
      </p:pic>
      <p:sp>
        <p:nvSpPr>
          <p:cNvPr id="7" name="Sous-titre 2">
            <a:extLst>
              <a:ext uri="{FF2B5EF4-FFF2-40B4-BE49-F238E27FC236}">
                <a16:creationId xmlns:a16="http://schemas.microsoft.com/office/drawing/2014/main" id="{44123407-D965-6C59-AC10-5A6FF978A6CB}"/>
              </a:ext>
            </a:extLst>
          </p:cNvPr>
          <p:cNvSpPr txBox="1">
            <a:spLocks/>
          </p:cNvSpPr>
          <p:nvPr/>
        </p:nvSpPr>
        <p:spPr>
          <a:xfrm>
            <a:off x="9397756" y="6148967"/>
            <a:ext cx="2659379" cy="793817"/>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lnSpc>
                <a:spcPct val="100000"/>
              </a:lnSpc>
            </a:pP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lnSpc>
                <a:spcPct val="100000"/>
              </a:lnSpc>
            </a:pPr>
            <a:r>
              <a:rPr lang="fr-FR" sz="1200" b="1" spc="-15" dirty="0">
                <a:latin typeface="Tw Cen MT"/>
                <a:cs typeface="Tw Cen MT"/>
              </a:rPr>
              <a:t>27-22-42-14-43 / dcknowing@gmail.com</a:t>
            </a:r>
            <a:endParaRPr lang="fr-FR" sz="1200" b="1" dirty="0">
              <a:latin typeface="Tw Cen MT"/>
              <a:cs typeface="Tw Cen MT"/>
            </a:endParaRPr>
          </a:p>
        </p:txBody>
      </p:sp>
      <p:sp>
        <p:nvSpPr>
          <p:cNvPr id="3" name="Sous-titre 2">
            <a:extLst>
              <a:ext uri="{FF2B5EF4-FFF2-40B4-BE49-F238E27FC236}">
                <a16:creationId xmlns:a16="http://schemas.microsoft.com/office/drawing/2014/main" id="{9114FEB3-F6CA-D1CC-1CC1-98777C60F593}"/>
              </a:ext>
            </a:extLst>
          </p:cNvPr>
          <p:cNvSpPr>
            <a:spLocks noGrp="1"/>
          </p:cNvSpPr>
          <p:nvPr>
            <p:ph type="subTitle" idx="1"/>
          </p:nvPr>
        </p:nvSpPr>
        <p:spPr>
          <a:xfrm>
            <a:off x="1925632" y="2520484"/>
            <a:ext cx="8993945" cy="2691034"/>
          </a:xfrm>
        </p:spPr>
        <p:txBody>
          <a:bodyPr>
            <a:normAutofit fontScale="70000" lnSpcReduction="20000"/>
          </a:bodyPr>
          <a:lstStyle/>
          <a:p>
            <a:pPr algn="l"/>
            <a:r>
              <a:rPr lang="fr-FR" dirty="0">
                <a:solidFill>
                  <a:schemeClr val="tx2">
                    <a:lumMod val="75000"/>
                  </a:schemeClr>
                </a:solidFill>
                <a:latin typeface="Aptos" panose="020B0004020202020204" pitchFamily="34" charset="0"/>
              </a:rPr>
              <a:t>Dans ces diapos qui vont suivre vous êtes autorisés en tant que juriste à  :</a:t>
            </a:r>
          </a:p>
          <a:p>
            <a:pPr marL="342900" indent="-342900" algn="l">
              <a:buFontTx/>
              <a:buChar char="-"/>
            </a:pPr>
            <a:r>
              <a:rPr lang="fr-FR" dirty="0">
                <a:solidFill>
                  <a:schemeClr val="tx2">
                    <a:lumMod val="75000"/>
                  </a:schemeClr>
                </a:solidFill>
                <a:latin typeface="Aptos" panose="020B0004020202020204" pitchFamily="34" charset="0"/>
              </a:rPr>
              <a:t>Modifier ou actualiser les informations rapportées</a:t>
            </a:r>
          </a:p>
          <a:p>
            <a:pPr marL="342900" indent="-342900" algn="l">
              <a:buFontTx/>
              <a:buChar char="-"/>
            </a:pPr>
            <a:r>
              <a:rPr lang="fr-FR" dirty="0">
                <a:solidFill>
                  <a:schemeClr val="tx2">
                    <a:lumMod val="75000"/>
                  </a:schemeClr>
                </a:solidFill>
                <a:latin typeface="Aptos" panose="020B0004020202020204" pitchFamily="34" charset="0"/>
              </a:rPr>
              <a:t>Faire des inputs et revoir des formulations</a:t>
            </a:r>
          </a:p>
          <a:p>
            <a:pPr marL="342900" indent="-342900" algn="l">
              <a:buFontTx/>
              <a:buChar char="-"/>
            </a:pPr>
            <a:r>
              <a:rPr lang="fr-FR" dirty="0">
                <a:solidFill>
                  <a:schemeClr val="tx2">
                    <a:lumMod val="75000"/>
                  </a:schemeClr>
                </a:solidFill>
                <a:latin typeface="Aptos" panose="020B0004020202020204" pitchFamily="34" charset="0"/>
              </a:rPr>
              <a:t>Faire des corrections</a:t>
            </a:r>
          </a:p>
          <a:p>
            <a:pPr marL="342900" indent="-342900" algn="l">
              <a:buFontTx/>
              <a:buChar char="-"/>
            </a:pPr>
            <a:r>
              <a:rPr lang="fr-FR" dirty="0">
                <a:solidFill>
                  <a:schemeClr val="tx2">
                    <a:lumMod val="75000"/>
                  </a:schemeClr>
                </a:solidFill>
                <a:latin typeface="Aptos" panose="020B0004020202020204" pitchFamily="34" charset="0"/>
              </a:rPr>
              <a:t>Réorganiser son sommaire</a:t>
            </a:r>
          </a:p>
          <a:p>
            <a:pPr marL="342900" indent="-342900" algn="l">
              <a:buFontTx/>
              <a:buChar char="-"/>
            </a:pPr>
            <a:r>
              <a:rPr lang="fr-FR" dirty="0">
                <a:solidFill>
                  <a:schemeClr val="tx2">
                    <a:lumMod val="75000"/>
                  </a:schemeClr>
                </a:solidFill>
                <a:latin typeface="Aptos" panose="020B0004020202020204" pitchFamily="34" charset="0"/>
              </a:rPr>
              <a:t>Améliorer ses animations et autres </a:t>
            </a:r>
          </a:p>
          <a:p>
            <a:pPr marL="342900" indent="-342900" algn="l">
              <a:buFontTx/>
              <a:buChar char="-"/>
            </a:pPr>
            <a:endParaRPr lang="fr-FR" dirty="0">
              <a:solidFill>
                <a:schemeClr val="tx2">
                  <a:lumMod val="75000"/>
                </a:schemeClr>
              </a:solidFill>
              <a:latin typeface="Aptos" panose="020B0004020202020204" pitchFamily="34" charset="0"/>
            </a:endParaRPr>
          </a:p>
          <a:p>
            <a:pPr algn="l"/>
            <a:r>
              <a:rPr lang="fr-FR" dirty="0" err="1">
                <a:solidFill>
                  <a:srgbClr val="FF0000"/>
                </a:solidFill>
                <a:latin typeface="Aptos" panose="020B0004020202020204" pitchFamily="34" charset="0"/>
              </a:rPr>
              <a:t>N.B</a:t>
            </a:r>
            <a:r>
              <a:rPr lang="fr-FR" dirty="0">
                <a:solidFill>
                  <a:srgbClr val="FF0000"/>
                </a:solidFill>
                <a:latin typeface="Aptos" panose="020B0004020202020204" pitchFamily="34" charset="0"/>
              </a:rPr>
              <a:t>: </a:t>
            </a:r>
            <a:r>
              <a:rPr lang="fr-FR" i="1" dirty="0">
                <a:solidFill>
                  <a:srgbClr val="FF0000"/>
                </a:solidFill>
                <a:latin typeface="Aptos" panose="020B0004020202020204" pitchFamily="34" charset="0"/>
              </a:rPr>
              <a:t>il est simplement tenu de conserver le masque de présentation à savoir la disposition à gauche de DC-Knowing et le logo en bas à droite</a:t>
            </a:r>
            <a:r>
              <a:rPr lang="fr-FR" dirty="0">
                <a:solidFill>
                  <a:srgbClr val="FF0000"/>
                </a:solidFill>
                <a:latin typeface="Aptos" panose="020B0004020202020204" pitchFamily="34" charset="0"/>
              </a:rPr>
              <a:t>.</a:t>
            </a:r>
          </a:p>
          <a:p>
            <a:endParaRPr lang="fr-FR" dirty="0"/>
          </a:p>
        </p:txBody>
      </p:sp>
      <p:pic>
        <p:nvPicPr>
          <p:cNvPr id="8" name="Image 7">
            <a:extLst>
              <a:ext uri="{FF2B5EF4-FFF2-40B4-BE49-F238E27FC236}">
                <a16:creationId xmlns:a16="http://schemas.microsoft.com/office/drawing/2014/main" id="{C66C0F75-FB4C-8392-3611-3B81F5821C69}"/>
              </a:ext>
            </a:extLst>
          </p:cNvPr>
          <p:cNvPicPr>
            <a:picLocks noChangeAspect="1"/>
          </p:cNvPicPr>
          <p:nvPr/>
        </p:nvPicPr>
        <p:blipFill>
          <a:blip r:embed="rId3"/>
          <a:srcRect l="50000" r="26459"/>
          <a:stretch>
            <a:fillRect/>
          </a:stretch>
        </p:blipFill>
        <p:spPr>
          <a:xfrm>
            <a:off x="0" y="437191"/>
            <a:ext cx="512364" cy="6281587"/>
          </a:xfrm>
          <a:prstGeom prst="rect">
            <a:avLst/>
          </a:prstGeom>
        </p:spPr>
      </p:pic>
    </p:spTree>
    <p:extLst>
      <p:ext uri="{BB962C8B-B14F-4D97-AF65-F5344CB8AC3E}">
        <p14:creationId xmlns:p14="http://schemas.microsoft.com/office/powerpoint/2010/main" val="3997656244"/>
      </p:ext>
    </p:extLst>
  </p:cSld>
  <p:clrMapOvr>
    <a:masterClrMapping/>
  </p:clrMapOvr>
  <mc:AlternateContent xmlns:mc="http://schemas.openxmlformats.org/markup-compatibility/2006">
    <mc:Choice xmlns:p14="http://schemas.microsoft.com/office/powerpoint/2010/main" Requires="p14">
      <p:transition spd="slow" p14:dur="1500" advTm="5000">
        <p:split orient="vert"/>
      </p:transition>
    </mc:Choice>
    <mc:Fallback>
      <p:transition spd="slow" advTm="5000">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CAA497-587E-C7CC-CB8F-7C418E91AC6D}"/>
              </a:ext>
            </a:extLst>
          </p:cNvPr>
          <p:cNvSpPr>
            <a:spLocks noGrp="1"/>
          </p:cNvSpPr>
          <p:nvPr>
            <p:ph type="title"/>
          </p:nvPr>
        </p:nvSpPr>
        <p:spPr/>
        <p:txBody>
          <a:bodyPr>
            <a:normAutofit fontScale="90000"/>
          </a:bodyPr>
          <a:lstStyle/>
          <a:p>
            <a:pPr algn="ctr"/>
            <a:r>
              <a:rPr lang="fr-FR" sz="6000" b="1" dirty="0">
                <a:solidFill>
                  <a:schemeClr val="accent4"/>
                </a:solidFill>
              </a:rPr>
              <a:t>INTRODUCTION</a:t>
            </a:r>
            <a:br>
              <a:rPr lang="fr-FR" b="1" dirty="0"/>
            </a:br>
            <a:endParaRPr lang="fr-FR" dirty="0"/>
          </a:p>
        </p:txBody>
      </p:sp>
      <p:sp>
        <p:nvSpPr>
          <p:cNvPr id="3" name="Espace réservé du contenu 2">
            <a:extLst>
              <a:ext uri="{FF2B5EF4-FFF2-40B4-BE49-F238E27FC236}">
                <a16:creationId xmlns:a16="http://schemas.microsoft.com/office/drawing/2014/main" id="{DE409ADA-4545-8621-D678-C44DC441FD6F}"/>
              </a:ext>
            </a:extLst>
          </p:cNvPr>
          <p:cNvSpPr>
            <a:spLocks noGrp="1"/>
          </p:cNvSpPr>
          <p:nvPr>
            <p:ph idx="1"/>
          </p:nvPr>
        </p:nvSpPr>
        <p:spPr>
          <a:xfrm>
            <a:off x="819453" y="1690688"/>
            <a:ext cx="10515600" cy="4351338"/>
          </a:xfrm>
        </p:spPr>
        <p:txBody>
          <a:bodyPr/>
          <a:lstStyle/>
          <a:p>
            <a:pPr marL="0" indent="0" algn="ctr">
              <a:buNone/>
            </a:pPr>
            <a:r>
              <a:rPr lang="fr-FR" dirty="0"/>
              <a:t>     </a:t>
            </a:r>
            <a:r>
              <a:rPr lang="fr-FR" u="sng" dirty="0">
                <a:solidFill>
                  <a:schemeClr val="accent1"/>
                </a:solidFill>
                <a:latin typeface="+mj-lt"/>
              </a:rPr>
              <a:t>COMPRENDRE LA LUTTE CONTRE LE BLANCHIMENT DE CAPITAUX</a:t>
            </a:r>
          </a:p>
          <a:p>
            <a:pPr marL="0" indent="0">
              <a:buNone/>
            </a:pPr>
            <a:endParaRPr lang="fr-FR" b="1" dirty="0"/>
          </a:p>
          <a:p>
            <a:pPr marL="0" indent="0" algn="r">
              <a:buNone/>
            </a:pPr>
            <a:r>
              <a:rPr lang="fr-FR" dirty="0"/>
              <a:t>La fraude fiscale chez les acteurs économiques menace la stabilité    financière et freine le développement du pays.</a:t>
            </a:r>
          </a:p>
          <a:p>
            <a:pPr marL="0" indent="0" algn="r">
              <a:buNone/>
            </a:pPr>
            <a:r>
              <a:rPr lang="fr-FR" dirty="0"/>
              <a:t>       En Côte d’Ivoire, des mesures ont été mises en place pour renforcer      la transparence, comme la </a:t>
            </a:r>
            <a:r>
              <a:rPr lang="fr-FR" b="1" dirty="0"/>
              <a:t>déclaration des bénéficiaires effectifs</a:t>
            </a:r>
            <a:r>
              <a:rPr lang="fr-FR" dirty="0"/>
              <a:t>, la                                     </a:t>
            </a:r>
            <a:r>
              <a:rPr lang="fr-FR" b="1" dirty="0"/>
              <a:t>vigilance à l’égard des intermédiaires</a:t>
            </a:r>
            <a:r>
              <a:rPr lang="fr-FR" dirty="0"/>
              <a:t> et le </a:t>
            </a:r>
            <a:r>
              <a:rPr lang="fr-FR" b="1" dirty="0"/>
              <a:t>respect des obligations par les institutions financières</a:t>
            </a:r>
            <a:r>
              <a:rPr lang="fr-FR" dirty="0"/>
              <a:t>.</a:t>
            </a:r>
          </a:p>
          <a:p>
            <a:endParaRPr lang="fr-FR" dirty="0"/>
          </a:p>
        </p:txBody>
      </p:sp>
      <p:pic>
        <p:nvPicPr>
          <p:cNvPr id="6" name="Image 5">
            <a:extLst>
              <a:ext uri="{FF2B5EF4-FFF2-40B4-BE49-F238E27FC236}">
                <a16:creationId xmlns:a16="http://schemas.microsoft.com/office/drawing/2014/main" id="{BFD2802E-E689-A06E-FA65-3D3124A54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796" y="2615667"/>
            <a:ext cx="461431" cy="487119"/>
          </a:xfrm>
          <a:prstGeom prst="rect">
            <a:avLst/>
          </a:prstGeom>
        </p:spPr>
      </p:pic>
      <p:pic>
        <p:nvPicPr>
          <p:cNvPr id="7" name="Image 6">
            <a:extLst>
              <a:ext uri="{FF2B5EF4-FFF2-40B4-BE49-F238E27FC236}">
                <a16:creationId xmlns:a16="http://schemas.microsoft.com/office/drawing/2014/main" id="{E8D58D26-A55D-5E8B-A366-165256963F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053" y="3522810"/>
            <a:ext cx="461432" cy="487120"/>
          </a:xfrm>
          <a:prstGeom prst="rect">
            <a:avLst/>
          </a:prstGeom>
        </p:spPr>
      </p:pic>
      <p:cxnSp>
        <p:nvCxnSpPr>
          <p:cNvPr id="12" name="Connecteur droit 11">
            <a:extLst>
              <a:ext uri="{FF2B5EF4-FFF2-40B4-BE49-F238E27FC236}">
                <a16:creationId xmlns:a16="http://schemas.microsoft.com/office/drawing/2014/main" id="{5F2A274D-CE57-E5A9-A608-9739FEF76391}"/>
              </a:ext>
            </a:extLst>
          </p:cNvPr>
          <p:cNvCxnSpPr/>
          <p:nvPr/>
        </p:nvCxnSpPr>
        <p:spPr>
          <a:xfrm>
            <a:off x="875715" y="1204686"/>
            <a:ext cx="10880856" cy="0"/>
          </a:xfrm>
          <a:prstGeom prst="line">
            <a:avLst/>
          </a:prstGeom>
        </p:spPr>
        <p:style>
          <a:lnRef idx="1">
            <a:schemeClr val="dk1"/>
          </a:lnRef>
          <a:fillRef idx="0">
            <a:schemeClr val="dk1"/>
          </a:fillRef>
          <a:effectRef idx="0">
            <a:schemeClr val="dk1"/>
          </a:effectRef>
          <a:fontRef idx="minor">
            <a:schemeClr val="tx1"/>
          </a:fontRef>
        </p:style>
      </p:cxnSp>
      <p:sp>
        <p:nvSpPr>
          <p:cNvPr id="13" name="Espace réservé du numéro de diapositive 1">
            <a:extLst>
              <a:ext uri="{FF2B5EF4-FFF2-40B4-BE49-F238E27FC236}">
                <a16:creationId xmlns:a16="http://schemas.microsoft.com/office/drawing/2014/main" id="{F40F86BD-BEEC-F6B1-04EE-6A8391AF9A51}"/>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3</a:t>
            </a:fld>
            <a:endParaRPr lang="fr-CI" dirty="0">
              <a:solidFill>
                <a:schemeClr val="bg1">
                  <a:lumMod val="65000"/>
                </a:schemeClr>
              </a:solidFill>
            </a:endParaRPr>
          </a:p>
        </p:txBody>
      </p:sp>
      <p:pic>
        <p:nvPicPr>
          <p:cNvPr id="4" name="Image 3">
            <a:extLst>
              <a:ext uri="{FF2B5EF4-FFF2-40B4-BE49-F238E27FC236}">
                <a16:creationId xmlns:a16="http://schemas.microsoft.com/office/drawing/2014/main" id="{F466A3CD-AFCF-A353-96E2-D4902C53FD87}"/>
              </a:ext>
            </a:extLst>
          </p:cNvPr>
          <p:cNvPicPr>
            <a:picLocks noChangeAspect="1"/>
          </p:cNvPicPr>
          <p:nvPr/>
        </p:nvPicPr>
        <p:blipFill rotWithShape="1">
          <a:blip r:embed="rId3">
            <a:extLst>
              <a:ext uri="{28A0092B-C50C-407E-A947-70E740481C1C}">
                <a14:useLocalDpi xmlns:a14="http://schemas.microsoft.com/office/drawing/2010/main" val="0"/>
              </a:ext>
            </a:extLst>
          </a:blip>
          <a:srcRect l="13234" t="32390" r="22347" b="45262"/>
          <a:stretch>
            <a:fillRect/>
          </a:stretch>
        </p:blipFill>
        <p:spPr bwMode="auto">
          <a:xfrm>
            <a:off x="9650186" y="5419813"/>
            <a:ext cx="2406949" cy="793817"/>
          </a:xfrm>
          <a:prstGeom prst="rect">
            <a:avLst/>
          </a:prstGeom>
          <a:noFill/>
          <a:ln>
            <a:noFill/>
          </a:ln>
          <a:extLst>
            <a:ext uri="{53640926-AAD7-44D8-BBD7-CCE9431645EC}">
              <a14:shadowObscured xmlns:a14="http://schemas.microsoft.com/office/drawing/2010/main"/>
            </a:ext>
          </a:extLst>
        </p:spPr>
      </p:pic>
      <p:sp>
        <p:nvSpPr>
          <p:cNvPr id="5" name="Sous-titre 2">
            <a:extLst>
              <a:ext uri="{FF2B5EF4-FFF2-40B4-BE49-F238E27FC236}">
                <a16:creationId xmlns:a16="http://schemas.microsoft.com/office/drawing/2014/main" id="{512800D4-0DD3-7520-DA90-5835D815714C}"/>
              </a:ext>
            </a:extLst>
          </p:cNvPr>
          <p:cNvSpPr txBox="1">
            <a:spLocks/>
          </p:cNvSpPr>
          <p:nvPr/>
        </p:nvSpPr>
        <p:spPr>
          <a:xfrm>
            <a:off x="9397756" y="6148967"/>
            <a:ext cx="2659379" cy="793817"/>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lnSpc>
                <a:spcPct val="100000"/>
              </a:lnSpc>
            </a:pP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lnSpc>
                <a:spcPct val="100000"/>
              </a:lnSpc>
            </a:pPr>
            <a:r>
              <a:rPr lang="fr-FR" sz="1200" b="1" spc="-15" dirty="0">
                <a:latin typeface="Tw Cen MT"/>
                <a:cs typeface="Tw Cen MT"/>
              </a:rPr>
              <a:t>27-22-42-14-43 / dcknowing@gmail.com</a:t>
            </a:r>
            <a:endParaRPr lang="fr-FR" sz="1200" b="1" dirty="0">
              <a:latin typeface="Tw Cen MT"/>
              <a:cs typeface="Tw Cen MT"/>
            </a:endParaRPr>
          </a:p>
        </p:txBody>
      </p:sp>
      <p:pic>
        <p:nvPicPr>
          <p:cNvPr id="11" name="Image 10">
            <a:extLst>
              <a:ext uri="{FF2B5EF4-FFF2-40B4-BE49-F238E27FC236}">
                <a16:creationId xmlns:a16="http://schemas.microsoft.com/office/drawing/2014/main" id="{2F94A900-5EE6-B23E-AD76-DD315CF4C7A5}"/>
              </a:ext>
            </a:extLst>
          </p:cNvPr>
          <p:cNvPicPr>
            <a:picLocks noChangeAspect="1"/>
          </p:cNvPicPr>
          <p:nvPr/>
        </p:nvPicPr>
        <p:blipFill>
          <a:blip r:embed="rId4"/>
          <a:srcRect l="50000" r="26459"/>
          <a:stretch>
            <a:fillRect/>
          </a:stretch>
        </p:blipFill>
        <p:spPr>
          <a:xfrm>
            <a:off x="0" y="437191"/>
            <a:ext cx="512364" cy="6281587"/>
          </a:xfrm>
          <a:prstGeom prst="rect">
            <a:avLst/>
          </a:prstGeom>
        </p:spPr>
      </p:pic>
    </p:spTree>
    <p:extLst>
      <p:ext uri="{BB962C8B-B14F-4D97-AF65-F5344CB8AC3E}">
        <p14:creationId xmlns:p14="http://schemas.microsoft.com/office/powerpoint/2010/main" val="102010674"/>
      </p:ext>
    </p:extLst>
  </p:cSld>
  <p:clrMapOvr>
    <a:masterClrMapping/>
  </p:clrMapOvr>
  <p:transition spd="slow" advTm="10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E05A1-226D-60AC-AF98-8F15A257C99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B70257D-633B-8EB0-15C1-ED73FAD390ED}"/>
              </a:ext>
            </a:extLst>
          </p:cNvPr>
          <p:cNvSpPr>
            <a:spLocks noGrp="1"/>
          </p:cNvSpPr>
          <p:nvPr>
            <p:ph type="ctrTitle"/>
          </p:nvPr>
        </p:nvSpPr>
        <p:spPr>
          <a:xfrm>
            <a:off x="1524000" y="1543276"/>
            <a:ext cx="9144000" cy="2387600"/>
          </a:xfrm>
        </p:spPr>
        <p:txBody>
          <a:bodyPr>
            <a:normAutofit fontScale="90000"/>
          </a:bodyPr>
          <a:lstStyle/>
          <a:p>
            <a:r>
              <a:rPr lang="fr-FR" b="1" dirty="0">
                <a:solidFill>
                  <a:schemeClr val="accent4"/>
                </a:solidFill>
              </a:rPr>
              <a:t>I-LA DÉCLARATION DES BÉNÉFICIAIRES EFFECTIFS (BE)</a:t>
            </a:r>
            <a:endParaRPr lang="fr-FR" dirty="0">
              <a:solidFill>
                <a:schemeClr val="accent4"/>
              </a:solidFill>
            </a:endParaRPr>
          </a:p>
        </p:txBody>
      </p:sp>
      <p:sp>
        <p:nvSpPr>
          <p:cNvPr id="4" name="Espace réservé du numéro de diapositive 1">
            <a:extLst>
              <a:ext uri="{FF2B5EF4-FFF2-40B4-BE49-F238E27FC236}">
                <a16:creationId xmlns:a16="http://schemas.microsoft.com/office/drawing/2014/main" id="{04E0FF84-4189-EE44-CEB5-032260965584}"/>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4</a:t>
            </a:fld>
            <a:endParaRPr lang="fr-CI" dirty="0">
              <a:solidFill>
                <a:schemeClr val="bg1">
                  <a:lumMod val="65000"/>
                </a:schemeClr>
              </a:solidFill>
            </a:endParaRPr>
          </a:p>
        </p:txBody>
      </p:sp>
      <p:pic>
        <p:nvPicPr>
          <p:cNvPr id="3" name="Image 2">
            <a:extLst>
              <a:ext uri="{FF2B5EF4-FFF2-40B4-BE49-F238E27FC236}">
                <a16:creationId xmlns:a16="http://schemas.microsoft.com/office/drawing/2014/main" id="{DD6736E5-B767-5125-6E15-046896D14CF6}"/>
              </a:ext>
            </a:extLst>
          </p:cNvPr>
          <p:cNvPicPr>
            <a:picLocks noChangeAspect="1"/>
          </p:cNvPicPr>
          <p:nvPr/>
        </p:nvPicPr>
        <p:blipFill rotWithShape="1">
          <a:blip r:embed="rId2">
            <a:extLst>
              <a:ext uri="{28A0092B-C50C-407E-A947-70E740481C1C}">
                <a14:useLocalDpi xmlns:a14="http://schemas.microsoft.com/office/drawing/2010/main" val="0"/>
              </a:ext>
            </a:extLst>
          </a:blip>
          <a:srcRect l="13234" t="32390" r="22347" b="45262"/>
          <a:stretch>
            <a:fillRect/>
          </a:stretch>
        </p:blipFill>
        <p:spPr bwMode="auto">
          <a:xfrm>
            <a:off x="9650186" y="5419813"/>
            <a:ext cx="2406949" cy="793817"/>
          </a:xfrm>
          <a:prstGeom prst="rect">
            <a:avLst/>
          </a:prstGeom>
          <a:noFill/>
          <a:ln>
            <a:noFill/>
          </a:ln>
          <a:extLst>
            <a:ext uri="{53640926-AAD7-44D8-BBD7-CCE9431645EC}">
              <a14:shadowObscured xmlns:a14="http://schemas.microsoft.com/office/drawing/2010/main"/>
            </a:ext>
          </a:extLst>
        </p:spPr>
      </p:pic>
      <p:sp>
        <p:nvSpPr>
          <p:cNvPr id="8" name="Sous-titre 2">
            <a:extLst>
              <a:ext uri="{FF2B5EF4-FFF2-40B4-BE49-F238E27FC236}">
                <a16:creationId xmlns:a16="http://schemas.microsoft.com/office/drawing/2014/main" id="{96410B51-C6DC-37B8-A68E-319E58B39BD9}"/>
              </a:ext>
            </a:extLst>
          </p:cNvPr>
          <p:cNvSpPr txBox="1">
            <a:spLocks/>
          </p:cNvSpPr>
          <p:nvPr/>
        </p:nvSpPr>
        <p:spPr>
          <a:xfrm>
            <a:off x="9397756" y="6148967"/>
            <a:ext cx="2659379" cy="793817"/>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lnSpc>
                <a:spcPct val="100000"/>
              </a:lnSpc>
            </a:pP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lnSpc>
                <a:spcPct val="100000"/>
              </a:lnSpc>
            </a:pPr>
            <a:r>
              <a:rPr lang="fr-FR" sz="1200" b="1" spc="-15" dirty="0">
                <a:latin typeface="Tw Cen MT"/>
                <a:cs typeface="Tw Cen MT"/>
              </a:rPr>
              <a:t>27-22-42-14-43 / dcknowing@gmail.com</a:t>
            </a:r>
            <a:endParaRPr lang="fr-FR" sz="1200" b="1" dirty="0">
              <a:latin typeface="Tw Cen MT"/>
              <a:cs typeface="Tw Cen MT"/>
            </a:endParaRPr>
          </a:p>
        </p:txBody>
      </p:sp>
      <p:pic>
        <p:nvPicPr>
          <p:cNvPr id="9" name="Image 8">
            <a:extLst>
              <a:ext uri="{FF2B5EF4-FFF2-40B4-BE49-F238E27FC236}">
                <a16:creationId xmlns:a16="http://schemas.microsoft.com/office/drawing/2014/main" id="{AC0BC12A-7AD2-B479-7FB9-A8C8B7BCCDE2}"/>
              </a:ext>
            </a:extLst>
          </p:cNvPr>
          <p:cNvPicPr>
            <a:picLocks noChangeAspect="1"/>
          </p:cNvPicPr>
          <p:nvPr/>
        </p:nvPicPr>
        <p:blipFill>
          <a:blip r:embed="rId3"/>
          <a:srcRect l="50000" r="26459"/>
          <a:stretch>
            <a:fillRect/>
          </a:stretch>
        </p:blipFill>
        <p:spPr>
          <a:xfrm>
            <a:off x="0" y="437191"/>
            <a:ext cx="512364" cy="6281587"/>
          </a:xfrm>
          <a:prstGeom prst="rect">
            <a:avLst/>
          </a:prstGeom>
        </p:spPr>
      </p:pic>
    </p:spTree>
    <p:extLst>
      <p:ext uri="{BB962C8B-B14F-4D97-AF65-F5344CB8AC3E}">
        <p14:creationId xmlns:p14="http://schemas.microsoft.com/office/powerpoint/2010/main" val="4003762916"/>
      </p:ext>
    </p:extLst>
  </p:cSld>
  <p:clrMapOvr>
    <a:masterClrMapping/>
  </p:clrMapOvr>
  <mc:AlternateContent xmlns:mc="http://schemas.openxmlformats.org/markup-compatibility/2006">
    <mc:Choice xmlns:p14="http://schemas.microsoft.com/office/powerpoint/2010/main" Requires="p14">
      <p:transition spd="slow" p14:dur="1500" advTm="5000">
        <p:split orient="vert"/>
      </p:transition>
    </mc:Choice>
    <mc:Fallback>
      <p:transition spd="slow" advTm="5000">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477EAF03-5965-43D3-8CDA-6DD53CE1C457}"/>
              </a:ext>
            </a:extLst>
          </p:cNvPr>
          <p:cNvSpPr>
            <a:spLocks noGrp="1"/>
          </p:cNvSpPr>
          <p:nvPr>
            <p:ph idx="1"/>
          </p:nvPr>
        </p:nvSpPr>
        <p:spPr>
          <a:xfrm>
            <a:off x="838200" y="1114424"/>
            <a:ext cx="10515600" cy="4351338"/>
          </a:xfrm>
        </p:spPr>
        <p:txBody>
          <a:bodyPr>
            <a:normAutofit fontScale="77500" lnSpcReduction="20000"/>
          </a:bodyPr>
          <a:lstStyle/>
          <a:p>
            <a:pPr marL="0" lvl="0" indent="0">
              <a:buNone/>
            </a:pPr>
            <a:r>
              <a:rPr lang="fr-FR" b="1" dirty="0"/>
              <a:t> </a:t>
            </a:r>
            <a:endParaRPr lang="fr-FR" dirty="0"/>
          </a:p>
          <a:p>
            <a:pPr lvl="1"/>
            <a:r>
              <a:rPr lang="fr-FR" b="1" dirty="0">
                <a:solidFill>
                  <a:schemeClr val="accent4"/>
                </a:solidFill>
              </a:rPr>
              <a:t>Qu'est-ce qu'un BE ?</a:t>
            </a:r>
            <a:r>
              <a:rPr lang="fr-FR" dirty="0">
                <a:solidFill>
                  <a:schemeClr val="accent4"/>
                </a:solidFill>
              </a:rPr>
              <a:t> </a:t>
            </a:r>
          </a:p>
          <a:p>
            <a:pPr marL="457200" lvl="1" indent="0">
              <a:buNone/>
            </a:pPr>
            <a:r>
              <a:rPr lang="fr-FR" dirty="0"/>
              <a:t>C’est une personne physique qui : </a:t>
            </a:r>
          </a:p>
          <a:p>
            <a:pPr lvl="2"/>
            <a:r>
              <a:rPr lang="fr-FR" dirty="0"/>
              <a:t>Détient &gt; 25% du capital ou des droits de vote.</a:t>
            </a:r>
          </a:p>
          <a:p>
            <a:pPr lvl="2"/>
            <a:r>
              <a:rPr lang="fr-FR" dirty="0"/>
              <a:t>Exerce un contrôle réel sur l'entité.</a:t>
            </a:r>
          </a:p>
          <a:p>
            <a:pPr lvl="2"/>
            <a:r>
              <a:rPr lang="fr-FR" dirty="0"/>
              <a:t>Bénéficie effectivement des produits ou activités.</a:t>
            </a:r>
          </a:p>
          <a:p>
            <a:pPr lvl="2"/>
            <a:endParaRPr lang="fr-FR" dirty="0"/>
          </a:p>
          <a:p>
            <a:pPr marL="914400" lvl="2" indent="0">
              <a:buNone/>
            </a:pPr>
            <a:endParaRPr lang="fr-FR" dirty="0"/>
          </a:p>
          <a:p>
            <a:pPr marL="914400" lvl="2" indent="0">
              <a:buNone/>
            </a:pPr>
            <a:endParaRPr lang="fr-FR" dirty="0"/>
          </a:p>
          <a:p>
            <a:pPr lvl="1"/>
            <a:r>
              <a:rPr lang="fr-FR" b="1" dirty="0">
                <a:solidFill>
                  <a:schemeClr val="accent4"/>
                </a:solidFill>
              </a:rPr>
              <a:t>Qui est concerné ?</a:t>
            </a:r>
            <a:r>
              <a:rPr lang="fr-FR" dirty="0">
                <a:solidFill>
                  <a:schemeClr val="accent4"/>
                </a:solidFill>
              </a:rPr>
              <a:t> </a:t>
            </a:r>
          </a:p>
          <a:p>
            <a:pPr marL="457200" lvl="1" indent="0">
              <a:buNone/>
            </a:pPr>
            <a:r>
              <a:rPr lang="fr-FR" dirty="0"/>
              <a:t>   Toutes les personnes morales (sociétés, associations, ONG économiques) et structures juridiques  (fiducies, fondations).</a:t>
            </a:r>
          </a:p>
          <a:p>
            <a:pPr lvl="1"/>
            <a:endParaRPr lang="fr-FR" dirty="0"/>
          </a:p>
          <a:p>
            <a:pPr marL="457200" lvl="1" indent="0">
              <a:buNone/>
            </a:pPr>
            <a:endParaRPr lang="fr-FR" dirty="0"/>
          </a:p>
          <a:p>
            <a:pPr marL="457200" lvl="1" indent="0">
              <a:buNone/>
            </a:pPr>
            <a:endParaRPr lang="fr-FR" dirty="0"/>
          </a:p>
          <a:p>
            <a:pPr lvl="1"/>
            <a:r>
              <a:rPr lang="fr-FR" b="1" dirty="0">
                <a:solidFill>
                  <a:schemeClr val="accent4"/>
                </a:solidFill>
              </a:rPr>
              <a:t>Informations à fournir :</a:t>
            </a:r>
            <a:r>
              <a:rPr lang="fr-FR" dirty="0">
                <a:solidFill>
                  <a:schemeClr val="accent4"/>
                </a:solidFill>
              </a:rPr>
              <a:t> </a:t>
            </a:r>
          </a:p>
          <a:p>
            <a:pPr marL="457200" lvl="1" indent="0">
              <a:buNone/>
            </a:pPr>
            <a:r>
              <a:rPr lang="fr-FR" dirty="0"/>
              <a:t>    Identité complète, nature du contrôle, pourcentage de détention.</a:t>
            </a:r>
          </a:p>
          <a:p>
            <a:endParaRPr lang="fr-FR" dirty="0"/>
          </a:p>
        </p:txBody>
      </p:sp>
      <p:sp>
        <p:nvSpPr>
          <p:cNvPr id="12" name="Espace réservé du numéro de diapositive 1">
            <a:extLst>
              <a:ext uri="{FF2B5EF4-FFF2-40B4-BE49-F238E27FC236}">
                <a16:creationId xmlns:a16="http://schemas.microsoft.com/office/drawing/2014/main" id="{F5A0B350-8C9B-ADD6-DE48-64D1FCF801EE}"/>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5</a:t>
            </a:fld>
            <a:endParaRPr lang="fr-CI" dirty="0">
              <a:solidFill>
                <a:schemeClr val="bg1">
                  <a:lumMod val="65000"/>
                </a:schemeClr>
              </a:solidFill>
            </a:endParaRPr>
          </a:p>
        </p:txBody>
      </p:sp>
      <p:sp>
        <p:nvSpPr>
          <p:cNvPr id="14" name="ZoneTexte 13">
            <a:extLst>
              <a:ext uri="{FF2B5EF4-FFF2-40B4-BE49-F238E27FC236}">
                <a16:creationId xmlns:a16="http://schemas.microsoft.com/office/drawing/2014/main" id="{5B9AABF4-95A7-FEA4-B370-FF666835EFE9}"/>
              </a:ext>
            </a:extLst>
          </p:cNvPr>
          <p:cNvSpPr txBox="1"/>
          <p:nvPr/>
        </p:nvSpPr>
        <p:spPr>
          <a:xfrm>
            <a:off x="1095832" y="62075"/>
            <a:ext cx="6836228" cy="369332"/>
          </a:xfrm>
          <a:prstGeom prst="rect">
            <a:avLst/>
          </a:prstGeom>
          <a:noFill/>
        </p:spPr>
        <p:txBody>
          <a:bodyPr wrap="square">
            <a:spAutoFit/>
          </a:bodyPr>
          <a:lstStyle/>
          <a:p>
            <a:r>
              <a:rPr lang="fr-FR" b="1" dirty="0">
                <a:solidFill>
                  <a:schemeClr val="accent4"/>
                </a:solidFill>
              </a:rPr>
              <a:t>LA DÉCLARATION DES BÉNÉFICIAIRES EFFECTIFS (BE)</a:t>
            </a:r>
            <a:endParaRPr lang="fr-FR" dirty="0"/>
          </a:p>
        </p:txBody>
      </p:sp>
      <p:cxnSp>
        <p:nvCxnSpPr>
          <p:cNvPr id="16" name="Connecteur droit 15">
            <a:extLst>
              <a:ext uri="{FF2B5EF4-FFF2-40B4-BE49-F238E27FC236}">
                <a16:creationId xmlns:a16="http://schemas.microsoft.com/office/drawing/2014/main" id="{15CC4947-DF5A-94B0-076B-612D254F48A1}"/>
              </a:ext>
            </a:extLst>
          </p:cNvPr>
          <p:cNvCxnSpPr/>
          <p:nvPr/>
        </p:nvCxnSpPr>
        <p:spPr>
          <a:xfrm>
            <a:off x="1111940" y="464461"/>
            <a:ext cx="1078977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12993063"/>
      </p:ext>
    </p:extLst>
  </p:cSld>
  <p:clrMapOvr>
    <a:masterClrMapping/>
  </p:clrMapOvr>
  <mc:AlternateContent xmlns:mc="http://schemas.openxmlformats.org/markup-compatibility/2006" xmlns:p14="http://schemas.microsoft.com/office/powerpoint/2010/main">
    <mc:Choice Requires="p14">
      <p:transition spd="slow" p14:dur="3400" advTm="10000">
        <p14:reveal dir="r"/>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80">
                                          <p:stCondLst>
                                            <p:cond delay="0"/>
                                          </p:stCondLst>
                                        </p:cTn>
                                        <p:tgtEl>
                                          <p:spTgt spid="6">
                                            <p:txEl>
                                              <p:pRg st="0" end="0"/>
                                            </p:txEl>
                                          </p:spTgt>
                                        </p:tgtEl>
                                      </p:cBhvr>
                                    </p:animEffect>
                                    <p:anim calcmode="lin" valueType="num">
                                      <p:cBhvr>
                                        <p:cTn id="8" dur="1822" tmFilter="0,0; 0.14,0.36; 0.43,0.73; 0.71,0.91; 1.0,1.0">
                                          <p:stCondLst>
                                            <p:cond delay="0"/>
                                          </p:stCondLst>
                                        </p:cTn>
                                        <p:tgtEl>
                                          <p:spTgt spid="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xEl>
                                              <p:pRg st="0" end="0"/>
                                            </p:txEl>
                                          </p:spTgt>
                                        </p:tgtEl>
                                      </p:cBhvr>
                                      <p:to x="100000" y="60000"/>
                                    </p:animScale>
                                    <p:animScale>
                                      <p:cBhvr>
                                        <p:cTn id="14" dur="166" decel="50000">
                                          <p:stCondLst>
                                            <p:cond delay="676"/>
                                          </p:stCondLst>
                                        </p:cTn>
                                        <p:tgtEl>
                                          <p:spTgt spid="6">
                                            <p:txEl>
                                              <p:pRg st="0" end="0"/>
                                            </p:txEl>
                                          </p:spTgt>
                                        </p:tgtEl>
                                      </p:cBhvr>
                                      <p:to x="100000" y="100000"/>
                                    </p:animScale>
                                    <p:animScale>
                                      <p:cBhvr>
                                        <p:cTn id="15" dur="26">
                                          <p:stCondLst>
                                            <p:cond delay="1312"/>
                                          </p:stCondLst>
                                        </p:cTn>
                                        <p:tgtEl>
                                          <p:spTgt spid="6">
                                            <p:txEl>
                                              <p:pRg st="0" end="0"/>
                                            </p:txEl>
                                          </p:spTgt>
                                        </p:tgtEl>
                                      </p:cBhvr>
                                      <p:to x="100000" y="80000"/>
                                    </p:animScale>
                                    <p:animScale>
                                      <p:cBhvr>
                                        <p:cTn id="16" dur="166" decel="50000">
                                          <p:stCondLst>
                                            <p:cond delay="1338"/>
                                          </p:stCondLst>
                                        </p:cTn>
                                        <p:tgtEl>
                                          <p:spTgt spid="6">
                                            <p:txEl>
                                              <p:pRg st="0" end="0"/>
                                            </p:txEl>
                                          </p:spTgt>
                                        </p:tgtEl>
                                      </p:cBhvr>
                                      <p:to x="100000" y="100000"/>
                                    </p:animScale>
                                    <p:animScale>
                                      <p:cBhvr>
                                        <p:cTn id="17" dur="26">
                                          <p:stCondLst>
                                            <p:cond delay="1642"/>
                                          </p:stCondLst>
                                        </p:cTn>
                                        <p:tgtEl>
                                          <p:spTgt spid="6">
                                            <p:txEl>
                                              <p:pRg st="0" end="0"/>
                                            </p:txEl>
                                          </p:spTgt>
                                        </p:tgtEl>
                                      </p:cBhvr>
                                      <p:to x="100000" y="90000"/>
                                    </p:animScale>
                                    <p:animScale>
                                      <p:cBhvr>
                                        <p:cTn id="18" dur="166" decel="50000">
                                          <p:stCondLst>
                                            <p:cond delay="1668"/>
                                          </p:stCondLst>
                                        </p:cTn>
                                        <p:tgtEl>
                                          <p:spTgt spid="6">
                                            <p:txEl>
                                              <p:pRg st="0" end="0"/>
                                            </p:txEl>
                                          </p:spTgt>
                                        </p:tgtEl>
                                      </p:cBhvr>
                                      <p:to x="100000" y="100000"/>
                                    </p:animScale>
                                    <p:animScale>
                                      <p:cBhvr>
                                        <p:cTn id="19" dur="26">
                                          <p:stCondLst>
                                            <p:cond delay="1808"/>
                                          </p:stCondLst>
                                        </p:cTn>
                                        <p:tgtEl>
                                          <p:spTgt spid="6">
                                            <p:txEl>
                                              <p:pRg st="0" end="0"/>
                                            </p:txEl>
                                          </p:spTgt>
                                        </p:tgtEl>
                                      </p:cBhvr>
                                      <p:to x="100000" y="95000"/>
                                    </p:animScale>
                                    <p:animScale>
                                      <p:cBhvr>
                                        <p:cTn id="20" dur="166" decel="50000">
                                          <p:stCondLst>
                                            <p:cond delay="1834"/>
                                          </p:stCondLst>
                                        </p:cTn>
                                        <p:tgtEl>
                                          <p:spTgt spid="6">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wipe(down)">
                                      <p:cBhvr>
                                        <p:cTn id="23" dur="580">
                                          <p:stCondLst>
                                            <p:cond delay="0"/>
                                          </p:stCondLst>
                                        </p:cTn>
                                        <p:tgtEl>
                                          <p:spTgt spid="6">
                                            <p:txEl>
                                              <p:pRg st="1" end="1"/>
                                            </p:txEl>
                                          </p:spTgt>
                                        </p:tgtEl>
                                      </p:cBhvr>
                                    </p:animEffect>
                                    <p:anim calcmode="lin" valueType="num">
                                      <p:cBhvr>
                                        <p:cTn id="24" dur="1822" tmFilter="0,0; 0.14,0.36; 0.43,0.73; 0.71,0.91; 1.0,1.0">
                                          <p:stCondLst>
                                            <p:cond delay="0"/>
                                          </p:stCondLst>
                                        </p:cTn>
                                        <p:tgtEl>
                                          <p:spTgt spid="6">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6">
                                            <p:txEl>
                                              <p:pRg st="1" end="1"/>
                                            </p:txEl>
                                          </p:spTgt>
                                        </p:tgtEl>
                                      </p:cBhvr>
                                      <p:to x="100000" y="60000"/>
                                    </p:animScale>
                                    <p:animScale>
                                      <p:cBhvr>
                                        <p:cTn id="30" dur="166" decel="50000">
                                          <p:stCondLst>
                                            <p:cond delay="676"/>
                                          </p:stCondLst>
                                        </p:cTn>
                                        <p:tgtEl>
                                          <p:spTgt spid="6">
                                            <p:txEl>
                                              <p:pRg st="1" end="1"/>
                                            </p:txEl>
                                          </p:spTgt>
                                        </p:tgtEl>
                                      </p:cBhvr>
                                      <p:to x="100000" y="100000"/>
                                    </p:animScale>
                                    <p:animScale>
                                      <p:cBhvr>
                                        <p:cTn id="31" dur="26">
                                          <p:stCondLst>
                                            <p:cond delay="1312"/>
                                          </p:stCondLst>
                                        </p:cTn>
                                        <p:tgtEl>
                                          <p:spTgt spid="6">
                                            <p:txEl>
                                              <p:pRg st="1" end="1"/>
                                            </p:txEl>
                                          </p:spTgt>
                                        </p:tgtEl>
                                      </p:cBhvr>
                                      <p:to x="100000" y="80000"/>
                                    </p:animScale>
                                    <p:animScale>
                                      <p:cBhvr>
                                        <p:cTn id="32" dur="166" decel="50000">
                                          <p:stCondLst>
                                            <p:cond delay="1338"/>
                                          </p:stCondLst>
                                        </p:cTn>
                                        <p:tgtEl>
                                          <p:spTgt spid="6">
                                            <p:txEl>
                                              <p:pRg st="1" end="1"/>
                                            </p:txEl>
                                          </p:spTgt>
                                        </p:tgtEl>
                                      </p:cBhvr>
                                      <p:to x="100000" y="100000"/>
                                    </p:animScale>
                                    <p:animScale>
                                      <p:cBhvr>
                                        <p:cTn id="33" dur="26">
                                          <p:stCondLst>
                                            <p:cond delay="1642"/>
                                          </p:stCondLst>
                                        </p:cTn>
                                        <p:tgtEl>
                                          <p:spTgt spid="6">
                                            <p:txEl>
                                              <p:pRg st="1" end="1"/>
                                            </p:txEl>
                                          </p:spTgt>
                                        </p:tgtEl>
                                      </p:cBhvr>
                                      <p:to x="100000" y="90000"/>
                                    </p:animScale>
                                    <p:animScale>
                                      <p:cBhvr>
                                        <p:cTn id="34" dur="166" decel="50000">
                                          <p:stCondLst>
                                            <p:cond delay="1668"/>
                                          </p:stCondLst>
                                        </p:cTn>
                                        <p:tgtEl>
                                          <p:spTgt spid="6">
                                            <p:txEl>
                                              <p:pRg st="1" end="1"/>
                                            </p:txEl>
                                          </p:spTgt>
                                        </p:tgtEl>
                                      </p:cBhvr>
                                      <p:to x="100000" y="100000"/>
                                    </p:animScale>
                                    <p:animScale>
                                      <p:cBhvr>
                                        <p:cTn id="35" dur="26">
                                          <p:stCondLst>
                                            <p:cond delay="1808"/>
                                          </p:stCondLst>
                                        </p:cTn>
                                        <p:tgtEl>
                                          <p:spTgt spid="6">
                                            <p:txEl>
                                              <p:pRg st="1" end="1"/>
                                            </p:txEl>
                                          </p:spTgt>
                                        </p:tgtEl>
                                      </p:cBhvr>
                                      <p:to x="100000" y="95000"/>
                                    </p:animScale>
                                    <p:animScale>
                                      <p:cBhvr>
                                        <p:cTn id="36" dur="166" decel="50000">
                                          <p:stCondLst>
                                            <p:cond delay="1834"/>
                                          </p:stCondLst>
                                        </p:cTn>
                                        <p:tgtEl>
                                          <p:spTgt spid="6">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animEffect transition="in" filter="wipe(down)">
                                      <p:cBhvr>
                                        <p:cTn id="39" dur="580">
                                          <p:stCondLst>
                                            <p:cond delay="0"/>
                                          </p:stCondLst>
                                        </p:cTn>
                                        <p:tgtEl>
                                          <p:spTgt spid="6">
                                            <p:txEl>
                                              <p:pRg st="2" end="2"/>
                                            </p:txEl>
                                          </p:spTgt>
                                        </p:tgtEl>
                                      </p:cBhvr>
                                    </p:animEffect>
                                    <p:anim calcmode="lin" valueType="num">
                                      <p:cBhvr>
                                        <p:cTn id="40" dur="1822" tmFilter="0,0; 0.14,0.36; 0.43,0.73; 0.71,0.91; 1.0,1.0">
                                          <p:stCondLst>
                                            <p:cond delay="0"/>
                                          </p:stCondLst>
                                        </p:cTn>
                                        <p:tgtEl>
                                          <p:spTgt spid="6">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6">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6">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6">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6">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6">
                                            <p:txEl>
                                              <p:pRg st="2" end="2"/>
                                            </p:txEl>
                                          </p:spTgt>
                                        </p:tgtEl>
                                      </p:cBhvr>
                                      <p:to x="100000" y="60000"/>
                                    </p:animScale>
                                    <p:animScale>
                                      <p:cBhvr>
                                        <p:cTn id="46" dur="166" decel="50000">
                                          <p:stCondLst>
                                            <p:cond delay="676"/>
                                          </p:stCondLst>
                                        </p:cTn>
                                        <p:tgtEl>
                                          <p:spTgt spid="6">
                                            <p:txEl>
                                              <p:pRg st="2" end="2"/>
                                            </p:txEl>
                                          </p:spTgt>
                                        </p:tgtEl>
                                      </p:cBhvr>
                                      <p:to x="100000" y="100000"/>
                                    </p:animScale>
                                    <p:animScale>
                                      <p:cBhvr>
                                        <p:cTn id="47" dur="26">
                                          <p:stCondLst>
                                            <p:cond delay="1312"/>
                                          </p:stCondLst>
                                        </p:cTn>
                                        <p:tgtEl>
                                          <p:spTgt spid="6">
                                            <p:txEl>
                                              <p:pRg st="2" end="2"/>
                                            </p:txEl>
                                          </p:spTgt>
                                        </p:tgtEl>
                                      </p:cBhvr>
                                      <p:to x="100000" y="80000"/>
                                    </p:animScale>
                                    <p:animScale>
                                      <p:cBhvr>
                                        <p:cTn id="48" dur="166" decel="50000">
                                          <p:stCondLst>
                                            <p:cond delay="1338"/>
                                          </p:stCondLst>
                                        </p:cTn>
                                        <p:tgtEl>
                                          <p:spTgt spid="6">
                                            <p:txEl>
                                              <p:pRg st="2" end="2"/>
                                            </p:txEl>
                                          </p:spTgt>
                                        </p:tgtEl>
                                      </p:cBhvr>
                                      <p:to x="100000" y="100000"/>
                                    </p:animScale>
                                    <p:animScale>
                                      <p:cBhvr>
                                        <p:cTn id="49" dur="26">
                                          <p:stCondLst>
                                            <p:cond delay="1642"/>
                                          </p:stCondLst>
                                        </p:cTn>
                                        <p:tgtEl>
                                          <p:spTgt spid="6">
                                            <p:txEl>
                                              <p:pRg st="2" end="2"/>
                                            </p:txEl>
                                          </p:spTgt>
                                        </p:tgtEl>
                                      </p:cBhvr>
                                      <p:to x="100000" y="90000"/>
                                    </p:animScale>
                                    <p:animScale>
                                      <p:cBhvr>
                                        <p:cTn id="50" dur="166" decel="50000">
                                          <p:stCondLst>
                                            <p:cond delay="1668"/>
                                          </p:stCondLst>
                                        </p:cTn>
                                        <p:tgtEl>
                                          <p:spTgt spid="6">
                                            <p:txEl>
                                              <p:pRg st="2" end="2"/>
                                            </p:txEl>
                                          </p:spTgt>
                                        </p:tgtEl>
                                      </p:cBhvr>
                                      <p:to x="100000" y="100000"/>
                                    </p:animScale>
                                    <p:animScale>
                                      <p:cBhvr>
                                        <p:cTn id="51" dur="26">
                                          <p:stCondLst>
                                            <p:cond delay="1808"/>
                                          </p:stCondLst>
                                        </p:cTn>
                                        <p:tgtEl>
                                          <p:spTgt spid="6">
                                            <p:txEl>
                                              <p:pRg st="2" end="2"/>
                                            </p:txEl>
                                          </p:spTgt>
                                        </p:tgtEl>
                                      </p:cBhvr>
                                      <p:to x="100000" y="95000"/>
                                    </p:animScale>
                                    <p:animScale>
                                      <p:cBhvr>
                                        <p:cTn id="52" dur="166" decel="50000">
                                          <p:stCondLst>
                                            <p:cond delay="1834"/>
                                          </p:stCondLst>
                                        </p:cTn>
                                        <p:tgtEl>
                                          <p:spTgt spid="6">
                                            <p:txEl>
                                              <p:pRg st="2" end="2"/>
                                            </p:txEl>
                                          </p:spTgt>
                                        </p:tgtEl>
                                      </p:cBhvr>
                                      <p:to x="100000" y="100000"/>
                                    </p:animScale>
                                  </p:childTnLst>
                                </p:cTn>
                              </p:par>
                              <p:par>
                                <p:cTn id="53" presetID="42" presetClass="entr" presetSubtype="0" fill="hold" nodeType="withEffect">
                                  <p:stCondLst>
                                    <p:cond delay="0"/>
                                  </p:stCondLst>
                                  <p:childTnLst>
                                    <p:set>
                                      <p:cBhvr>
                                        <p:cTn id="54" dur="1" fill="hold">
                                          <p:stCondLst>
                                            <p:cond delay="0"/>
                                          </p:stCondLst>
                                        </p:cTn>
                                        <p:tgtEl>
                                          <p:spTgt spid="6">
                                            <p:txEl>
                                              <p:pRg st="3" end="3"/>
                                            </p:txEl>
                                          </p:spTgt>
                                        </p:tgtEl>
                                        <p:attrNameLst>
                                          <p:attrName>style.visibility</p:attrName>
                                        </p:attrNameLst>
                                      </p:cBhvr>
                                      <p:to>
                                        <p:strVal val="visible"/>
                                      </p:to>
                                    </p:set>
                                    <p:animEffect transition="in" filter="fade">
                                      <p:cBhvr>
                                        <p:cTn id="55" dur="1000"/>
                                        <p:tgtEl>
                                          <p:spTgt spid="6">
                                            <p:txEl>
                                              <p:pRg st="3" end="3"/>
                                            </p:txEl>
                                          </p:spTgt>
                                        </p:tgtEl>
                                      </p:cBhvr>
                                    </p:animEffect>
                                    <p:anim calcmode="lin" valueType="num">
                                      <p:cBhvr>
                                        <p:cTn id="5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57" dur="1000" fill="hold"/>
                                        <p:tgtEl>
                                          <p:spTgt spid="6">
                                            <p:txEl>
                                              <p:pRg st="3" end="3"/>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6">
                                            <p:txEl>
                                              <p:pRg st="4" end="4"/>
                                            </p:txEl>
                                          </p:spTgt>
                                        </p:tgtEl>
                                        <p:attrNameLst>
                                          <p:attrName>style.visibility</p:attrName>
                                        </p:attrNameLst>
                                      </p:cBhvr>
                                      <p:to>
                                        <p:strVal val="visible"/>
                                      </p:to>
                                    </p:set>
                                    <p:animEffect transition="in" filter="fade">
                                      <p:cBhvr>
                                        <p:cTn id="60" dur="1000"/>
                                        <p:tgtEl>
                                          <p:spTgt spid="6">
                                            <p:txEl>
                                              <p:pRg st="4" end="4"/>
                                            </p:txEl>
                                          </p:spTgt>
                                        </p:tgtEl>
                                      </p:cBhvr>
                                    </p:animEffect>
                                    <p:anim calcmode="lin" valueType="num">
                                      <p:cBhvr>
                                        <p:cTn id="6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62" dur="1000" fill="hold"/>
                                        <p:tgtEl>
                                          <p:spTgt spid="6">
                                            <p:txEl>
                                              <p:pRg st="4" end="4"/>
                                            </p:txEl>
                                          </p:spTgt>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6">
                                            <p:txEl>
                                              <p:pRg st="5" end="5"/>
                                            </p:txEl>
                                          </p:spTgt>
                                        </p:tgtEl>
                                        <p:attrNameLst>
                                          <p:attrName>style.visibility</p:attrName>
                                        </p:attrNameLst>
                                      </p:cBhvr>
                                      <p:to>
                                        <p:strVal val="visible"/>
                                      </p:to>
                                    </p:set>
                                    <p:animEffect transition="in" filter="fade">
                                      <p:cBhvr>
                                        <p:cTn id="65" dur="1000"/>
                                        <p:tgtEl>
                                          <p:spTgt spid="6">
                                            <p:txEl>
                                              <p:pRg st="5" end="5"/>
                                            </p:txEl>
                                          </p:spTgt>
                                        </p:tgtEl>
                                      </p:cBhvr>
                                    </p:animEffect>
                                    <p:anim calcmode="lin" valueType="num">
                                      <p:cBhvr>
                                        <p:cTn id="66"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7"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6" presetClass="entr" presetSubtype="0" fill="hold" nodeType="clickEffect">
                                  <p:stCondLst>
                                    <p:cond delay="0"/>
                                  </p:stCondLst>
                                  <p:childTnLst>
                                    <p:set>
                                      <p:cBhvr>
                                        <p:cTn id="71" dur="1" fill="hold">
                                          <p:stCondLst>
                                            <p:cond delay="0"/>
                                          </p:stCondLst>
                                        </p:cTn>
                                        <p:tgtEl>
                                          <p:spTgt spid="6">
                                            <p:txEl>
                                              <p:pRg st="9" end="9"/>
                                            </p:txEl>
                                          </p:spTgt>
                                        </p:tgtEl>
                                        <p:attrNameLst>
                                          <p:attrName>style.visibility</p:attrName>
                                        </p:attrNameLst>
                                      </p:cBhvr>
                                      <p:to>
                                        <p:strVal val="visible"/>
                                      </p:to>
                                    </p:set>
                                    <p:animEffect transition="in" filter="wipe(down)">
                                      <p:cBhvr>
                                        <p:cTn id="72" dur="580">
                                          <p:stCondLst>
                                            <p:cond delay="0"/>
                                          </p:stCondLst>
                                        </p:cTn>
                                        <p:tgtEl>
                                          <p:spTgt spid="6">
                                            <p:txEl>
                                              <p:pRg st="9" end="9"/>
                                            </p:txEl>
                                          </p:spTgt>
                                        </p:tgtEl>
                                      </p:cBhvr>
                                    </p:animEffect>
                                    <p:anim calcmode="lin" valueType="num">
                                      <p:cBhvr>
                                        <p:cTn id="73" dur="1822" tmFilter="0,0; 0.14,0.36; 0.43,0.73; 0.71,0.91; 1.0,1.0">
                                          <p:stCondLst>
                                            <p:cond delay="0"/>
                                          </p:stCondLst>
                                        </p:cTn>
                                        <p:tgtEl>
                                          <p:spTgt spid="6">
                                            <p:txEl>
                                              <p:pRg st="9" end="9"/>
                                            </p:txEl>
                                          </p:spTgt>
                                        </p:tgtEl>
                                        <p:attrNameLst>
                                          <p:attrName>ppt_x</p:attrName>
                                        </p:attrNameLst>
                                      </p:cBhvr>
                                      <p:tavLst>
                                        <p:tav tm="0">
                                          <p:val>
                                            <p:strVal val="#ppt_x-0.25"/>
                                          </p:val>
                                        </p:tav>
                                        <p:tav tm="100000">
                                          <p:val>
                                            <p:strVal val="#ppt_x"/>
                                          </p:val>
                                        </p:tav>
                                      </p:tavLst>
                                    </p:anim>
                                    <p:anim calcmode="lin" valueType="num">
                                      <p:cBhvr>
                                        <p:cTn id="74" dur="664" tmFilter="0.0,0.0; 0.25,0.07; 0.50,0.2; 0.75,0.467; 1.0,1.0">
                                          <p:stCondLst>
                                            <p:cond delay="0"/>
                                          </p:stCondLst>
                                        </p:cTn>
                                        <p:tgtEl>
                                          <p:spTgt spid="6">
                                            <p:txEl>
                                              <p:pRg st="9" end="9"/>
                                            </p:txEl>
                                          </p:spTgt>
                                        </p:tgtEl>
                                        <p:attrNameLst>
                                          <p:attrName>ppt_y</p:attrName>
                                        </p:attrNameLst>
                                      </p:cBhvr>
                                      <p:tavLst>
                                        <p:tav tm="0" fmla="#ppt_y-sin(pi*$)/3">
                                          <p:val>
                                            <p:fltVal val="0.5"/>
                                          </p:val>
                                        </p:tav>
                                        <p:tav tm="100000">
                                          <p:val>
                                            <p:fltVal val="1"/>
                                          </p:val>
                                        </p:tav>
                                      </p:tavLst>
                                    </p:anim>
                                    <p:anim calcmode="lin" valueType="num">
                                      <p:cBhvr>
                                        <p:cTn id="75" dur="664" tmFilter="0, 0; 0.125,0.2665; 0.25,0.4; 0.375,0.465; 0.5,0.5;  0.625,0.535; 0.75,0.6; 0.875,0.7335; 1,1">
                                          <p:stCondLst>
                                            <p:cond delay="664"/>
                                          </p:stCondLst>
                                        </p:cTn>
                                        <p:tgtEl>
                                          <p:spTgt spid="6">
                                            <p:txEl>
                                              <p:pRg st="9" end="9"/>
                                            </p:txEl>
                                          </p:spTgt>
                                        </p:tgtEl>
                                        <p:attrNameLst>
                                          <p:attrName>ppt_y</p:attrName>
                                        </p:attrNameLst>
                                      </p:cBhvr>
                                      <p:tavLst>
                                        <p:tav tm="0" fmla="#ppt_y-sin(pi*$)/9">
                                          <p:val>
                                            <p:fltVal val="0"/>
                                          </p:val>
                                        </p:tav>
                                        <p:tav tm="100000">
                                          <p:val>
                                            <p:fltVal val="1"/>
                                          </p:val>
                                        </p:tav>
                                      </p:tavLst>
                                    </p:anim>
                                    <p:anim calcmode="lin" valueType="num">
                                      <p:cBhvr>
                                        <p:cTn id="76" dur="332" tmFilter="0, 0; 0.125,0.2665; 0.25,0.4; 0.375,0.465; 0.5,0.5;  0.625,0.535; 0.75,0.6; 0.875,0.7335; 1,1">
                                          <p:stCondLst>
                                            <p:cond delay="1324"/>
                                          </p:stCondLst>
                                        </p:cTn>
                                        <p:tgtEl>
                                          <p:spTgt spid="6">
                                            <p:txEl>
                                              <p:pRg st="9" end="9"/>
                                            </p:txEl>
                                          </p:spTgt>
                                        </p:tgtEl>
                                        <p:attrNameLst>
                                          <p:attrName>ppt_y</p:attrName>
                                        </p:attrNameLst>
                                      </p:cBhvr>
                                      <p:tavLst>
                                        <p:tav tm="0" fmla="#ppt_y-sin(pi*$)/27">
                                          <p:val>
                                            <p:fltVal val="0"/>
                                          </p:val>
                                        </p:tav>
                                        <p:tav tm="100000">
                                          <p:val>
                                            <p:fltVal val="1"/>
                                          </p:val>
                                        </p:tav>
                                      </p:tavLst>
                                    </p:anim>
                                    <p:anim calcmode="lin" valueType="num">
                                      <p:cBhvr>
                                        <p:cTn id="77" dur="164" tmFilter="0, 0; 0.125,0.2665; 0.25,0.4; 0.375,0.465; 0.5,0.5;  0.625,0.535; 0.75,0.6; 0.875,0.7335; 1,1">
                                          <p:stCondLst>
                                            <p:cond delay="1656"/>
                                          </p:stCondLst>
                                        </p:cTn>
                                        <p:tgtEl>
                                          <p:spTgt spid="6">
                                            <p:txEl>
                                              <p:pRg st="9" end="9"/>
                                            </p:txEl>
                                          </p:spTgt>
                                        </p:tgtEl>
                                        <p:attrNameLst>
                                          <p:attrName>ppt_y</p:attrName>
                                        </p:attrNameLst>
                                      </p:cBhvr>
                                      <p:tavLst>
                                        <p:tav tm="0" fmla="#ppt_y-sin(pi*$)/81">
                                          <p:val>
                                            <p:fltVal val="0"/>
                                          </p:val>
                                        </p:tav>
                                        <p:tav tm="100000">
                                          <p:val>
                                            <p:fltVal val="1"/>
                                          </p:val>
                                        </p:tav>
                                      </p:tavLst>
                                    </p:anim>
                                    <p:animScale>
                                      <p:cBhvr>
                                        <p:cTn id="78" dur="26">
                                          <p:stCondLst>
                                            <p:cond delay="650"/>
                                          </p:stCondLst>
                                        </p:cTn>
                                        <p:tgtEl>
                                          <p:spTgt spid="6">
                                            <p:txEl>
                                              <p:pRg st="9" end="9"/>
                                            </p:txEl>
                                          </p:spTgt>
                                        </p:tgtEl>
                                      </p:cBhvr>
                                      <p:to x="100000" y="60000"/>
                                    </p:animScale>
                                    <p:animScale>
                                      <p:cBhvr>
                                        <p:cTn id="79" dur="166" decel="50000">
                                          <p:stCondLst>
                                            <p:cond delay="676"/>
                                          </p:stCondLst>
                                        </p:cTn>
                                        <p:tgtEl>
                                          <p:spTgt spid="6">
                                            <p:txEl>
                                              <p:pRg st="9" end="9"/>
                                            </p:txEl>
                                          </p:spTgt>
                                        </p:tgtEl>
                                      </p:cBhvr>
                                      <p:to x="100000" y="100000"/>
                                    </p:animScale>
                                    <p:animScale>
                                      <p:cBhvr>
                                        <p:cTn id="80" dur="26">
                                          <p:stCondLst>
                                            <p:cond delay="1312"/>
                                          </p:stCondLst>
                                        </p:cTn>
                                        <p:tgtEl>
                                          <p:spTgt spid="6">
                                            <p:txEl>
                                              <p:pRg st="9" end="9"/>
                                            </p:txEl>
                                          </p:spTgt>
                                        </p:tgtEl>
                                      </p:cBhvr>
                                      <p:to x="100000" y="80000"/>
                                    </p:animScale>
                                    <p:animScale>
                                      <p:cBhvr>
                                        <p:cTn id="81" dur="166" decel="50000">
                                          <p:stCondLst>
                                            <p:cond delay="1338"/>
                                          </p:stCondLst>
                                        </p:cTn>
                                        <p:tgtEl>
                                          <p:spTgt spid="6">
                                            <p:txEl>
                                              <p:pRg st="9" end="9"/>
                                            </p:txEl>
                                          </p:spTgt>
                                        </p:tgtEl>
                                      </p:cBhvr>
                                      <p:to x="100000" y="100000"/>
                                    </p:animScale>
                                    <p:animScale>
                                      <p:cBhvr>
                                        <p:cTn id="82" dur="26">
                                          <p:stCondLst>
                                            <p:cond delay="1642"/>
                                          </p:stCondLst>
                                        </p:cTn>
                                        <p:tgtEl>
                                          <p:spTgt spid="6">
                                            <p:txEl>
                                              <p:pRg st="9" end="9"/>
                                            </p:txEl>
                                          </p:spTgt>
                                        </p:tgtEl>
                                      </p:cBhvr>
                                      <p:to x="100000" y="90000"/>
                                    </p:animScale>
                                    <p:animScale>
                                      <p:cBhvr>
                                        <p:cTn id="83" dur="166" decel="50000">
                                          <p:stCondLst>
                                            <p:cond delay="1668"/>
                                          </p:stCondLst>
                                        </p:cTn>
                                        <p:tgtEl>
                                          <p:spTgt spid="6">
                                            <p:txEl>
                                              <p:pRg st="9" end="9"/>
                                            </p:txEl>
                                          </p:spTgt>
                                        </p:tgtEl>
                                      </p:cBhvr>
                                      <p:to x="100000" y="100000"/>
                                    </p:animScale>
                                    <p:animScale>
                                      <p:cBhvr>
                                        <p:cTn id="84" dur="26">
                                          <p:stCondLst>
                                            <p:cond delay="1808"/>
                                          </p:stCondLst>
                                        </p:cTn>
                                        <p:tgtEl>
                                          <p:spTgt spid="6">
                                            <p:txEl>
                                              <p:pRg st="9" end="9"/>
                                            </p:txEl>
                                          </p:spTgt>
                                        </p:tgtEl>
                                      </p:cBhvr>
                                      <p:to x="100000" y="95000"/>
                                    </p:animScale>
                                    <p:animScale>
                                      <p:cBhvr>
                                        <p:cTn id="85" dur="166" decel="50000">
                                          <p:stCondLst>
                                            <p:cond delay="1834"/>
                                          </p:stCondLst>
                                        </p:cTn>
                                        <p:tgtEl>
                                          <p:spTgt spid="6">
                                            <p:txEl>
                                              <p:pRg st="9" end="9"/>
                                            </p:txEl>
                                          </p:spTgt>
                                        </p:tgtEl>
                                      </p:cBhvr>
                                      <p:to x="100000" y="100000"/>
                                    </p:animScale>
                                  </p:childTnLst>
                                </p:cTn>
                              </p:par>
                              <p:par>
                                <p:cTn id="86" presetID="26" presetClass="entr" presetSubtype="0" fill="hold" nodeType="withEffect">
                                  <p:stCondLst>
                                    <p:cond delay="0"/>
                                  </p:stCondLst>
                                  <p:childTnLst>
                                    <p:set>
                                      <p:cBhvr>
                                        <p:cTn id="87" dur="1" fill="hold">
                                          <p:stCondLst>
                                            <p:cond delay="0"/>
                                          </p:stCondLst>
                                        </p:cTn>
                                        <p:tgtEl>
                                          <p:spTgt spid="6">
                                            <p:txEl>
                                              <p:pRg st="10" end="10"/>
                                            </p:txEl>
                                          </p:spTgt>
                                        </p:tgtEl>
                                        <p:attrNameLst>
                                          <p:attrName>style.visibility</p:attrName>
                                        </p:attrNameLst>
                                      </p:cBhvr>
                                      <p:to>
                                        <p:strVal val="visible"/>
                                      </p:to>
                                    </p:set>
                                    <p:animEffect transition="in" filter="wipe(down)">
                                      <p:cBhvr>
                                        <p:cTn id="88" dur="580">
                                          <p:stCondLst>
                                            <p:cond delay="0"/>
                                          </p:stCondLst>
                                        </p:cTn>
                                        <p:tgtEl>
                                          <p:spTgt spid="6">
                                            <p:txEl>
                                              <p:pRg st="10" end="10"/>
                                            </p:txEl>
                                          </p:spTgt>
                                        </p:tgtEl>
                                      </p:cBhvr>
                                    </p:animEffect>
                                    <p:anim calcmode="lin" valueType="num">
                                      <p:cBhvr>
                                        <p:cTn id="89" dur="1822" tmFilter="0,0; 0.14,0.36; 0.43,0.73; 0.71,0.91; 1.0,1.0">
                                          <p:stCondLst>
                                            <p:cond delay="0"/>
                                          </p:stCondLst>
                                        </p:cTn>
                                        <p:tgtEl>
                                          <p:spTgt spid="6">
                                            <p:txEl>
                                              <p:pRg st="10" end="10"/>
                                            </p:txEl>
                                          </p:spTgt>
                                        </p:tgtEl>
                                        <p:attrNameLst>
                                          <p:attrName>ppt_x</p:attrName>
                                        </p:attrNameLst>
                                      </p:cBhvr>
                                      <p:tavLst>
                                        <p:tav tm="0">
                                          <p:val>
                                            <p:strVal val="#ppt_x-0.25"/>
                                          </p:val>
                                        </p:tav>
                                        <p:tav tm="100000">
                                          <p:val>
                                            <p:strVal val="#ppt_x"/>
                                          </p:val>
                                        </p:tav>
                                      </p:tavLst>
                                    </p:anim>
                                    <p:anim calcmode="lin" valueType="num">
                                      <p:cBhvr>
                                        <p:cTn id="90" dur="664" tmFilter="0.0,0.0; 0.25,0.07; 0.50,0.2; 0.75,0.467; 1.0,1.0">
                                          <p:stCondLst>
                                            <p:cond delay="0"/>
                                          </p:stCondLst>
                                        </p:cTn>
                                        <p:tgtEl>
                                          <p:spTgt spid="6">
                                            <p:txEl>
                                              <p:pRg st="10" end="10"/>
                                            </p:txEl>
                                          </p:spTgt>
                                        </p:tgtEl>
                                        <p:attrNameLst>
                                          <p:attrName>ppt_y</p:attrName>
                                        </p:attrNameLst>
                                      </p:cBhvr>
                                      <p:tavLst>
                                        <p:tav tm="0" fmla="#ppt_y-sin(pi*$)/3">
                                          <p:val>
                                            <p:fltVal val="0.5"/>
                                          </p:val>
                                        </p:tav>
                                        <p:tav tm="100000">
                                          <p:val>
                                            <p:fltVal val="1"/>
                                          </p:val>
                                        </p:tav>
                                      </p:tavLst>
                                    </p:anim>
                                    <p:anim calcmode="lin" valueType="num">
                                      <p:cBhvr>
                                        <p:cTn id="91" dur="664" tmFilter="0, 0; 0.125,0.2665; 0.25,0.4; 0.375,0.465; 0.5,0.5;  0.625,0.535; 0.75,0.6; 0.875,0.7335; 1,1">
                                          <p:stCondLst>
                                            <p:cond delay="664"/>
                                          </p:stCondLst>
                                        </p:cTn>
                                        <p:tgtEl>
                                          <p:spTgt spid="6">
                                            <p:txEl>
                                              <p:pRg st="10" end="10"/>
                                            </p:txEl>
                                          </p:spTgt>
                                        </p:tgtEl>
                                        <p:attrNameLst>
                                          <p:attrName>ppt_y</p:attrName>
                                        </p:attrNameLst>
                                      </p:cBhvr>
                                      <p:tavLst>
                                        <p:tav tm="0" fmla="#ppt_y-sin(pi*$)/9">
                                          <p:val>
                                            <p:fltVal val="0"/>
                                          </p:val>
                                        </p:tav>
                                        <p:tav tm="100000">
                                          <p:val>
                                            <p:fltVal val="1"/>
                                          </p:val>
                                        </p:tav>
                                      </p:tavLst>
                                    </p:anim>
                                    <p:anim calcmode="lin" valueType="num">
                                      <p:cBhvr>
                                        <p:cTn id="92" dur="332" tmFilter="0, 0; 0.125,0.2665; 0.25,0.4; 0.375,0.465; 0.5,0.5;  0.625,0.535; 0.75,0.6; 0.875,0.7335; 1,1">
                                          <p:stCondLst>
                                            <p:cond delay="1324"/>
                                          </p:stCondLst>
                                        </p:cTn>
                                        <p:tgtEl>
                                          <p:spTgt spid="6">
                                            <p:txEl>
                                              <p:pRg st="10" end="10"/>
                                            </p:txEl>
                                          </p:spTgt>
                                        </p:tgtEl>
                                        <p:attrNameLst>
                                          <p:attrName>ppt_y</p:attrName>
                                        </p:attrNameLst>
                                      </p:cBhvr>
                                      <p:tavLst>
                                        <p:tav tm="0" fmla="#ppt_y-sin(pi*$)/27">
                                          <p:val>
                                            <p:fltVal val="0"/>
                                          </p:val>
                                        </p:tav>
                                        <p:tav tm="100000">
                                          <p:val>
                                            <p:fltVal val="1"/>
                                          </p:val>
                                        </p:tav>
                                      </p:tavLst>
                                    </p:anim>
                                    <p:anim calcmode="lin" valueType="num">
                                      <p:cBhvr>
                                        <p:cTn id="93" dur="164" tmFilter="0, 0; 0.125,0.2665; 0.25,0.4; 0.375,0.465; 0.5,0.5;  0.625,0.535; 0.75,0.6; 0.875,0.7335; 1,1">
                                          <p:stCondLst>
                                            <p:cond delay="1656"/>
                                          </p:stCondLst>
                                        </p:cTn>
                                        <p:tgtEl>
                                          <p:spTgt spid="6">
                                            <p:txEl>
                                              <p:pRg st="10" end="10"/>
                                            </p:txEl>
                                          </p:spTgt>
                                        </p:tgtEl>
                                        <p:attrNameLst>
                                          <p:attrName>ppt_y</p:attrName>
                                        </p:attrNameLst>
                                      </p:cBhvr>
                                      <p:tavLst>
                                        <p:tav tm="0" fmla="#ppt_y-sin(pi*$)/81">
                                          <p:val>
                                            <p:fltVal val="0"/>
                                          </p:val>
                                        </p:tav>
                                        <p:tav tm="100000">
                                          <p:val>
                                            <p:fltVal val="1"/>
                                          </p:val>
                                        </p:tav>
                                      </p:tavLst>
                                    </p:anim>
                                    <p:animScale>
                                      <p:cBhvr>
                                        <p:cTn id="94" dur="26">
                                          <p:stCondLst>
                                            <p:cond delay="650"/>
                                          </p:stCondLst>
                                        </p:cTn>
                                        <p:tgtEl>
                                          <p:spTgt spid="6">
                                            <p:txEl>
                                              <p:pRg st="10" end="10"/>
                                            </p:txEl>
                                          </p:spTgt>
                                        </p:tgtEl>
                                      </p:cBhvr>
                                      <p:to x="100000" y="60000"/>
                                    </p:animScale>
                                    <p:animScale>
                                      <p:cBhvr>
                                        <p:cTn id="95" dur="166" decel="50000">
                                          <p:stCondLst>
                                            <p:cond delay="676"/>
                                          </p:stCondLst>
                                        </p:cTn>
                                        <p:tgtEl>
                                          <p:spTgt spid="6">
                                            <p:txEl>
                                              <p:pRg st="10" end="10"/>
                                            </p:txEl>
                                          </p:spTgt>
                                        </p:tgtEl>
                                      </p:cBhvr>
                                      <p:to x="100000" y="100000"/>
                                    </p:animScale>
                                    <p:animScale>
                                      <p:cBhvr>
                                        <p:cTn id="96" dur="26">
                                          <p:stCondLst>
                                            <p:cond delay="1312"/>
                                          </p:stCondLst>
                                        </p:cTn>
                                        <p:tgtEl>
                                          <p:spTgt spid="6">
                                            <p:txEl>
                                              <p:pRg st="10" end="10"/>
                                            </p:txEl>
                                          </p:spTgt>
                                        </p:tgtEl>
                                      </p:cBhvr>
                                      <p:to x="100000" y="80000"/>
                                    </p:animScale>
                                    <p:animScale>
                                      <p:cBhvr>
                                        <p:cTn id="97" dur="166" decel="50000">
                                          <p:stCondLst>
                                            <p:cond delay="1338"/>
                                          </p:stCondLst>
                                        </p:cTn>
                                        <p:tgtEl>
                                          <p:spTgt spid="6">
                                            <p:txEl>
                                              <p:pRg st="10" end="10"/>
                                            </p:txEl>
                                          </p:spTgt>
                                        </p:tgtEl>
                                      </p:cBhvr>
                                      <p:to x="100000" y="100000"/>
                                    </p:animScale>
                                    <p:animScale>
                                      <p:cBhvr>
                                        <p:cTn id="98" dur="26">
                                          <p:stCondLst>
                                            <p:cond delay="1642"/>
                                          </p:stCondLst>
                                        </p:cTn>
                                        <p:tgtEl>
                                          <p:spTgt spid="6">
                                            <p:txEl>
                                              <p:pRg st="10" end="10"/>
                                            </p:txEl>
                                          </p:spTgt>
                                        </p:tgtEl>
                                      </p:cBhvr>
                                      <p:to x="100000" y="90000"/>
                                    </p:animScale>
                                    <p:animScale>
                                      <p:cBhvr>
                                        <p:cTn id="99" dur="166" decel="50000">
                                          <p:stCondLst>
                                            <p:cond delay="1668"/>
                                          </p:stCondLst>
                                        </p:cTn>
                                        <p:tgtEl>
                                          <p:spTgt spid="6">
                                            <p:txEl>
                                              <p:pRg st="10" end="10"/>
                                            </p:txEl>
                                          </p:spTgt>
                                        </p:tgtEl>
                                      </p:cBhvr>
                                      <p:to x="100000" y="100000"/>
                                    </p:animScale>
                                    <p:animScale>
                                      <p:cBhvr>
                                        <p:cTn id="100" dur="26">
                                          <p:stCondLst>
                                            <p:cond delay="1808"/>
                                          </p:stCondLst>
                                        </p:cTn>
                                        <p:tgtEl>
                                          <p:spTgt spid="6">
                                            <p:txEl>
                                              <p:pRg st="10" end="10"/>
                                            </p:txEl>
                                          </p:spTgt>
                                        </p:tgtEl>
                                      </p:cBhvr>
                                      <p:to x="100000" y="95000"/>
                                    </p:animScale>
                                    <p:animScale>
                                      <p:cBhvr>
                                        <p:cTn id="101" dur="166" decel="50000">
                                          <p:stCondLst>
                                            <p:cond delay="1834"/>
                                          </p:stCondLst>
                                        </p:cTn>
                                        <p:tgtEl>
                                          <p:spTgt spid="6">
                                            <p:txEl>
                                              <p:pRg st="10" end="10"/>
                                            </p:txEl>
                                          </p:spTgt>
                                        </p:tgtEl>
                                      </p:cBhvr>
                                      <p:to x="100000" y="100000"/>
                                    </p:animScale>
                                  </p:childTnLst>
                                </p:cTn>
                              </p:par>
                            </p:childTnLst>
                          </p:cTn>
                        </p:par>
                      </p:childTnLst>
                    </p:cTn>
                  </p:par>
                  <p:par>
                    <p:cTn id="102" fill="hold">
                      <p:stCondLst>
                        <p:cond delay="indefinite"/>
                      </p:stCondLst>
                      <p:childTnLst>
                        <p:par>
                          <p:cTn id="103" fill="hold">
                            <p:stCondLst>
                              <p:cond delay="0"/>
                            </p:stCondLst>
                            <p:childTnLst>
                              <p:par>
                                <p:cTn id="104" presetID="26" presetClass="entr" presetSubtype="0" fill="hold" nodeType="clickEffect">
                                  <p:stCondLst>
                                    <p:cond delay="0"/>
                                  </p:stCondLst>
                                  <p:childTnLst>
                                    <p:set>
                                      <p:cBhvr>
                                        <p:cTn id="105" dur="1" fill="hold">
                                          <p:stCondLst>
                                            <p:cond delay="0"/>
                                          </p:stCondLst>
                                        </p:cTn>
                                        <p:tgtEl>
                                          <p:spTgt spid="6">
                                            <p:txEl>
                                              <p:pRg st="14" end="14"/>
                                            </p:txEl>
                                          </p:spTgt>
                                        </p:tgtEl>
                                        <p:attrNameLst>
                                          <p:attrName>style.visibility</p:attrName>
                                        </p:attrNameLst>
                                      </p:cBhvr>
                                      <p:to>
                                        <p:strVal val="visible"/>
                                      </p:to>
                                    </p:set>
                                    <p:animEffect transition="in" filter="wipe(down)">
                                      <p:cBhvr>
                                        <p:cTn id="106" dur="580">
                                          <p:stCondLst>
                                            <p:cond delay="0"/>
                                          </p:stCondLst>
                                        </p:cTn>
                                        <p:tgtEl>
                                          <p:spTgt spid="6">
                                            <p:txEl>
                                              <p:pRg st="14" end="14"/>
                                            </p:txEl>
                                          </p:spTgt>
                                        </p:tgtEl>
                                      </p:cBhvr>
                                    </p:animEffect>
                                    <p:anim calcmode="lin" valueType="num">
                                      <p:cBhvr>
                                        <p:cTn id="107" dur="1822" tmFilter="0,0; 0.14,0.36; 0.43,0.73; 0.71,0.91; 1.0,1.0">
                                          <p:stCondLst>
                                            <p:cond delay="0"/>
                                          </p:stCondLst>
                                        </p:cTn>
                                        <p:tgtEl>
                                          <p:spTgt spid="6">
                                            <p:txEl>
                                              <p:pRg st="14" end="14"/>
                                            </p:txEl>
                                          </p:spTgt>
                                        </p:tgtEl>
                                        <p:attrNameLst>
                                          <p:attrName>ppt_x</p:attrName>
                                        </p:attrNameLst>
                                      </p:cBhvr>
                                      <p:tavLst>
                                        <p:tav tm="0">
                                          <p:val>
                                            <p:strVal val="#ppt_x-0.25"/>
                                          </p:val>
                                        </p:tav>
                                        <p:tav tm="100000">
                                          <p:val>
                                            <p:strVal val="#ppt_x"/>
                                          </p:val>
                                        </p:tav>
                                      </p:tavLst>
                                    </p:anim>
                                    <p:anim calcmode="lin" valueType="num">
                                      <p:cBhvr>
                                        <p:cTn id="108" dur="664" tmFilter="0.0,0.0; 0.25,0.07; 0.50,0.2; 0.75,0.467; 1.0,1.0">
                                          <p:stCondLst>
                                            <p:cond delay="0"/>
                                          </p:stCondLst>
                                        </p:cTn>
                                        <p:tgtEl>
                                          <p:spTgt spid="6">
                                            <p:txEl>
                                              <p:pRg st="14" end="14"/>
                                            </p:txEl>
                                          </p:spTgt>
                                        </p:tgtEl>
                                        <p:attrNameLst>
                                          <p:attrName>ppt_y</p:attrName>
                                        </p:attrNameLst>
                                      </p:cBhvr>
                                      <p:tavLst>
                                        <p:tav tm="0" fmla="#ppt_y-sin(pi*$)/3">
                                          <p:val>
                                            <p:fltVal val="0.5"/>
                                          </p:val>
                                        </p:tav>
                                        <p:tav tm="100000">
                                          <p:val>
                                            <p:fltVal val="1"/>
                                          </p:val>
                                        </p:tav>
                                      </p:tavLst>
                                    </p:anim>
                                    <p:anim calcmode="lin" valueType="num">
                                      <p:cBhvr>
                                        <p:cTn id="109" dur="664" tmFilter="0, 0; 0.125,0.2665; 0.25,0.4; 0.375,0.465; 0.5,0.5;  0.625,0.535; 0.75,0.6; 0.875,0.7335; 1,1">
                                          <p:stCondLst>
                                            <p:cond delay="664"/>
                                          </p:stCondLst>
                                        </p:cTn>
                                        <p:tgtEl>
                                          <p:spTgt spid="6">
                                            <p:txEl>
                                              <p:pRg st="14" end="14"/>
                                            </p:txEl>
                                          </p:spTgt>
                                        </p:tgtEl>
                                        <p:attrNameLst>
                                          <p:attrName>ppt_y</p:attrName>
                                        </p:attrNameLst>
                                      </p:cBhvr>
                                      <p:tavLst>
                                        <p:tav tm="0" fmla="#ppt_y-sin(pi*$)/9">
                                          <p:val>
                                            <p:fltVal val="0"/>
                                          </p:val>
                                        </p:tav>
                                        <p:tav tm="100000">
                                          <p:val>
                                            <p:fltVal val="1"/>
                                          </p:val>
                                        </p:tav>
                                      </p:tavLst>
                                    </p:anim>
                                    <p:anim calcmode="lin" valueType="num">
                                      <p:cBhvr>
                                        <p:cTn id="110" dur="332" tmFilter="0, 0; 0.125,0.2665; 0.25,0.4; 0.375,0.465; 0.5,0.5;  0.625,0.535; 0.75,0.6; 0.875,0.7335; 1,1">
                                          <p:stCondLst>
                                            <p:cond delay="1324"/>
                                          </p:stCondLst>
                                        </p:cTn>
                                        <p:tgtEl>
                                          <p:spTgt spid="6">
                                            <p:txEl>
                                              <p:pRg st="14" end="14"/>
                                            </p:txEl>
                                          </p:spTgt>
                                        </p:tgtEl>
                                        <p:attrNameLst>
                                          <p:attrName>ppt_y</p:attrName>
                                        </p:attrNameLst>
                                      </p:cBhvr>
                                      <p:tavLst>
                                        <p:tav tm="0" fmla="#ppt_y-sin(pi*$)/27">
                                          <p:val>
                                            <p:fltVal val="0"/>
                                          </p:val>
                                        </p:tav>
                                        <p:tav tm="100000">
                                          <p:val>
                                            <p:fltVal val="1"/>
                                          </p:val>
                                        </p:tav>
                                      </p:tavLst>
                                    </p:anim>
                                    <p:anim calcmode="lin" valueType="num">
                                      <p:cBhvr>
                                        <p:cTn id="111" dur="164" tmFilter="0, 0; 0.125,0.2665; 0.25,0.4; 0.375,0.465; 0.5,0.5;  0.625,0.535; 0.75,0.6; 0.875,0.7335; 1,1">
                                          <p:stCondLst>
                                            <p:cond delay="1656"/>
                                          </p:stCondLst>
                                        </p:cTn>
                                        <p:tgtEl>
                                          <p:spTgt spid="6">
                                            <p:txEl>
                                              <p:pRg st="14" end="14"/>
                                            </p:txEl>
                                          </p:spTgt>
                                        </p:tgtEl>
                                        <p:attrNameLst>
                                          <p:attrName>ppt_y</p:attrName>
                                        </p:attrNameLst>
                                      </p:cBhvr>
                                      <p:tavLst>
                                        <p:tav tm="0" fmla="#ppt_y-sin(pi*$)/81">
                                          <p:val>
                                            <p:fltVal val="0"/>
                                          </p:val>
                                        </p:tav>
                                        <p:tav tm="100000">
                                          <p:val>
                                            <p:fltVal val="1"/>
                                          </p:val>
                                        </p:tav>
                                      </p:tavLst>
                                    </p:anim>
                                    <p:animScale>
                                      <p:cBhvr>
                                        <p:cTn id="112" dur="26">
                                          <p:stCondLst>
                                            <p:cond delay="650"/>
                                          </p:stCondLst>
                                        </p:cTn>
                                        <p:tgtEl>
                                          <p:spTgt spid="6">
                                            <p:txEl>
                                              <p:pRg st="14" end="14"/>
                                            </p:txEl>
                                          </p:spTgt>
                                        </p:tgtEl>
                                      </p:cBhvr>
                                      <p:to x="100000" y="60000"/>
                                    </p:animScale>
                                    <p:animScale>
                                      <p:cBhvr>
                                        <p:cTn id="113" dur="166" decel="50000">
                                          <p:stCondLst>
                                            <p:cond delay="676"/>
                                          </p:stCondLst>
                                        </p:cTn>
                                        <p:tgtEl>
                                          <p:spTgt spid="6">
                                            <p:txEl>
                                              <p:pRg st="14" end="14"/>
                                            </p:txEl>
                                          </p:spTgt>
                                        </p:tgtEl>
                                      </p:cBhvr>
                                      <p:to x="100000" y="100000"/>
                                    </p:animScale>
                                    <p:animScale>
                                      <p:cBhvr>
                                        <p:cTn id="114" dur="26">
                                          <p:stCondLst>
                                            <p:cond delay="1312"/>
                                          </p:stCondLst>
                                        </p:cTn>
                                        <p:tgtEl>
                                          <p:spTgt spid="6">
                                            <p:txEl>
                                              <p:pRg st="14" end="14"/>
                                            </p:txEl>
                                          </p:spTgt>
                                        </p:tgtEl>
                                      </p:cBhvr>
                                      <p:to x="100000" y="80000"/>
                                    </p:animScale>
                                    <p:animScale>
                                      <p:cBhvr>
                                        <p:cTn id="115" dur="166" decel="50000">
                                          <p:stCondLst>
                                            <p:cond delay="1338"/>
                                          </p:stCondLst>
                                        </p:cTn>
                                        <p:tgtEl>
                                          <p:spTgt spid="6">
                                            <p:txEl>
                                              <p:pRg st="14" end="14"/>
                                            </p:txEl>
                                          </p:spTgt>
                                        </p:tgtEl>
                                      </p:cBhvr>
                                      <p:to x="100000" y="100000"/>
                                    </p:animScale>
                                    <p:animScale>
                                      <p:cBhvr>
                                        <p:cTn id="116" dur="26">
                                          <p:stCondLst>
                                            <p:cond delay="1642"/>
                                          </p:stCondLst>
                                        </p:cTn>
                                        <p:tgtEl>
                                          <p:spTgt spid="6">
                                            <p:txEl>
                                              <p:pRg st="14" end="14"/>
                                            </p:txEl>
                                          </p:spTgt>
                                        </p:tgtEl>
                                      </p:cBhvr>
                                      <p:to x="100000" y="90000"/>
                                    </p:animScale>
                                    <p:animScale>
                                      <p:cBhvr>
                                        <p:cTn id="117" dur="166" decel="50000">
                                          <p:stCondLst>
                                            <p:cond delay="1668"/>
                                          </p:stCondLst>
                                        </p:cTn>
                                        <p:tgtEl>
                                          <p:spTgt spid="6">
                                            <p:txEl>
                                              <p:pRg st="14" end="14"/>
                                            </p:txEl>
                                          </p:spTgt>
                                        </p:tgtEl>
                                      </p:cBhvr>
                                      <p:to x="100000" y="100000"/>
                                    </p:animScale>
                                    <p:animScale>
                                      <p:cBhvr>
                                        <p:cTn id="118" dur="26">
                                          <p:stCondLst>
                                            <p:cond delay="1808"/>
                                          </p:stCondLst>
                                        </p:cTn>
                                        <p:tgtEl>
                                          <p:spTgt spid="6">
                                            <p:txEl>
                                              <p:pRg st="14" end="14"/>
                                            </p:txEl>
                                          </p:spTgt>
                                        </p:tgtEl>
                                      </p:cBhvr>
                                      <p:to x="100000" y="95000"/>
                                    </p:animScale>
                                    <p:animScale>
                                      <p:cBhvr>
                                        <p:cTn id="119" dur="166" decel="50000">
                                          <p:stCondLst>
                                            <p:cond delay="1834"/>
                                          </p:stCondLst>
                                        </p:cTn>
                                        <p:tgtEl>
                                          <p:spTgt spid="6">
                                            <p:txEl>
                                              <p:pRg st="14" end="14"/>
                                            </p:txEl>
                                          </p:spTgt>
                                        </p:tgtEl>
                                      </p:cBhvr>
                                      <p:to x="100000" y="100000"/>
                                    </p:animScale>
                                  </p:childTnLst>
                                </p:cTn>
                              </p:par>
                              <p:par>
                                <p:cTn id="120" presetID="26" presetClass="entr" presetSubtype="0" fill="hold" nodeType="withEffect">
                                  <p:stCondLst>
                                    <p:cond delay="0"/>
                                  </p:stCondLst>
                                  <p:childTnLst>
                                    <p:set>
                                      <p:cBhvr>
                                        <p:cTn id="121" dur="1" fill="hold">
                                          <p:stCondLst>
                                            <p:cond delay="0"/>
                                          </p:stCondLst>
                                        </p:cTn>
                                        <p:tgtEl>
                                          <p:spTgt spid="6">
                                            <p:txEl>
                                              <p:pRg st="15" end="15"/>
                                            </p:txEl>
                                          </p:spTgt>
                                        </p:tgtEl>
                                        <p:attrNameLst>
                                          <p:attrName>style.visibility</p:attrName>
                                        </p:attrNameLst>
                                      </p:cBhvr>
                                      <p:to>
                                        <p:strVal val="visible"/>
                                      </p:to>
                                    </p:set>
                                    <p:animEffect transition="in" filter="wipe(down)">
                                      <p:cBhvr>
                                        <p:cTn id="122" dur="580">
                                          <p:stCondLst>
                                            <p:cond delay="0"/>
                                          </p:stCondLst>
                                        </p:cTn>
                                        <p:tgtEl>
                                          <p:spTgt spid="6">
                                            <p:txEl>
                                              <p:pRg st="15" end="15"/>
                                            </p:txEl>
                                          </p:spTgt>
                                        </p:tgtEl>
                                      </p:cBhvr>
                                    </p:animEffect>
                                    <p:anim calcmode="lin" valueType="num">
                                      <p:cBhvr>
                                        <p:cTn id="123" dur="1822" tmFilter="0,0; 0.14,0.36; 0.43,0.73; 0.71,0.91; 1.0,1.0">
                                          <p:stCondLst>
                                            <p:cond delay="0"/>
                                          </p:stCondLst>
                                        </p:cTn>
                                        <p:tgtEl>
                                          <p:spTgt spid="6">
                                            <p:txEl>
                                              <p:pRg st="15" end="15"/>
                                            </p:txEl>
                                          </p:spTgt>
                                        </p:tgtEl>
                                        <p:attrNameLst>
                                          <p:attrName>ppt_x</p:attrName>
                                        </p:attrNameLst>
                                      </p:cBhvr>
                                      <p:tavLst>
                                        <p:tav tm="0">
                                          <p:val>
                                            <p:strVal val="#ppt_x-0.25"/>
                                          </p:val>
                                        </p:tav>
                                        <p:tav tm="100000">
                                          <p:val>
                                            <p:strVal val="#ppt_x"/>
                                          </p:val>
                                        </p:tav>
                                      </p:tavLst>
                                    </p:anim>
                                    <p:anim calcmode="lin" valueType="num">
                                      <p:cBhvr>
                                        <p:cTn id="124" dur="664" tmFilter="0.0,0.0; 0.25,0.07; 0.50,0.2; 0.75,0.467; 1.0,1.0">
                                          <p:stCondLst>
                                            <p:cond delay="0"/>
                                          </p:stCondLst>
                                        </p:cTn>
                                        <p:tgtEl>
                                          <p:spTgt spid="6">
                                            <p:txEl>
                                              <p:pRg st="15" end="15"/>
                                            </p:txEl>
                                          </p:spTgt>
                                        </p:tgtEl>
                                        <p:attrNameLst>
                                          <p:attrName>ppt_y</p:attrName>
                                        </p:attrNameLst>
                                      </p:cBhvr>
                                      <p:tavLst>
                                        <p:tav tm="0" fmla="#ppt_y-sin(pi*$)/3">
                                          <p:val>
                                            <p:fltVal val="0.5"/>
                                          </p:val>
                                        </p:tav>
                                        <p:tav tm="100000">
                                          <p:val>
                                            <p:fltVal val="1"/>
                                          </p:val>
                                        </p:tav>
                                      </p:tavLst>
                                    </p:anim>
                                    <p:anim calcmode="lin" valueType="num">
                                      <p:cBhvr>
                                        <p:cTn id="125" dur="664" tmFilter="0, 0; 0.125,0.2665; 0.25,0.4; 0.375,0.465; 0.5,0.5;  0.625,0.535; 0.75,0.6; 0.875,0.7335; 1,1">
                                          <p:stCondLst>
                                            <p:cond delay="664"/>
                                          </p:stCondLst>
                                        </p:cTn>
                                        <p:tgtEl>
                                          <p:spTgt spid="6">
                                            <p:txEl>
                                              <p:pRg st="15" end="15"/>
                                            </p:txEl>
                                          </p:spTgt>
                                        </p:tgtEl>
                                        <p:attrNameLst>
                                          <p:attrName>ppt_y</p:attrName>
                                        </p:attrNameLst>
                                      </p:cBhvr>
                                      <p:tavLst>
                                        <p:tav tm="0" fmla="#ppt_y-sin(pi*$)/9">
                                          <p:val>
                                            <p:fltVal val="0"/>
                                          </p:val>
                                        </p:tav>
                                        <p:tav tm="100000">
                                          <p:val>
                                            <p:fltVal val="1"/>
                                          </p:val>
                                        </p:tav>
                                      </p:tavLst>
                                    </p:anim>
                                    <p:anim calcmode="lin" valueType="num">
                                      <p:cBhvr>
                                        <p:cTn id="126" dur="332" tmFilter="0, 0; 0.125,0.2665; 0.25,0.4; 0.375,0.465; 0.5,0.5;  0.625,0.535; 0.75,0.6; 0.875,0.7335; 1,1">
                                          <p:stCondLst>
                                            <p:cond delay="1324"/>
                                          </p:stCondLst>
                                        </p:cTn>
                                        <p:tgtEl>
                                          <p:spTgt spid="6">
                                            <p:txEl>
                                              <p:pRg st="15" end="15"/>
                                            </p:txEl>
                                          </p:spTgt>
                                        </p:tgtEl>
                                        <p:attrNameLst>
                                          <p:attrName>ppt_y</p:attrName>
                                        </p:attrNameLst>
                                      </p:cBhvr>
                                      <p:tavLst>
                                        <p:tav tm="0" fmla="#ppt_y-sin(pi*$)/27">
                                          <p:val>
                                            <p:fltVal val="0"/>
                                          </p:val>
                                        </p:tav>
                                        <p:tav tm="100000">
                                          <p:val>
                                            <p:fltVal val="1"/>
                                          </p:val>
                                        </p:tav>
                                      </p:tavLst>
                                    </p:anim>
                                    <p:anim calcmode="lin" valueType="num">
                                      <p:cBhvr>
                                        <p:cTn id="127" dur="164" tmFilter="0, 0; 0.125,0.2665; 0.25,0.4; 0.375,0.465; 0.5,0.5;  0.625,0.535; 0.75,0.6; 0.875,0.7335; 1,1">
                                          <p:stCondLst>
                                            <p:cond delay="1656"/>
                                          </p:stCondLst>
                                        </p:cTn>
                                        <p:tgtEl>
                                          <p:spTgt spid="6">
                                            <p:txEl>
                                              <p:pRg st="15" end="15"/>
                                            </p:txEl>
                                          </p:spTgt>
                                        </p:tgtEl>
                                        <p:attrNameLst>
                                          <p:attrName>ppt_y</p:attrName>
                                        </p:attrNameLst>
                                      </p:cBhvr>
                                      <p:tavLst>
                                        <p:tav tm="0" fmla="#ppt_y-sin(pi*$)/81">
                                          <p:val>
                                            <p:fltVal val="0"/>
                                          </p:val>
                                        </p:tav>
                                        <p:tav tm="100000">
                                          <p:val>
                                            <p:fltVal val="1"/>
                                          </p:val>
                                        </p:tav>
                                      </p:tavLst>
                                    </p:anim>
                                    <p:animScale>
                                      <p:cBhvr>
                                        <p:cTn id="128" dur="26">
                                          <p:stCondLst>
                                            <p:cond delay="650"/>
                                          </p:stCondLst>
                                        </p:cTn>
                                        <p:tgtEl>
                                          <p:spTgt spid="6">
                                            <p:txEl>
                                              <p:pRg st="15" end="15"/>
                                            </p:txEl>
                                          </p:spTgt>
                                        </p:tgtEl>
                                      </p:cBhvr>
                                      <p:to x="100000" y="60000"/>
                                    </p:animScale>
                                    <p:animScale>
                                      <p:cBhvr>
                                        <p:cTn id="129" dur="166" decel="50000">
                                          <p:stCondLst>
                                            <p:cond delay="676"/>
                                          </p:stCondLst>
                                        </p:cTn>
                                        <p:tgtEl>
                                          <p:spTgt spid="6">
                                            <p:txEl>
                                              <p:pRg st="15" end="15"/>
                                            </p:txEl>
                                          </p:spTgt>
                                        </p:tgtEl>
                                      </p:cBhvr>
                                      <p:to x="100000" y="100000"/>
                                    </p:animScale>
                                    <p:animScale>
                                      <p:cBhvr>
                                        <p:cTn id="130" dur="26">
                                          <p:stCondLst>
                                            <p:cond delay="1312"/>
                                          </p:stCondLst>
                                        </p:cTn>
                                        <p:tgtEl>
                                          <p:spTgt spid="6">
                                            <p:txEl>
                                              <p:pRg st="15" end="15"/>
                                            </p:txEl>
                                          </p:spTgt>
                                        </p:tgtEl>
                                      </p:cBhvr>
                                      <p:to x="100000" y="80000"/>
                                    </p:animScale>
                                    <p:animScale>
                                      <p:cBhvr>
                                        <p:cTn id="131" dur="166" decel="50000">
                                          <p:stCondLst>
                                            <p:cond delay="1338"/>
                                          </p:stCondLst>
                                        </p:cTn>
                                        <p:tgtEl>
                                          <p:spTgt spid="6">
                                            <p:txEl>
                                              <p:pRg st="15" end="15"/>
                                            </p:txEl>
                                          </p:spTgt>
                                        </p:tgtEl>
                                      </p:cBhvr>
                                      <p:to x="100000" y="100000"/>
                                    </p:animScale>
                                    <p:animScale>
                                      <p:cBhvr>
                                        <p:cTn id="132" dur="26">
                                          <p:stCondLst>
                                            <p:cond delay="1642"/>
                                          </p:stCondLst>
                                        </p:cTn>
                                        <p:tgtEl>
                                          <p:spTgt spid="6">
                                            <p:txEl>
                                              <p:pRg st="15" end="15"/>
                                            </p:txEl>
                                          </p:spTgt>
                                        </p:tgtEl>
                                      </p:cBhvr>
                                      <p:to x="100000" y="90000"/>
                                    </p:animScale>
                                    <p:animScale>
                                      <p:cBhvr>
                                        <p:cTn id="133" dur="166" decel="50000">
                                          <p:stCondLst>
                                            <p:cond delay="1668"/>
                                          </p:stCondLst>
                                        </p:cTn>
                                        <p:tgtEl>
                                          <p:spTgt spid="6">
                                            <p:txEl>
                                              <p:pRg st="15" end="15"/>
                                            </p:txEl>
                                          </p:spTgt>
                                        </p:tgtEl>
                                      </p:cBhvr>
                                      <p:to x="100000" y="100000"/>
                                    </p:animScale>
                                    <p:animScale>
                                      <p:cBhvr>
                                        <p:cTn id="134" dur="26">
                                          <p:stCondLst>
                                            <p:cond delay="1808"/>
                                          </p:stCondLst>
                                        </p:cTn>
                                        <p:tgtEl>
                                          <p:spTgt spid="6">
                                            <p:txEl>
                                              <p:pRg st="15" end="15"/>
                                            </p:txEl>
                                          </p:spTgt>
                                        </p:tgtEl>
                                      </p:cBhvr>
                                      <p:to x="100000" y="95000"/>
                                    </p:animScale>
                                    <p:animScale>
                                      <p:cBhvr>
                                        <p:cTn id="135" dur="166" decel="50000">
                                          <p:stCondLst>
                                            <p:cond delay="1834"/>
                                          </p:stCondLst>
                                        </p:cTn>
                                        <p:tgtEl>
                                          <p:spTgt spid="6">
                                            <p:txEl>
                                              <p:pRg st="15" end="1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87D0D0-E535-437A-2668-CD91AAC41BBA}"/>
              </a:ext>
            </a:extLst>
          </p:cNvPr>
          <p:cNvSpPr>
            <a:spLocks noGrp="1"/>
          </p:cNvSpPr>
          <p:nvPr>
            <p:ph type="ctrTitle"/>
          </p:nvPr>
        </p:nvSpPr>
        <p:spPr>
          <a:xfrm>
            <a:off x="1524000" y="1644875"/>
            <a:ext cx="9144000" cy="2387600"/>
          </a:xfrm>
        </p:spPr>
        <p:txBody>
          <a:bodyPr>
            <a:normAutofit fontScale="90000"/>
          </a:bodyPr>
          <a:lstStyle/>
          <a:p>
            <a:r>
              <a:rPr lang="fr-FR" b="1" dirty="0">
                <a:solidFill>
                  <a:schemeClr val="accent4"/>
                </a:solidFill>
              </a:rPr>
              <a:t>II-OBLIGATIONS ET CADRE LEGAL DE LA DECLARATION DES BÉNÉFICIAIRES EFFECTIFS (BE)</a:t>
            </a:r>
            <a:endParaRPr lang="fr-FR" dirty="0">
              <a:solidFill>
                <a:schemeClr val="accent4"/>
              </a:solidFill>
            </a:endParaRPr>
          </a:p>
        </p:txBody>
      </p:sp>
      <p:sp>
        <p:nvSpPr>
          <p:cNvPr id="7" name="Espace réservé du numéro de diapositive 1">
            <a:extLst>
              <a:ext uri="{FF2B5EF4-FFF2-40B4-BE49-F238E27FC236}">
                <a16:creationId xmlns:a16="http://schemas.microsoft.com/office/drawing/2014/main" id="{0D8836FE-95C3-21F0-FE6C-54B9F4581B01}"/>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6</a:t>
            </a:fld>
            <a:endParaRPr lang="fr-CI" dirty="0">
              <a:solidFill>
                <a:schemeClr val="bg1">
                  <a:lumMod val="65000"/>
                </a:schemeClr>
              </a:solidFill>
            </a:endParaRPr>
          </a:p>
        </p:txBody>
      </p:sp>
    </p:spTree>
    <p:extLst>
      <p:ext uri="{BB962C8B-B14F-4D97-AF65-F5344CB8AC3E}">
        <p14:creationId xmlns:p14="http://schemas.microsoft.com/office/powerpoint/2010/main" val="555628242"/>
      </p:ext>
    </p:extLst>
  </p:cSld>
  <p:clrMapOvr>
    <a:masterClrMapping/>
  </p:clrMapOvr>
  <mc:AlternateContent xmlns:mc="http://schemas.openxmlformats.org/markup-compatibility/2006" xmlns:p14="http://schemas.microsoft.com/office/powerpoint/2010/main">
    <mc:Choice Requires="p14">
      <p:transition spd="slow" p14:dur="1600" advTm="5000">
        <p14:prism isContent="1" isInverted="1"/>
      </p:transition>
    </mc:Choice>
    <mc:Fallback xmlns="">
      <p:transition spd="slow" advTm="5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F25CC7BE-2512-5D4C-57B0-6672BDF592FF}"/>
              </a:ext>
            </a:extLst>
          </p:cNvPr>
          <p:cNvSpPr/>
          <p:nvPr/>
        </p:nvSpPr>
        <p:spPr>
          <a:xfrm>
            <a:off x="1045029" y="3236686"/>
            <a:ext cx="3367314" cy="284407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ffectLst/>
            </a:endParaRPr>
          </a:p>
          <a:p>
            <a:pPr lvl="1" algn="ctr"/>
            <a:r>
              <a:rPr lang="fr-FR" b="1" u="sng" dirty="0">
                <a:solidFill>
                  <a:srgbClr val="C00000"/>
                </a:solidFill>
                <a:latin typeface="+mj-lt"/>
              </a:rPr>
              <a:t>LÉGISLATION LBC/FT/FP (ORD N° 2023-875) </a:t>
            </a:r>
          </a:p>
          <a:p>
            <a:pPr lvl="2" algn="ctr"/>
            <a:r>
              <a:rPr lang="fr-FR" dirty="0">
                <a:solidFill>
                  <a:schemeClr val="tx1"/>
                </a:solidFill>
              </a:rPr>
              <a:t>Obligation pour les assujettis (y compris conseils fiscaux) de détenir, mettre à jour et conserver les infos sur les BE pendant 10 ans.</a:t>
            </a:r>
          </a:p>
          <a:p>
            <a:pPr algn="ctr"/>
            <a:endParaRPr lang="fr-FR" dirty="0">
              <a:solidFill>
                <a:schemeClr val="tx1"/>
              </a:solidFill>
            </a:endParaRPr>
          </a:p>
        </p:txBody>
      </p:sp>
      <p:sp>
        <p:nvSpPr>
          <p:cNvPr id="3" name="Rectangle : coins arrondis 2">
            <a:extLst>
              <a:ext uri="{FF2B5EF4-FFF2-40B4-BE49-F238E27FC236}">
                <a16:creationId xmlns:a16="http://schemas.microsoft.com/office/drawing/2014/main" id="{9204A444-D727-49CF-D0C2-58B142AC9EED}"/>
              </a:ext>
            </a:extLst>
          </p:cNvPr>
          <p:cNvSpPr/>
          <p:nvPr/>
        </p:nvSpPr>
        <p:spPr>
          <a:xfrm>
            <a:off x="4586512" y="3251200"/>
            <a:ext cx="3367314" cy="282956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solidFill>
                <a:schemeClr val="tx1"/>
              </a:solidFill>
              <a:effectLst/>
              <a:latin typeface="+mj-lt"/>
            </a:endParaRPr>
          </a:p>
          <a:p>
            <a:pPr lvl="2"/>
            <a:r>
              <a:rPr lang="fr-FR" dirty="0">
                <a:solidFill>
                  <a:schemeClr val="tx1"/>
                </a:solidFill>
                <a:latin typeface="+mj-lt"/>
              </a:rPr>
              <a:t> </a:t>
            </a:r>
            <a:r>
              <a:rPr lang="fr-FR" b="1" u="sng" dirty="0">
                <a:solidFill>
                  <a:srgbClr val="C00000"/>
                </a:solidFill>
                <a:latin typeface="+mj-lt"/>
              </a:rPr>
              <a:t>LOI N° 2024-362 DU 11 JUIN 2024 :</a:t>
            </a:r>
            <a:r>
              <a:rPr lang="fr-FR" u="sng" dirty="0">
                <a:solidFill>
                  <a:srgbClr val="C00000"/>
                </a:solidFill>
                <a:latin typeface="+mj-lt"/>
              </a:rPr>
              <a:t> </a:t>
            </a:r>
          </a:p>
          <a:p>
            <a:pPr lvl="2"/>
            <a:r>
              <a:rPr lang="fr-FR" dirty="0">
                <a:solidFill>
                  <a:schemeClr val="tx1"/>
                </a:solidFill>
              </a:rPr>
              <a:t>Création d'un Registre des BE au Greffe de chaque tribunal.</a:t>
            </a:r>
          </a:p>
          <a:p>
            <a:pPr lvl="2"/>
            <a:r>
              <a:rPr lang="fr-FR" dirty="0">
                <a:solidFill>
                  <a:schemeClr val="tx1"/>
                </a:solidFill>
              </a:rPr>
              <a:t>Obligation de déclaration et de mise à jour.</a:t>
            </a:r>
          </a:p>
          <a:p>
            <a:pPr algn="ctr"/>
            <a:endParaRPr lang="fr-FR" dirty="0">
              <a:solidFill>
                <a:schemeClr val="tx1"/>
              </a:solidFill>
            </a:endParaRPr>
          </a:p>
        </p:txBody>
      </p:sp>
      <p:sp>
        <p:nvSpPr>
          <p:cNvPr id="4" name="Rectangle : coins arrondis 3">
            <a:extLst>
              <a:ext uri="{FF2B5EF4-FFF2-40B4-BE49-F238E27FC236}">
                <a16:creationId xmlns:a16="http://schemas.microsoft.com/office/drawing/2014/main" id="{CD8D63DE-4C19-E6AB-9F88-87BD0DA97D52}"/>
              </a:ext>
            </a:extLst>
          </p:cNvPr>
          <p:cNvSpPr/>
          <p:nvPr/>
        </p:nvSpPr>
        <p:spPr>
          <a:xfrm>
            <a:off x="8142510" y="3236686"/>
            <a:ext cx="3367314" cy="282956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solidFill>
                <a:schemeClr val="tx1"/>
              </a:solidFill>
              <a:effectLst/>
            </a:endParaRPr>
          </a:p>
          <a:p>
            <a:pPr lvl="1"/>
            <a:endParaRPr lang="fr-FR" b="1" dirty="0">
              <a:solidFill>
                <a:srgbClr val="C00000"/>
              </a:solidFill>
            </a:endParaRPr>
          </a:p>
          <a:p>
            <a:pPr lvl="1"/>
            <a:r>
              <a:rPr lang="fr-FR" sz="1600" b="1" u="sng" dirty="0">
                <a:solidFill>
                  <a:srgbClr val="C00000"/>
                </a:solidFill>
              </a:rPr>
              <a:t>QUAND </a:t>
            </a:r>
            <a:r>
              <a:rPr lang="fr-FR" sz="1600" b="1" u="sng" dirty="0">
                <a:solidFill>
                  <a:srgbClr val="C00000"/>
                </a:solidFill>
                <a:latin typeface="+mj-lt"/>
              </a:rPr>
              <a:t>ET</a:t>
            </a:r>
            <a:r>
              <a:rPr lang="fr-FR" sz="1600" b="1" u="sng" dirty="0">
                <a:solidFill>
                  <a:srgbClr val="C00000"/>
                </a:solidFill>
              </a:rPr>
              <a:t> OÙ DÉCLARER </a:t>
            </a:r>
            <a:r>
              <a:rPr lang="fr-FR" sz="1600" b="1" dirty="0">
                <a:solidFill>
                  <a:schemeClr val="tx1"/>
                </a:solidFill>
              </a:rPr>
              <a:t>?</a:t>
            </a:r>
            <a:endParaRPr lang="fr-FR" sz="1600" dirty="0">
              <a:solidFill>
                <a:schemeClr val="tx1"/>
              </a:solidFill>
            </a:endParaRPr>
          </a:p>
          <a:p>
            <a:pPr lvl="2"/>
            <a:r>
              <a:rPr lang="fr-FR" dirty="0">
                <a:solidFill>
                  <a:schemeClr val="tx1"/>
                </a:solidFill>
              </a:rPr>
              <a:t>À la création de l'entité.</a:t>
            </a:r>
          </a:p>
          <a:p>
            <a:pPr lvl="2"/>
            <a:r>
              <a:rPr lang="fr-FR" dirty="0">
                <a:solidFill>
                  <a:schemeClr val="tx1"/>
                </a:solidFill>
              </a:rPr>
              <a:t>À chaque modification.</a:t>
            </a:r>
          </a:p>
          <a:p>
            <a:pPr lvl="2"/>
            <a:r>
              <a:rPr lang="fr-FR" dirty="0">
                <a:solidFill>
                  <a:schemeClr val="tx1"/>
                </a:solidFill>
              </a:rPr>
              <a:t>Auprès des autorités compétentes (registre du commerce, DGI)</a:t>
            </a:r>
          </a:p>
          <a:p>
            <a:pPr lvl="2"/>
            <a:r>
              <a:rPr lang="fr-FR" dirty="0">
                <a:solidFill>
                  <a:schemeClr val="tx1"/>
                </a:solidFill>
              </a:rPr>
              <a:t>.</a:t>
            </a:r>
          </a:p>
          <a:p>
            <a:pPr algn="ctr"/>
            <a:endParaRPr lang="fr-FR" dirty="0">
              <a:solidFill>
                <a:schemeClr val="tx1"/>
              </a:solidFill>
            </a:endParaRPr>
          </a:p>
        </p:txBody>
      </p:sp>
      <p:pic>
        <p:nvPicPr>
          <p:cNvPr id="6" name="Image 5">
            <a:extLst>
              <a:ext uri="{FF2B5EF4-FFF2-40B4-BE49-F238E27FC236}">
                <a16:creationId xmlns:a16="http://schemas.microsoft.com/office/drawing/2014/main" id="{C3ADFC43-33FE-49C4-0D4F-69E27EAE97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1940" y="647745"/>
            <a:ext cx="10566399" cy="1760538"/>
          </a:xfrm>
          <a:prstGeom prst="rect">
            <a:avLst/>
          </a:prstGeom>
        </p:spPr>
      </p:pic>
      <p:sp>
        <p:nvSpPr>
          <p:cNvPr id="7" name="Rectangle 6">
            <a:extLst>
              <a:ext uri="{FF2B5EF4-FFF2-40B4-BE49-F238E27FC236}">
                <a16:creationId xmlns:a16="http://schemas.microsoft.com/office/drawing/2014/main" id="{2F5BED63-862E-D5FD-530A-250E317E0ED9}"/>
              </a:ext>
            </a:extLst>
          </p:cNvPr>
          <p:cNvSpPr/>
          <p:nvPr/>
        </p:nvSpPr>
        <p:spPr>
          <a:xfrm>
            <a:off x="3177540" y="2674620"/>
            <a:ext cx="5280660" cy="365760"/>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mj-lt"/>
              </a:rPr>
              <a:t>Mise à jour annuelle obligatoire</a:t>
            </a:r>
          </a:p>
        </p:txBody>
      </p:sp>
      <p:sp>
        <p:nvSpPr>
          <p:cNvPr id="10" name="Espace réservé du numéro de diapositive 1">
            <a:extLst>
              <a:ext uri="{FF2B5EF4-FFF2-40B4-BE49-F238E27FC236}">
                <a16:creationId xmlns:a16="http://schemas.microsoft.com/office/drawing/2014/main" id="{08BDE340-DAEA-2F6C-98BD-FAA41A83C7CB}"/>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7</a:t>
            </a:fld>
            <a:endParaRPr lang="fr-CI" dirty="0">
              <a:solidFill>
                <a:schemeClr val="bg1">
                  <a:lumMod val="65000"/>
                </a:schemeClr>
              </a:solidFill>
            </a:endParaRPr>
          </a:p>
        </p:txBody>
      </p:sp>
    </p:spTree>
    <p:extLst>
      <p:ext uri="{BB962C8B-B14F-4D97-AF65-F5344CB8AC3E}">
        <p14:creationId xmlns:p14="http://schemas.microsoft.com/office/powerpoint/2010/main" val="3436458764"/>
      </p:ext>
    </p:extLst>
  </p:cSld>
  <p:clrMapOvr>
    <a:masterClrMapping/>
  </p:clrMapOvr>
  <mc:AlternateContent xmlns:mc="http://schemas.openxmlformats.org/markup-compatibility/2006" xmlns:p14="http://schemas.microsoft.com/office/powerpoint/2010/main">
    <mc:Choice Requires="p14">
      <p:transition spd="slow" p14:dur="2000" advTm="25000"/>
    </mc:Choice>
    <mc:Fallback xmlns="">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80">
                                          <p:stCondLst>
                                            <p:cond delay="0"/>
                                          </p:stCondLst>
                                        </p:cTn>
                                        <p:tgtEl>
                                          <p:spTgt spid="2"/>
                                        </p:tgtEl>
                                      </p:cBhvr>
                                    </p:animEffect>
                                    <p:anim calcmode="lin" valueType="num">
                                      <p:cBhvr>
                                        <p:cTn id="13"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8" dur="26">
                                          <p:stCondLst>
                                            <p:cond delay="650"/>
                                          </p:stCondLst>
                                        </p:cTn>
                                        <p:tgtEl>
                                          <p:spTgt spid="2"/>
                                        </p:tgtEl>
                                      </p:cBhvr>
                                      <p:to x="100000" y="60000"/>
                                    </p:animScale>
                                    <p:animScale>
                                      <p:cBhvr>
                                        <p:cTn id="19" dur="166" decel="50000">
                                          <p:stCondLst>
                                            <p:cond delay="676"/>
                                          </p:stCondLst>
                                        </p:cTn>
                                        <p:tgtEl>
                                          <p:spTgt spid="2"/>
                                        </p:tgtEl>
                                      </p:cBhvr>
                                      <p:to x="100000" y="100000"/>
                                    </p:animScale>
                                    <p:animScale>
                                      <p:cBhvr>
                                        <p:cTn id="20" dur="26">
                                          <p:stCondLst>
                                            <p:cond delay="1312"/>
                                          </p:stCondLst>
                                        </p:cTn>
                                        <p:tgtEl>
                                          <p:spTgt spid="2"/>
                                        </p:tgtEl>
                                      </p:cBhvr>
                                      <p:to x="100000" y="80000"/>
                                    </p:animScale>
                                    <p:animScale>
                                      <p:cBhvr>
                                        <p:cTn id="21" dur="166" decel="50000">
                                          <p:stCondLst>
                                            <p:cond delay="1338"/>
                                          </p:stCondLst>
                                        </p:cTn>
                                        <p:tgtEl>
                                          <p:spTgt spid="2"/>
                                        </p:tgtEl>
                                      </p:cBhvr>
                                      <p:to x="100000" y="100000"/>
                                    </p:animScale>
                                    <p:animScale>
                                      <p:cBhvr>
                                        <p:cTn id="22" dur="26">
                                          <p:stCondLst>
                                            <p:cond delay="1642"/>
                                          </p:stCondLst>
                                        </p:cTn>
                                        <p:tgtEl>
                                          <p:spTgt spid="2"/>
                                        </p:tgtEl>
                                      </p:cBhvr>
                                      <p:to x="100000" y="90000"/>
                                    </p:animScale>
                                    <p:animScale>
                                      <p:cBhvr>
                                        <p:cTn id="23" dur="166" decel="50000">
                                          <p:stCondLst>
                                            <p:cond delay="1668"/>
                                          </p:stCondLst>
                                        </p:cTn>
                                        <p:tgtEl>
                                          <p:spTgt spid="2"/>
                                        </p:tgtEl>
                                      </p:cBhvr>
                                      <p:to x="100000" y="100000"/>
                                    </p:animScale>
                                    <p:animScale>
                                      <p:cBhvr>
                                        <p:cTn id="24" dur="26">
                                          <p:stCondLst>
                                            <p:cond delay="1808"/>
                                          </p:stCondLst>
                                        </p:cTn>
                                        <p:tgtEl>
                                          <p:spTgt spid="2"/>
                                        </p:tgtEl>
                                      </p:cBhvr>
                                      <p:to x="100000" y="95000"/>
                                    </p:animScale>
                                    <p:animScale>
                                      <p:cBhvr>
                                        <p:cTn id="25" dur="166" decel="50000">
                                          <p:stCondLst>
                                            <p:cond delay="1834"/>
                                          </p:stCondLst>
                                        </p:cTn>
                                        <p:tgtEl>
                                          <p:spTgt spid="2"/>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ppt_x"/>
                                          </p:val>
                                        </p:tav>
                                        <p:tav tm="100000">
                                          <p:val>
                                            <p:strVal val="#ppt_x"/>
                                          </p:val>
                                        </p:tav>
                                      </p:tavLst>
                                    </p:anim>
                                    <p:anim calcmode="lin" valueType="num">
                                      <p:cBhvr additive="base">
                                        <p:cTn id="3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6"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down)">
                                      <p:cBhvr>
                                        <p:cTn id="36" dur="580">
                                          <p:stCondLst>
                                            <p:cond delay="0"/>
                                          </p:stCondLst>
                                        </p:cTn>
                                        <p:tgtEl>
                                          <p:spTgt spid="4"/>
                                        </p:tgtEl>
                                      </p:cBhvr>
                                    </p:animEffect>
                                    <p:anim calcmode="lin" valueType="num">
                                      <p:cBhvr>
                                        <p:cTn id="37"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8"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9"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0"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1"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2" dur="26">
                                          <p:stCondLst>
                                            <p:cond delay="650"/>
                                          </p:stCondLst>
                                        </p:cTn>
                                        <p:tgtEl>
                                          <p:spTgt spid="4"/>
                                        </p:tgtEl>
                                      </p:cBhvr>
                                      <p:to x="100000" y="60000"/>
                                    </p:animScale>
                                    <p:animScale>
                                      <p:cBhvr>
                                        <p:cTn id="43" dur="166" decel="50000">
                                          <p:stCondLst>
                                            <p:cond delay="676"/>
                                          </p:stCondLst>
                                        </p:cTn>
                                        <p:tgtEl>
                                          <p:spTgt spid="4"/>
                                        </p:tgtEl>
                                      </p:cBhvr>
                                      <p:to x="100000" y="100000"/>
                                    </p:animScale>
                                    <p:animScale>
                                      <p:cBhvr>
                                        <p:cTn id="44" dur="26">
                                          <p:stCondLst>
                                            <p:cond delay="1312"/>
                                          </p:stCondLst>
                                        </p:cTn>
                                        <p:tgtEl>
                                          <p:spTgt spid="4"/>
                                        </p:tgtEl>
                                      </p:cBhvr>
                                      <p:to x="100000" y="80000"/>
                                    </p:animScale>
                                    <p:animScale>
                                      <p:cBhvr>
                                        <p:cTn id="45" dur="166" decel="50000">
                                          <p:stCondLst>
                                            <p:cond delay="1338"/>
                                          </p:stCondLst>
                                        </p:cTn>
                                        <p:tgtEl>
                                          <p:spTgt spid="4"/>
                                        </p:tgtEl>
                                      </p:cBhvr>
                                      <p:to x="100000" y="100000"/>
                                    </p:animScale>
                                    <p:animScale>
                                      <p:cBhvr>
                                        <p:cTn id="46" dur="26">
                                          <p:stCondLst>
                                            <p:cond delay="1642"/>
                                          </p:stCondLst>
                                        </p:cTn>
                                        <p:tgtEl>
                                          <p:spTgt spid="4"/>
                                        </p:tgtEl>
                                      </p:cBhvr>
                                      <p:to x="100000" y="90000"/>
                                    </p:animScale>
                                    <p:animScale>
                                      <p:cBhvr>
                                        <p:cTn id="47" dur="166" decel="50000">
                                          <p:stCondLst>
                                            <p:cond delay="1668"/>
                                          </p:stCondLst>
                                        </p:cTn>
                                        <p:tgtEl>
                                          <p:spTgt spid="4"/>
                                        </p:tgtEl>
                                      </p:cBhvr>
                                      <p:to x="100000" y="100000"/>
                                    </p:animScale>
                                    <p:animScale>
                                      <p:cBhvr>
                                        <p:cTn id="48" dur="26">
                                          <p:stCondLst>
                                            <p:cond delay="1808"/>
                                          </p:stCondLst>
                                        </p:cTn>
                                        <p:tgtEl>
                                          <p:spTgt spid="4"/>
                                        </p:tgtEl>
                                      </p:cBhvr>
                                      <p:to x="100000" y="95000"/>
                                    </p:animScale>
                                    <p:animScale>
                                      <p:cBhvr>
                                        <p:cTn id="49"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3F2DE63-0E43-717D-17BD-7579E4A6E6AE}"/>
              </a:ext>
            </a:extLst>
          </p:cNvPr>
          <p:cNvSpPr txBox="1"/>
          <p:nvPr/>
        </p:nvSpPr>
        <p:spPr>
          <a:xfrm>
            <a:off x="580573" y="3967973"/>
            <a:ext cx="10363200" cy="1019446"/>
          </a:xfrm>
          <a:prstGeom prst="rect">
            <a:avLst/>
          </a:prstGeom>
          <a:noFill/>
        </p:spPr>
        <p:txBody>
          <a:bodyPr wrap="square">
            <a:spAutoFit/>
          </a:bodyPr>
          <a:lstStyle/>
          <a:p>
            <a:pPr lvl="1" algn="ctr">
              <a:lnSpc>
                <a:spcPct val="115000"/>
              </a:lnSpc>
              <a:spcAft>
                <a:spcPts val="800"/>
              </a:spcAft>
              <a:buSzPts val="1000"/>
            </a:pPr>
            <a:r>
              <a:rPr lang="fr-FR" sz="2400" b="1" u="sng" kern="150" dirty="0">
                <a:solidFill>
                  <a:schemeClr val="accent4"/>
                </a:solidFill>
                <a:effectLst/>
                <a:latin typeface="+mj-lt"/>
                <a:ea typeface="Calibri" panose="020F0502020204030204" pitchFamily="34" charset="0"/>
                <a:cs typeface="Times New Roman" panose="02020603050405020304" pitchFamily="18" charset="0"/>
              </a:rPr>
              <a:t>Bonnes pratiques </a:t>
            </a:r>
            <a:r>
              <a:rPr lang="fr-FR" sz="2400" b="1" kern="150" dirty="0">
                <a:effectLst/>
                <a:latin typeface="+mj-lt"/>
                <a:ea typeface="Calibri" panose="020F0502020204030204" pitchFamily="34" charset="0"/>
                <a:cs typeface="Times New Roman" panose="02020603050405020304" pitchFamily="18" charset="0"/>
              </a:rPr>
              <a:t>:</a:t>
            </a:r>
            <a:r>
              <a:rPr lang="fr-FR" sz="2400" b="1" kern="150" dirty="0">
                <a:latin typeface="+mj-lt"/>
                <a:ea typeface="Calibri" panose="020F0502020204030204" pitchFamily="34" charset="0"/>
                <a:cs typeface="Times New Roman" panose="02020603050405020304" pitchFamily="18" charset="0"/>
              </a:rPr>
              <a:t> 1-</a:t>
            </a:r>
            <a:r>
              <a:rPr lang="fr-FR" sz="2400" b="1" kern="150" dirty="0">
                <a:effectLst/>
                <a:latin typeface="+mj-lt"/>
                <a:ea typeface="Calibri" panose="020F0502020204030204" pitchFamily="34" charset="0"/>
                <a:cs typeface="Times New Roman" panose="02020603050405020304" pitchFamily="18" charset="0"/>
              </a:rPr>
              <a:t>Tenir un registre </a:t>
            </a:r>
            <a:r>
              <a:rPr lang="fr-FR" sz="2400" b="1" kern="150" dirty="0">
                <a:latin typeface="+mj-lt"/>
                <a:ea typeface="Calibri" panose="020F0502020204030204" pitchFamily="34" charset="0"/>
                <a:cs typeface="Times New Roman" panose="02020603050405020304" pitchFamily="18" charset="0"/>
              </a:rPr>
              <a:t>interne</a:t>
            </a:r>
          </a:p>
          <a:p>
            <a:pPr lvl="1" algn="ctr">
              <a:lnSpc>
                <a:spcPct val="115000"/>
              </a:lnSpc>
              <a:spcAft>
                <a:spcPts val="800"/>
              </a:spcAft>
              <a:buSzPts val="1000"/>
            </a:pPr>
            <a:r>
              <a:rPr lang="fr-FR" sz="2400" b="1" kern="150" dirty="0">
                <a:effectLst/>
                <a:latin typeface="+mj-lt"/>
                <a:ea typeface="Calibri" panose="020F0502020204030204" pitchFamily="34" charset="0"/>
                <a:cs typeface="Times New Roman" panose="02020603050405020304" pitchFamily="18" charset="0"/>
              </a:rPr>
              <a:t>                                                        2-</a:t>
            </a:r>
            <a:r>
              <a:rPr lang="fr-FR" sz="2400" b="1" kern="150" dirty="0">
                <a:latin typeface="+mj-lt"/>
                <a:ea typeface="Calibri" panose="020F0502020204030204" pitchFamily="34" charset="0"/>
                <a:cs typeface="Times New Roman" panose="02020603050405020304" pitchFamily="18" charset="0"/>
              </a:rPr>
              <a:t>V</a:t>
            </a:r>
            <a:r>
              <a:rPr lang="fr-FR" sz="2400" b="1" kern="150" dirty="0">
                <a:effectLst/>
                <a:latin typeface="+mj-lt"/>
                <a:ea typeface="Calibri" panose="020F0502020204030204" pitchFamily="34" charset="0"/>
                <a:cs typeface="Times New Roman" panose="02020603050405020304" pitchFamily="18" charset="0"/>
              </a:rPr>
              <a:t>érifier régulièrement la conformité.</a:t>
            </a:r>
          </a:p>
        </p:txBody>
      </p:sp>
      <p:pic>
        <p:nvPicPr>
          <p:cNvPr id="2052" name="Picture 4" descr="Thumbs up contour autocollant superposition vecteur">
            <a:extLst>
              <a:ext uri="{FF2B5EF4-FFF2-40B4-BE49-F238E27FC236}">
                <a16:creationId xmlns:a16="http://schemas.microsoft.com/office/drawing/2014/main" id="{4F77D00D-B9D9-372C-FE2C-106B6E76C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799" y="1045023"/>
            <a:ext cx="2195288" cy="2195288"/>
          </a:xfrm>
          <a:prstGeom prst="rect">
            <a:avLst/>
          </a:prstGeom>
          <a:noFill/>
          <a:extLst>
            <a:ext uri="{909E8E84-426E-40DD-AFC4-6F175D3DCCD1}">
              <a14:hiddenFill xmlns:a14="http://schemas.microsoft.com/office/drawing/2010/main">
                <a:solidFill>
                  <a:srgbClr val="FFFFFF"/>
                </a:solidFill>
              </a14:hiddenFill>
            </a:ext>
          </a:extLst>
        </p:spPr>
      </p:pic>
      <p:sp>
        <p:nvSpPr>
          <p:cNvPr id="7" name="Espace réservé du numéro de diapositive 1">
            <a:extLst>
              <a:ext uri="{FF2B5EF4-FFF2-40B4-BE49-F238E27FC236}">
                <a16:creationId xmlns:a16="http://schemas.microsoft.com/office/drawing/2014/main" id="{0140A44F-2F6C-2D42-C849-F0A02638E558}"/>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8</a:t>
            </a:fld>
            <a:endParaRPr lang="fr-CI" dirty="0">
              <a:solidFill>
                <a:schemeClr val="bg1">
                  <a:lumMod val="65000"/>
                </a:schemeClr>
              </a:solidFill>
            </a:endParaRPr>
          </a:p>
        </p:txBody>
      </p:sp>
      <p:sp>
        <p:nvSpPr>
          <p:cNvPr id="9" name="ZoneTexte 8">
            <a:extLst>
              <a:ext uri="{FF2B5EF4-FFF2-40B4-BE49-F238E27FC236}">
                <a16:creationId xmlns:a16="http://schemas.microsoft.com/office/drawing/2014/main" id="{75032489-4096-E6A9-61D3-367779BD94BE}"/>
              </a:ext>
            </a:extLst>
          </p:cNvPr>
          <p:cNvSpPr txBox="1"/>
          <p:nvPr/>
        </p:nvSpPr>
        <p:spPr>
          <a:xfrm>
            <a:off x="994230" y="141292"/>
            <a:ext cx="8570684" cy="369332"/>
          </a:xfrm>
          <a:prstGeom prst="rect">
            <a:avLst/>
          </a:prstGeom>
          <a:noFill/>
        </p:spPr>
        <p:txBody>
          <a:bodyPr wrap="square">
            <a:spAutoFit/>
          </a:bodyPr>
          <a:lstStyle/>
          <a:p>
            <a:r>
              <a:rPr lang="fr-FR" b="1" dirty="0">
                <a:solidFill>
                  <a:schemeClr val="accent4"/>
                </a:solidFill>
              </a:rPr>
              <a:t>OBLIGATIONS ET CADRE LEGAL DE LA DECLARATION DES BÉNÉFICIAIRES EFFECTIFS (BE)</a:t>
            </a:r>
            <a:endParaRPr lang="fr-FR" dirty="0"/>
          </a:p>
        </p:txBody>
      </p:sp>
      <p:cxnSp>
        <p:nvCxnSpPr>
          <p:cNvPr id="11" name="Connecteur droit 10">
            <a:extLst>
              <a:ext uri="{FF2B5EF4-FFF2-40B4-BE49-F238E27FC236}">
                <a16:creationId xmlns:a16="http://schemas.microsoft.com/office/drawing/2014/main" id="{31BAA36C-2F6B-3E59-FA31-0D1C1F67A93C}"/>
              </a:ext>
            </a:extLst>
          </p:cNvPr>
          <p:cNvCxnSpPr/>
          <p:nvPr/>
        </p:nvCxnSpPr>
        <p:spPr>
          <a:xfrm>
            <a:off x="991828" y="580573"/>
            <a:ext cx="1089537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64668031"/>
      </p:ext>
    </p:extLst>
  </p:cSld>
  <p:clrMapOvr>
    <a:masterClrMapping/>
  </p:clrMapOvr>
  <p:transition spd="slow" advTm="8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wipe(down)">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FC403B-DBA6-F376-181F-F5826EB6FC22}"/>
              </a:ext>
            </a:extLst>
          </p:cNvPr>
          <p:cNvSpPr>
            <a:spLocks noGrp="1"/>
          </p:cNvSpPr>
          <p:nvPr>
            <p:ph type="ctrTitle"/>
          </p:nvPr>
        </p:nvSpPr>
        <p:spPr>
          <a:xfrm>
            <a:off x="1524000" y="1964189"/>
            <a:ext cx="9144000" cy="2387600"/>
          </a:xfrm>
        </p:spPr>
        <p:txBody>
          <a:bodyPr>
            <a:normAutofit fontScale="90000"/>
          </a:bodyPr>
          <a:lstStyle/>
          <a:p>
            <a:r>
              <a:rPr lang="fr-FR" b="1" dirty="0">
                <a:solidFill>
                  <a:schemeClr val="accent4"/>
                </a:solidFill>
              </a:rPr>
              <a:t>III-SANCTIONS LIEES A LA DECLARATION DES BÉNÉFICIAIRES EFFECTIFS (BE)</a:t>
            </a:r>
            <a:endParaRPr lang="fr-FR" dirty="0"/>
          </a:p>
        </p:txBody>
      </p:sp>
      <p:sp>
        <p:nvSpPr>
          <p:cNvPr id="7" name="Espace réservé du numéro de diapositive 1">
            <a:extLst>
              <a:ext uri="{FF2B5EF4-FFF2-40B4-BE49-F238E27FC236}">
                <a16:creationId xmlns:a16="http://schemas.microsoft.com/office/drawing/2014/main" id="{DB9B0365-739B-C7D5-FC38-6696BDC4B75E}"/>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9</a:t>
            </a:fld>
            <a:endParaRPr lang="fr-CI" dirty="0">
              <a:solidFill>
                <a:schemeClr val="bg1">
                  <a:lumMod val="65000"/>
                </a:schemeClr>
              </a:solidFill>
            </a:endParaRPr>
          </a:p>
        </p:txBody>
      </p:sp>
    </p:spTree>
    <p:extLst>
      <p:ext uri="{BB962C8B-B14F-4D97-AF65-F5344CB8AC3E}">
        <p14:creationId xmlns:p14="http://schemas.microsoft.com/office/powerpoint/2010/main" val="3656028447"/>
      </p:ext>
    </p:extLst>
  </p:cSld>
  <p:clrMapOvr>
    <a:masterClrMapping/>
  </p:clrMapOvr>
  <p:transition spd="slow" advTm="5000">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BB5CE-E86A-6EE6-C7EC-9F605E04A9EF}"/>
              </a:ext>
            </a:extLst>
          </p:cNvPr>
          <p:cNvSpPr>
            <a:spLocks noGrp="1"/>
          </p:cNvSpPr>
          <p:nvPr>
            <p:ph type="title"/>
          </p:nvPr>
        </p:nvSpPr>
        <p:spPr/>
        <p:txBody>
          <a:bodyPr/>
          <a:lstStyle/>
          <a:p>
            <a:r>
              <a:rPr lang="fr-FR" b="1" u="sng" dirty="0"/>
              <a:t>SANCTIONS EN CAS DE NON-CONFORMITÉ</a:t>
            </a:r>
          </a:p>
        </p:txBody>
      </p:sp>
      <p:sp>
        <p:nvSpPr>
          <p:cNvPr id="3" name="Espace réservé du contenu 2">
            <a:extLst>
              <a:ext uri="{FF2B5EF4-FFF2-40B4-BE49-F238E27FC236}">
                <a16:creationId xmlns:a16="http://schemas.microsoft.com/office/drawing/2014/main" id="{8E5FA42D-EF60-0A8A-0DCC-BB25E1B9B57A}"/>
              </a:ext>
            </a:extLst>
          </p:cNvPr>
          <p:cNvSpPr>
            <a:spLocks noGrp="1"/>
          </p:cNvSpPr>
          <p:nvPr>
            <p:ph idx="1"/>
          </p:nvPr>
        </p:nvSpPr>
        <p:spPr/>
        <p:txBody>
          <a:bodyPr>
            <a:normAutofit/>
          </a:bodyPr>
          <a:lstStyle/>
          <a:p>
            <a:pPr marL="0" indent="0">
              <a:buNone/>
            </a:pPr>
            <a:r>
              <a:rPr lang="fr-FR" dirty="0"/>
              <a:t>                                            </a:t>
            </a:r>
            <a:endParaRPr lang="fr-FR" dirty="0">
              <a:effectLst/>
            </a:endParaRPr>
          </a:p>
          <a:p>
            <a:pPr marL="457200" lvl="1" indent="0">
              <a:buNone/>
            </a:pPr>
            <a:r>
              <a:rPr lang="fr-FR" b="1" dirty="0"/>
              <a:t>      </a:t>
            </a:r>
            <a:r>
              <a:rPr lang="fr-FR" sz="2800" b="1" dirty="0">
                <a:solidFill>
                  <a:srgbClr val="C00000"/>
                </a:solidFill>
              </a:rPr>
              <a:t>Sanctions fiscales </a:t>
            </a:r>
            <a:r>
              <a:rPr lang="fr-FR" b="1" dirty="0"/>
              <a:t>:</a:t>
            </a:r>
            <a:r>
              <a:rPr lang="fr-FR" dirty="0"/>
              <a:t> </a:t>
            </a:r>
          </a:p>
          <a:p>
            <a:pPr lvl="2"/>
            <a:r>
              <a:rPr lang="fr-FR" dirty="0"/>
              <a:t>1 000 000 FCFA pour non-déclaration initiale.</a:t>
            </a:r>
          </a:p>
          <a:p>
            <a:pPr lvl="2"/>
            <a:r>
              <a:rPr lang="fr-FR" dirty="0"/>
              <a:t>5 000 000 FCFA pour non-tenue/non-disponibilité du registre BE (+ 500 000 FCFA/mois de retard).</a:t>
            </a:r>
          </a:p>
          <a:p>
            <a:pPr lvl="2"/>
            <a:r>
              <a:rPr lang="fr-FR" dirty="0"/>
              <a:t>500 000 FCFA par erreur ou omission dans le registre.</a:t>
            </a:r>
          </a:p>
          <a:p>
            <a:pPr marL="0" indent="0">
              <a:buNone/>
            </a:pPr>
            <a:endParaRPr lang="fr-FR" dirty="0"/>
          </a:p>
          <a:p>
            <a:pPr marL="0" indent="0">
              <a:buNone/>
            </a:pPr>
            <a:r>
              <a:rPr lang="fr-FR" dirty="0"/>
              <a:t>           </a:t>
            </a:r>
            <a:r>
              <a:rPr lang="fr-FR" b="1" dirty="0">
                <a:solidFill>
                  <a:srgbClr val="C00000"/>
                </a:solidFill>
              </a:rPr>
              <a:t>Sanctions pénales (Loi n° 2024-362 art. 11) </a:t>
            </a:r>
            <a:r>
              <a:rPr lang="fr-FR" b="1" dirty="0"/>
              <a:t>:</a:t>
            </a:r>
            <a:r>
              <a:rPr lang="fr-FR" dirty="0"/>
              <a:t> </a:t>
            </a:r>
          </a:p>
          <a:p>
            <a:pPr lvl="2"/>
            <a:r>
              <a:rPr lang="fr-FR" dirty="0"/>
              <a:t>Emprisonnement (1 à 6 mois) et/ou amende (100 000 à 1 000 000 FCFA) pour non-déclaration au Registre national.</a:t>
            </a:r>
          </a:p>
          <a:p>
            <a:pPr marL="0" indent="0">
              <a:buNone/>
            </a:pPr>
            <a:endParaRPr lang="fr-FR" dirty="0"/>
          </a:p>
        </p:txBody>
      </p:sp>
      <p:sp>
        <p:nvSpPr>
          <p:cNvPr id="6" name="Organigramme : Délai 5">
            <a:extLst>
              <a:ext uri="{FF2B5EF4-FFF2-40B4-BE49-F238E27FC236}">
                <a16:creationId xmlns:a16="http://schemas.microsoft.com/office/drawing/2014/main" id="{E9907135-DD5B-45C4-1836-36DD549439BA}"/>
              </a:ext>
            </a:extLst>
          </p:cNvPr>
          <p:cNvSpPr/>
          <p:nvPr/>
        </p:nvSpPr>
        <p:spPr>
          <a:xfrm>
            <a:off x="783774" y="2351313"/>
            <a:ext cx="870857" cy="290286"/>
          </a:xfrm>
          <a:prstGeom prst="flowChartDela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Délai 6">
            <a:extLst>
              <a:ext uri="{FF2B5EF4-FFF2-40B4-BE49-F238E27FC236}">
                <a16:creationId xmlns:a16="http://schemas.microsoft.com/office/drawing/2014/main" id="{000284E3-949C-9B93-E038-87260146302D}"/>
              </a:ext>
            </a:extLst>
          </p:cNvPr>
          <p:cNvSpPr/>
          <p:nvPr/>
        </p:nvSpPr>
        <p:spPr>
          <a:xfrm>
            <a:off x="762005" y="4680855"/>
            <a:ext cx="870857" cy="290286"/>
          </a:xfrm>
          <a:prstGeom prst="flowChartDela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numéro de diapositive 1">
            <a:extLst>
              <a:ext uri="{FF2B5EF4-FFF2-40B4-BE49-F238E27FC236}">
                <a16:creationId xmlns:a16="http://schemas.microsoft.com/office/drawing/2014/main" id="{E5AD1804-631E-6072-B83A-EE01E140C462}"/>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10</a:t>
            </a:fld>
            <a:endParaRPr lang="fr-CI" dirty="0">
              <a:solidFill>
                <a:schemeClr val="bg1">
                  <a:lumMod val="65000"/>
                </a:schemeClr>
              </a:solidFill>
            </a:endParaRPr>
          </a:p>
        </p:txBody>
      </p:sp>
    </p:spTree>
    <p:extLst>
      <p:ext uri="{BB962C8B-B14F-4D97-AF65-F5344CB8AC3E}">
        <p14:creationId xmlns:p14="http://schemas.microsoft.com/office/powerpoint/2010/main" val="4186535938"/>
      </p:ext>
    </p:extLst>
  </p:cSld>
  <p:clrMapOvr>
    <a:masterClrMapping/>
  </p:clrMapOvr>
  <p:transition spd="slow" advTm="15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1000"/>
                                        <p:tgtEl>
                                          <p:spTgt spid="3">
                                            <p:txEl>
                                              <p:pRg st="6" end="6"/>
                                            </p:txEl>
                                          </p:spTgt>
                                        </p:tgtEl>
                                      </p:cBhvr>
                                    </p:animEffect>
                                    <p:anim calcmode="lin" valueType="num">
                                      <p:cBhvr>
                                        <p:cTn id="3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1000"/>
                                        <p:tgtEl>
                                          <p:spTgt spid="3">
                                            <p:txEl>
                                              <p:pRg st="7" end="7"/>
                                            </p:txEl>
                                          </p:spTgt>
                                        </p:tgtEl>
                                      </p:cBhvr>
                                    </p:animEffect>
                                    <p:anim calcmode="lin" valueType="num">
                                      <p:cBhvr>
                                        <p:cTn id="4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F3C878-35D9-6756-8FB4-97FE551FE238}"/>
              </a:ext>
            </a:extLst>
          </p:cNvPr>
          <p:cNvSpPr>
            <a:spLocks noGrp="1"/>
          </p:cNvSpPr>
          <p:nvPr>
            <p:ph type="title"/>
          </p:nvPr>
        </p:nvSpPr>
        <p:spPr/>
        <p:txBody>
          <a:bodyPr/>
          <a:lstStyle/>
          <a:p>
            <a:pPr algn="ctr"/>
            <a:r>
              <a:rPr lang="fr-FR" b="1" dirty="0">
                <a:solidFill>
                  <a:schemeClr val="accent4"/>
                </a:solidFill>
              </a:rPr>
              <a:t>IV-LES FACILITATEURS PROFESSIONNELS DU BLANCHIMENT</a:t>
            </a:r>
            <a:endParaRPr lang="fr-FR" dirty="0"/>
          </a:p>
        </p:txBody>
      </p:sp>
      <p:sp>
        <p:nvSpPr>
          <p:cNvPr id="7" name="Espace réservé du numéro de diapositive 1">
            <a:extLst>
              <a:ext uri="{FF2B5EF4-FFF2-40B4-BE49-F238E27FC236}">
                <a16:creationId xmlns:a16="http://schemas.microsoft.com/office/drawing/2014/main" id="{B615A3F0-C69B-A201-5644-C4C7953467DF}"/>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11</a:t>
            </a:fld>
            <a:endParaRPr lang="fr-CI" dirty="0">
              <a:solidFill>
                <a:schemeClr val="bg1">
                  <a:lumMod val="65000"/>
                </a:schemeClr>
              </a:solidFill>
            </a:endParaRPr>
          </a:p>
        </p:txBody>
      </p:sp>
    </p:spTree>
    <p:extLst>
      <p:ext uri="{BB962C8B-B14F-4D97-AF65-F5344CB8AC3E}">
        <p14:creationId xmlns:p14="http://schemas.microsoft.com/office/powerpoint/2010/main" val="437488305"/>
      </p:ext>
    </p:extLst>
  </p:cSld>
  <p:clrMapOvr>
    <a:masterClrMapping/>
  </p:clrMapOvr>
  <mc:AlternateContent xmlns:mc="http://schemas.openxmlformats.org/markup-compatibility/2006" xmlns:p14="http://schemas.microsoft.com/office/powerpoint/2010/main">
    <mc:Choice Requires="p14">
      <p:transition spd="slow" p14:dur="3400" advTm="5000">
        <p14:reveal/>
      </p:transition>
    </mc:Choice>
    <mc:Fallback xmlns="">
      <p:transition spd="slow" advTm="5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FB3C86-4535-7CEC-02D2-FE0717B9C00E}"/>
              </a:ext>
            </a:extLst>
          </p:cNvPr>
          <p:cNvSpPr>
            <a:spLocks noGrp="1"/>
          </p:cNvSpPr>
          <p:nvPr>
            <p:ph type="title"/>
          </p:nvPr>
        </p:nvSpPr>
        <p:spPr>
          <a:xfrm>
            <a:off x="841823" y="1119864"/>
            <a:ext cx="11669488" cy="1768475"/>
          </a:xfrm>
        </p:spPr>
        <p:txBody>
          <a:bodyPr>
            <a:noAutofit/>
          </a:bodyPr>
          <a:lstStyle/>
          <a:p>
            <a:br>
              <a:rPr lang="fr-FR" sz="2400" dirty="0">
                <a:effectLst/>
              </a:rPr>
            </a:br>
            <a:r>
              <a:rPr lang="fr-FR" sz="2000" b="1" u="sng" dirty="0">
                <a:solidFill>
                  <a:schemeClr val="accent4"/>
                </a:solidFill>
              </a:rPr>
              <a:t>Définition</a:t>
            </a:r>
            <a:r>
              <a:rPr lang="fr-FR" sz="2000" b="1" dirty="0">
                <a:solidFill>
                  <a:schemeClr val="accent4"/>
                </a:solidFill>
              </a:rPr>
              <a:t> </a:t>
            </a:r>
            <a:r>
              <a:rPr lang="fr-FR" sz="2000" b="1" dirty="0"/>
              <a:t>:</a:t>
            </a:r>
            <a:r>
              <a:rPr lang="fr-FR" sz="2000" dirty="0"/>
              <a:t> </a:t>
            </a:r>
            <a:r>
              <a:rPr lang="fr-FR" sz="2000" b="1" dirty="0"/>
              <a:t>Ce sont des personnes qui, pour une rémunération, fournissent des services de blanchiment de capitaux pour le compte d'autres.</a:t>
            </a:r>
            <a:br>
              <a:rPr lang="fr-FR" sz="2000" dirty="0"/>
            </a:br>
            <a:r>
              <a:rPr lang="fr-FR" sz="2000" dirty="0"/>
              <a:t>Ils exploitent leur expertise pour mettre en œuvre des techniques sophistiquées, souvent en tirant parti</a:t>
            </a:r>
            <a:br>
              <a:rPr lang="fr-FR" sz="2000" dirty="0"/>
            </a:br>
            <a:r>
              <a:rPr lang="fr-FR" sz="2000" dirty="0"/>
              <a:t>de failles dans les systèmes financiers et juridiques. Ces services peuvent inclure la création de sociétés</a:t>
            </a:r>
            <a:br>
              <a:rPr lang="fr-FR" sz="2000" dirty="0"/>
            </a:br>
            <a:r>
              <a:rPr lang="fr-FR" sz="2000" dirty="0"/>
              <a:t>offshore, la gestion de comptes bancaires, l'achat et la vente d'actifs, et d'autres activités visant à dissimuler</a:t>
            </a:r>
            <a:br>
              <a:rPr lang="fr-FR" sz="2000" dirty="0"/>
            </a:br>
            <a:r>
              <a:rPr lang="fr-FR" sz="2000" dirty="0"/>
              <a:t>la provenance des fonds illicites</a:t>
            </a:r>
            <a:r>
              <a:rPr lang="fr-FR" sz="2000" b="1" dirty="0"/>
              <a:t> .</a:t>
            </a:r>
            <a:br>
              <a:rPr lang="fr-FR" sz="2400" dirty="0"/>
            </a:br>
            <a:endParaRPr lang="fr-FR" sz="2400" dirty="0"/>
          </a:p>
        </p:txBody>
      </p:sp>
      <p:sp>
        <p:nvSpPr>
          <p:cNvPr id="3" name="Espace réservé du contenu 2">
            <a:extLst>
              <a:ext uri="{FF2B5EF4-FFF2-40B4-BE49-F238E27FC236}">
                <a16:creationId xmlns:a16="http://schemas.microsoft.com/office/drawing/2014/main" id="{EF5E2780-3A83-5A92-FC17-F181CA04FCEC}"/>
              </a:ext>
            </a:extLst>
          </p:cNvPr>
          <p:cNvSpPr>
            <a:spLocks noGrp="1"/>
          </p:cNvSpPr>
          <p:nvPr>
            <p:ph sz="half" idx="1"/>
          </p:nvPr>
        </p:nvSpPr>
        <p:spPr>
          <a:xfrm>
            <a:off x="838200" y="3715658"/>
            <a:ext cx="5181600" cy="3927247"/>
          </a:xfrm>
        </p:spPr>
        <p:txBody>
          <a:bodyPr/>
          <a:lstStyle/>
          <a:p>
            <a:pPr marL="0" indent="0">
              <a:buNone/>
            </a:pPr>
            <a:r>
              <a:rPr lang="fr-FR" b="1" dirty="0">
                <a:solidFill>
                  <a:schemeClr val="accent4"/>
                </a:solidFill>
                <a:latin typeface="+mj-lt"/>
              </a:rPr>
              <a:t>     </a:t>
            </a:r>
            <a:r>
              <a:rPr lang="fr-FR" sz="2400" b="1" u="sng" dirty="0">
                <a:solidFill>
                  <a:schemeClr val="accent4"/>
                </a:solidFill>
                <a:latin typeface="+mj-lt"/>
              </a:rPr>
              <a:t>Acteurs </a:t>
            </a:r>
            <a:r>
              <a:rPr lang="fr-FR" sz="2400" b="1" dirty="0">
                <a:latin typeface="+mj-lt"/>
              </a:rPr>
              <a:t>:</a:t>
            </a:r>
            <a:r>
              <a:rPr lang="fr-FR" sz="2400" dirty="0">
                <a:latin typeface="+mj-lt"/>
              </a:rPr>
              <a:t> </a:t>
            </a:r>
            <a:r>
              <a:rPr lang="fr-FR" sz="2000" dirty="0">
                <a:latin typeface="+mj-lt"/>
              </a:rPr>
              <a:t>Souvent des professionnels du droit, de la finance ou de l’assurance</a:t>
            </a:r>
            <a:r>
              <a:rPr lang="fr-FR" sz="2400" dirty="0">
                <a:latin typeface="+mj-lt"/>
              </a:rPr>
              <a:t>.</a:t>
            </a:r>
          </a:p>
          <a:p>
            <a:pPr marL="457200" lvl="1" indent="0">
              <a:buNone/>
            </a:pPr>
            <a:endParaRPr lang="fr-FR" sz="2000" dirty="0"/>
          </a:p>
          <a:p>
            <a:pPr marL="457200" lvl="1" indent="0">
              <a:buNone/>
            </a:pPr>
            <a:r>
              <a:rPr lang="fr-FR" b="1" u="sng" dirty="0">
                <a:solidFill>
                  <a:schemeClr val="accent4"/>
                </a:solidFill>
                <a:latin typeface="+mj-lt"/>
              </a:rPr>
              <a:t>Méthodes</a:t>
            </a:r>
            <a:r>
              <a:rPr lang="fr-FR" sz="2000" b="1" dirty="0">
                <a:solidFill>
                  <a:schemeClr val="accent4"/>
                </a:solidFill>
                <a:latin typeface="+mj-lt"/>
              </a:rPr>
              <a:t> </a:t>
            </a:r>
            <a:r>
              <a:rPr lang="fr-FR" sz="2000" b="1" dirty="0">
                <a:latin typeface="+mj-lt"/>
              </a:rPr>
              <a:t>:</a:t>
            </a:r>
            <a:r>
              <a:rPr lang="fr-FR" sz="2000" dirty="0">
                <a:latin typeface="+mj-lt"/>
              </a:rPr>
              <a:t> Exploitation des failles réglementaires, structures complexes, services à plusieurs groupes criminels.</a:t>
            </a:r>
          </a:p>
          <a:p>
            <a:endParaRPr lang="fr-FR" dirty="0"/>
          </a:p>
        </p:txBody>
      </p:sp>
      <p:sp>
        <p:nvSpPr>
          <p:cNvPr id="4" name="Espace réservé du contenu 3">
            <a:extLst>
              <a:ext uri="{FF2B5EF4-FFF2-40B4-BE49-F238E27FC236}">
                <a16:creationId xmlns:a16="http://schemas.microsoft.com/office/drawing/2014/main" id="{D2FCB730-BB26-B946-231A-BBFEF1336567}"/>
              </a:ext>
            </a:extLst>
          </p:cNvPr>
          <p:cNvSpPr>
            <a:spLocks noGrp="1"/>
          </p:cNvSpPr>
          <p:nvPr>
            <p:ph sz="half" idx="2"/>
          </p:nvPr>
        </p:nvSpPr>
        <p:spPr>
          <a:xfrm>
            <a:off x="6172200" y="3004454"/>
            <a:ext cx="5181600" cy="3767591"/>
          </a:xfrm>
        </p:spPr>
        <p:txBody>
          <a:bodyPr/>
          <a:lstStyle/>
          <a:p>
            <a:pPr marL="457200" lvl="1" indent="0">
              <a:buNone/>
            </a:pPr>
            <a:r>
              <a:rPr lang="fr-FR" sz="2800" b="1" dirty="0">
                <a:solidFill>
                  <a:schemeClr val="accent4"/>
                </a:solidFill>
                <a:latin typeface="+mj-lt"/>
              </a:rPr>
              <a:t>       </a:t>
            </a:r>
            <a:r>
              <a:rPr lang="fr-FR" sz="2800" b="1" u="sng" dirty="0">
                <a:solidFill>
                  <a:schemeClr val="accent4"/>
                </a:solidFill>
                <a:latin typeface="+mj-lt"/>
              </a:rPr>
              <a:t>Typologies principales </a:t>
            </a:r>
            <a:r>
              <a:rPr lang="fr-FR" sz="2800" b="1" dirty="0">
                <a:solidFill>
                  <a:schemeClr val="accent4"/>
                </a:solidFill>
                <a:latin typeface="+mj-lt"/>
              </a:rPr>
              <a:t>: </a:t>
            </a:r>
          </a:p>
          <a:p>
            <a:pPr marL="457200" lvl="1" indent="0">
              <a:buNone/>
            </a:pPr>
            <a:endParaRPr lang="fr-FR" dirty="0">
              <a:latin typeface="+mj-lt"/>
            </a:endParaRPr>
          </a:p>
          <a:p>
            <a:pPr lvl="2"/>
            <a:r>
              <a:rPr lang="fr-FR" dirty="0">
                <a:latin typeface="+mj-lt"/>
              </a:rPr>
              <a:t>Fausses polices d’assurance (primes élevées masquant des échanges illicites).</a:t>
            </a:r>
          </a:p>
          <a:p>
            <a:pPr lvl="2"/>
            <a:r>
              <a:rPr lang="fr-FR" dirty="0">
                <a:latin typeface="+mj-lt"/>
              </a:rPr>
              <a:t>Intermédiaires juridiques (cabinets d’avocats servant de relais pour fonds douteux via montages transfrontaliers).</a:t>
            </a:r>
          </a:p>
          <a:p>
            <a:pPr marL="0" indent="0">
              <a:buNone/>
            </a:pPr>
            <a:endParaRPr lang="fr-FR" dirty="0"/>
          </a:p>
        </p:txBody>
      </p:sp>
      <p:cxnSp>
        <p:nvCxnSpPr>
          <p:cNvPr id="6" name="Connecteur droit 5">
            <a:extLst>
              <a:ext uri="{FF2B5EF4-FFF2-40B4-BE49-F238E27FC236}">
                <a16:creationId xmlns:a16="http://schemas.microsoft.com/office/drawing/2014/main" id="{B141CD2E-4ADF-316D-91B9-18E1D2663551}"/>
              </a:ext>
            </a:extLst>
          </p:cNvPr>
          <p:cNvCxnSpPr>
            <a:cxnSpLocks/>
          </p:cNvCxnSpPr>
          <p:nvPr/>
        </p:nvCxnSpPr>
        <p:spPr>
          <a:xfrm>
            <a:off x="838200" y="3048002"/>
            <a:ext cx="11292118" cy="0"/>
          </a:xfrm>
          <a:prstGeom prst="line">
            <a:avLst/>
          </a:prstGeom>
        </p:spPr>
        <p:style>
          <a:lnRef idx="1">
            <a:schemeClr val="dk1"/>
          </a:lnRef>
          <a:fillRef idx="0">
            <a:schemeClr val="dk1"/>
          </a:fillRef>
          <a:effectRef idx="0">
            <a:schemeClr val="dk1"/>
          </a:effectRef>
          <a:fontRef idx="minor">
            <a:schemeClr val="tx1"/>
          </a:fontRef>
        </p:style>
      </p:cxnSp>
      <p:sp>
        <p:nvSpPr>
          <p:cNvPr id="12" name="Espace réservé du numéro de diapositive 1">
            <a:extLst>
              <a:ext uri="{FF2B5EF4-FFF2-40B4-BE49-F238E27FC236}">
                <a16:creationId xmlns:a16="http://schemas.microsoft.com/office/drawing/2014/main" id="{822BAE58-8068-A849-A21A-1B82D96586AA}"/>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12</a:t>
            </a:fld>
            <a:endParaRPr lang="fr-CI" dirty="0">
              <a:solidFill>
                <a:schemeClr val="bg1">
                  <a:lumMod val="65000"/>
                </a:schemeClr>
              </a:solidFill>
            </a:endParaRPr>
          </a:p>
        </p:txBody>
      </p:sp>
      <p:cxnSp>
        <p:nvCxnSpPr>
          <p:cNvPr id="14" name="Connecteur droit 13">
            <a:extLst>
              <a:ext uri="{FF2B5EF4-FFF2-40B4-BE49-F238E27FC236}">
                <a16:creationId xmlns:a16="http://schemas.microsoft.com/office/drawing/2014/main" id="{588041CE-1694-E729-A050-F0D00FB8A9DA}"/>
              </a:ext>
            </a:extLst>
          </p:cNvPr>
          <p:cNvCxnSpPr>
            <a:cxnSpLocks/>
          </p:cNvCxnSpPr>
          <p:nvPr/>
        </p:nvCxnSpPr>
        <p:spPr>
          <a:xfrm>
            <a:off x="6027057" y="3048002"/>
            <a:ext cx="0" cy="3091541"/>
          </a:xfrm>
          <a:prstGeom prst="line">
            <a:avLst/>
          </a:prstGeom>
        </p:spPr>
        <p:style>
          <a:lnRef idx="1">
            <a:schemeClr val="dk1"/>
          </a:lnRef>
          <a:fillRef idx="0">
            <a:schemeClr val="dk1"/>
          </a:fillRef>
          <a:effectRef idx="0">
            <a:schemeClr val="dk1"/>
          </a:effectRef>
          <a:fontRef idx="minor">
            <a:schemeClr val="tx1"/>
          </a:fontRef>
        </p:style>
      </p:cxnSp>
      <p:sp>
        <p:nvSpPr>
          <p:cNvPr id="16" name="ZoneTexte 15">
            <a:extLst>
              <a:ext uri="{FF2B5EF4-FFF2-40B4-BE49-F238E27FC236}">
                <a16:creationId xmlns:a16="http://schemas.microsoft.com/office/drawing/2014/main" id="{6C392F66-845D-FB84-5E28-54764A8E0935}"/>
              </a:ext>
            </a:extLst>
          </p:cNvPr>
          <p:cNvSpPr txBox="1"/>
          <p:nvPr/>
        </p:nvSpPr>
        <p:spPr>
          <a:xfrm>
            <a:off x="849088" y="149163"/>
            <a:ext cx="6836228" cy="369332"/>
          </a:xfrm>
          <a:prstGeom prst="rect">
            <a:avLst/>
          </a:prstGeom>
          <a:noFill/>
        </p:spPr>
        <p:txBody>
          <a:bodyPr wrap="square">
            <a:spAutoFit/>
          </a:bodyPr>
          <a:lstStyle/>
          <a:p>
            <a:r>
              <a:rPr lang="fr-FR" b="1" dirty="0">
                <a:solidFill>
                  <a:schemeClr val="accent4"/>
                </a:solidFill>
              </a:rPr>
              <a:t>LES FACILITATEURS PROFESSIONNELS DU BLANCHIMENT</a:t>
            </a:r>
            <a:endParaRPr lang="fr-FR" dirty="0"/>
          </a:p>
        </p:txBody>
      </p:sp>
      <p:cxnSp>
        <p:nvCxnSpPr>
          <p:cNvPr id="18" name="Connecteur droit 17">
            <a:extLst>
              <a:ext uri="{FF2B5EF4-FFF2-40B4-BE49-F238E27FC236}">
                <a16:creationId xmlns:a16="http://schemas.microsoft.com/office/drawing/2014/main" id="{CF1EC1A2-5D3D-7B3D-C656-A2CD412054EF}"/>
              </a:ext>
            </a:extLst>
          </p:cNvPr>
          <p:cNvCxnSpPr/>
          <p:nvPr/>
        </p:nvCxnSpPr>
        <p:spPr>
          <a:xfrm>
            <a:off x="838200" y="537027"/>
            <a:ext cx="1119378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850258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25000">
        <p15:prstTrans prst="airplane"/>
      </p:transition>
    </mc:Choice>
    <mc:Fallback xmlns="">
      <p:transition spd="slow" advTm="2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7110F8-3EDA-F1B6-2B4F-D8CFA3E0F182}"/>
              </a:ext>
            </a:extLst>
          </p:cNvPr>
          <p:cNvSpPr>
            <a:spLocks noGrp="1"/>
          </p:cNvSpPr>
          <p:nvPr>
            <p:ph type="title"/>
          </p:nvPr>
        </p:nvSpPr>
        <p:spPr>
          <a:xfrm>
            <a:off x="831849" y="2798310"/>
            <a:ext cx="11026321" cy="2852737"/>
          </a:xfrm>
        </p:spPr>
        <p:txBody>
          <a:bodyPr>
            <a:normAutofit/>
          </a:bodyPr>
          <a:lstStyle/>
          <a:p>
            <a:r>
              <a:rPr lang="fr-FR" b="1" dirty="0">
                <a:solidFill>
                  <a:schemeClr val="accent4"/>
                </a:solidFill>
              </a:rPr>
              <a:t>V-INDICATEURS CLES ET VIGILANCE</a:t>
            </a:r>
            <a:br>
              <a:rPr lang="fr-FR" b="1" dirty="0">
                <a:solidFill>
                  <a:schemeClr val="accent4"/>
                </a:solidFill>
              </a:rPr>
            </a:br>
            <a:br>
              <a:rPr lang="fr-FR" b="1" dirty="0">
                <a:solidFill>
                  <a:schemeClr val="accent4"/>
                </a:solidFill>
              </a:rPr>
            </a:br>
            <a:endParaRPr lang="fr-FR" dirty="0"/>
          </a:p>
        </p:txBody>
      </p:sp>
      <p:sp>
        <p:nvSpPr>
          <p:cNvPr id="7" name="Espace réservé du numéro de diapositive 1">
            <a:extLst>
              <a:ext uri="{FF2B5EF4-FFF2-40B4-BE49-F238E27FC236}">
                <a16:creationId xmlns:a16="http://schemas.microsoft.com/office/drawing/2014/main" id="{ADA7C2BA-6858-D579-5C81-5B210EF3C6E6}"/>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13</a:t>
            </a:fld>
            <a:endParaRPr lang="fr-CI" dirty="0">
              <a:solidFill>
                <a:schemeClr val="bg1">
                  <a:lumMod val="65000"/>
                </a:schemeClr>
              </a:solidFill>
            </a:endParaRPr>
          </a:p>
        </p:txBody>
      </p:sp>
    </p:spTree>
    <p:extLst>
      <p:ext uri="{BB962C8B-B14F-4D97-AF65-F5344CB8AC3E}">
        <p14:creationId xmlns:p14="http://schemas.microsoft.com/office/powerpoint/2010/main" val="32823128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5000">
        <p15:prstTrans prst="peelOff"/>
      </p:transition>
    </mc:Choice>
    <mc:Fallback xmlns="">
      <p:transition spd="slow" advTm="5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92CE4D-45E5-AD72-130D-BE72AC137C18}"/>
              </a:ext>
            </a:extLst>
          </p:cNvPr>
          <p:cNvSpPr>
            <a:spLocks noGrp="1"/>
          </p:cNvSpPr>
          <p:nvPr>
            <p:ph type="title"/>
          </p:nvPr>
        </p:nvSpPr>
        <p:spPr>
          <a:xfrm>
            <a:off x="838200" y="582839"/>
            <a:ext cx="11353800" cy="1325563"/>
          </a:xfrm>
        </p:spPr>
        <p:txBody>
          <a:bodyPr/>
          <a:lstStyle/>
          <a:p>
            <a:pPr algn="ctr"/>
            <a:r>
              <a:rPr lang="fr-FR" b="1" u="sng" dirty="0">
                <a:solidFill>
                  <a:schemeClr val="accent4"/>
                </a:solidFill>
              </a:rPr>
              <a:t>INDICATEURS CLÉS DE BLANCHIMENT       PROFESSIONNEL</a:t>
            </a:r>
          </a:p>
        </p:txBody>
      </p:sp>
      <p:sp>
        <p:nvSpPr>
          <p:cNvPr id="3" name="Espace réservé du contenu 2">
            <a:extLst>
              <a:ext uri="{FF2B5EF4-FFF2-40B4-BE49-F238E27FC236}">
                <a16:creationId xmlns:a16="http://schemas.microsoft.com/office/drawing/2014/main" id="{FBA3DC6E-917B-AC8B-4978-37FD871C798C}"/>
              </a:ext>
            </a:extLst>
          </p:cNvPr>
          <p:cNvSpPr>
            <a:spLocks noGrp="1"/>
          </p:cNvSpPr>
          <p:nvPr>
            <p:ph idx="1"/>
          </p:nvPr>
        </p:nvSpPr>
        <p:spPr>
          <a:xfrm>
            <a:off x="3291112" y="1825625"/>
            <a:ext cx="10515600" cy="4351338"/>
          </a:xfrm>
        </p:spPr>
        <p:txBody>
          <a:bodyPr/>
          <a:lstStyle/>
          <a:p>
            <a:endParaRPr lang="fr-FR" dirty="0">
              <a:effectLst/>
            </a:endParaRPr>
          </a:p>
          <a:p>
            <a:endParaRPr lang="fr-FR" dirty="0">
              <a:effectLst/>
            </a:endParaRPr>
          </a:p>
          <a:p>
            <a:pPr marL="457200" lvl="1" indent="0">
              <a:buNone/>
            </a:pPr>
            <a:r>
              <a:rPr lang="fr-FR" dirty="0">
                <a:latin typeface="+mj-lt"/>
              </a:rPr>
              <a:t>Intermédiaires sans justification économique claire.</a:t>
            </a:r>
          </a:p>
          <a:p>
            <a:pPr marL="457200" lvl="1" indent="0">
              <a:buNone/>
            </a:pPr>
            <a:r>
              <a:rPr lang="fr-FR" dirty="0">
                <a:latin typeface="+mj-lt"/>
              </a:rPr>
              <a:t>Primes ou virements anormaux, sans justificatifs.</a:t>
            </a:r>
          </a:p>
          <a:p>
            <a:pPr marL="457200" lvl="1" indent="0">
              <a:buNone/>
            </a:pPr>
            <a:r>
              <a:rPr lang="fr-FR" dirty="0">
                <a:latin typeface="+mj-lt"/>
              </a:rPr>
              <a:t>Usage de sociétés-écrans, trusts, cryptoactifs.</a:t>
            </a:r>
          </a:p>
          <a:p>
            <a:pPr marL="457200" lvl="1" indent="0">
              <a:buNone/>
            </a:pPr>
            <a:r>
              <a:rPr lang="fr-FR" dirty="0">
                <a:latin typeface="+mj-lt"/>
              </a:rPr>
              <a:t>Liens avec des juridictions à haut risque.</a:t>
            </a:r>
          </a:p>
          <a:p>
            <a:pPr marL="457200" lvl="1" indent="0">
              <a:buNone/>
            </a:pPr>
            <a:r>
              <a:rPr lang="fr-FR" dirty="0">
                <a:latin typeface="+mj-lt"/>
              </a:rPr>
              <a:t>Presse négative ou structures opaques.</a:t>
            </a:r>
          </a:p>
          <a:p>
            <a:endParaRPr lang="fr-FR" dirty="0"/>
          </a:p>
        </p:txBody>
      </p:sp>
      <p:sp>
        <p:nvSpPr>
          <p:cNvPr id="4" name="Flèche : chevron 3">
            <a:extLst>
              <a:ext uri="{FF2B5EF4-FFF2-40B4-BE49-F238E27FC236}">
                <a16:creationId xmlns:a16="http://schemas.microsoft.com/office/drawing/2014/main" id="{D93DA24F-7DA7-FFF2-76A3-BBE5F34951CB}"/>
              </a:ext>
            </a:extLst>
          </p:cNvPr>
          <p:cNvSpPr/>
          <p:nvPr/>
        </p:nvSpPr>
        <p:spPr>
          <a:xfrm>
            <a:off x="3253013" y="2888344"/>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 name="Flèche : chevron 4">
            <a:extLst>
              <a:ext uri="{FF2B5EF4-FFF2-40B4-BE49-F238E27FC236}">
                <a16:creationId xmlns:a16="http://schemas.microsoft.com/office/drawing/2014/main" id="{B18E69CB-3896-96CE-324C-21B587E90F11}"/>
              </a:ext>
            </a:extLst>
          </p:cNvPr>
          <p:cNvSpPr/>
          <p:nvPr/>
        </p:nvSpPr>
        <p:spPr>
          <a:xfrm>
            <a:off x="3231242" y="3309257"/>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Flèche : chevron 5">
            <a:extLst>
              <a:ext uri="{FF2B5EF4-FFF2-40B4-BE49-F238E27FC236}">
                <a16:creationId xmlns:a16="http://schemas.microsoft.com/office/drawing/2014/main" id="{1E693CF2-2405-B387-E26C-CF9A78474083}"/>
              </a:ext>
            </a:extLst>
          </p:cNvPr>
          <p:cNvSpPr/>
          <p:nvPr/>
        </p:nvSpPr>
        <p:spPr>
          <a:xfrm>
            <a:off x="3231238" y="3708400"/>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 name="Flèche : chevron 6">
            <a:extLst>
              <a:ext uri="{FF2B5EF4-FFF2-40B4-BE49-F238E27FC236}">
                <a16:creationId xmlns:a16="http://schemas.microsoft.com/office/drawing/2014/main" id="{70A1BBE5-6FDF-A727-C249-82671F7BB501}"/>
              </a:ext>
            </a:extLst>
          </p:cNvPr>
          <p:cNvSpPr/>
          <p:nvPr/>
        </p:nvSpPr>
        <p:spPr>
          <a:xfrm>
            <a:off x="3231243" y="4100853"/>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 name="Flèche : chevron 7">
            <a:extLst>
              <a:ext uri="{FF2B5EF4-FFF2-40B4-BE49-F238E27FC236}">
                <a16:creationId xmlns:a16="http://schemas.microsoft.com/office/drawing/2014/main" id="{6495401D-40D9-BF9B-51D4-973E86B51BA8}"/>
              </a:ext>
            </a:extLst>
          </p:cNvPr>
          <p:cNvSpPr/>
          <p:nvPr/>
        </p:nvSpPr>
        <p:spPr>
          <a:xfrm>
            <a:off x="3238499" y="4521766"/>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Espace réservé du numéro de diapositive 1">
            <a:extLst>
              <a:ext uri="{FF2B5EF4-FFF2-40B4-BE49-F238E27FC236}">
                <a16:creationId xmlns:a16="http://schemas.microsoft.com/office/drawing/2014/main" id="{0645FAC1-1CDC-A552-B1EC-AC6EC4E5B687}"/>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14</a:t>
            </a:fld>
            <a:endParaRPr lang="fr-CI" dirty="0">
              <a:solidFill>
                <a:schemeClr val="bg1">
                  <a:lumMod val="65000"/>
                </a:schemeClr>
              </a:solidFill>
            </a:endParaRPr>
          </a:p>
        </p:txBody>
      </p:sp>
    </p:spTree>
    <p:extLst>
      <p:ext uri="{BB962C8B-B14F-4D97-AF65-F5344CB8AC3E}">
        <p14:creationId xmlns:p14="http://schemas.microsoft.com/office/powerpoint/2010/main" val="2210853815"/>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A01B8D-0C0E-CFD2-E967-BC57C15A3D02}"/>
              </a:ext>
            </a:extLst>
          </p:cNvPr>
          <p:cNvSpPr>
            <a:spLocks noGrp="1"/>
          </p:cNvSpPr>
          <p:nvPr>
            <p:ph type="title"/>
          </p:nvPr>
        </p:nvSpPr>
        <p:spPr>
          <a:xfrm>
            <a:off x="831850" y="2957965"/>
            <a:ext cx="10515600" cy="2852737"/>
          </a:xfrm>
        </p:spPr>
        <p:txBody>
          <a:bodyPr>
            <a:normAutofit fontScale="90000"/>
          </a:bodyPr>
          <a:lstStyle/>
          <a:p>
            <a:pPr algn="ctr"/>
            <a:r>
              <a:rPr lang="fr-FR" b="1" dirty="0">
                <a:solidFill>
                  <a:schemeClr val="accent4"/>
                </a:solidFill>
              </a:rPr>
              <a:t>VI-L’INSTRUCTION N° 01-03-2025 DE LA BCEAO</a:t>
            </a:r>
            <a:br>
              <a:rPr lang="fr-FR" b="1" dirty="0">
                <a:solidFill>
                  <a:schemeClr val="accent4"/>
                </a:solidFill>
              </a:rPr>
            </a:br>
            <a:br>
              <a:rPr lang="fr-FR" b="1" dirty="0">
                <a:solidFill>
                  <a:schemeClr val="accent4"/>
                </a:solidFill>
              </a:rPr>
            </a:br>
            <a:endParaRPr lang="fr-FR" dirty="0"/>
          </a:p>
        </p:txBody>
      </p:sp>
      <p:sp>
        <p:nvSpPr>
          <p:cNvPr id="7" name="Espace réservé du numéro de diapositive 1">
            <a:extLst>
              <a:ext uri="{FF2B5EF4-FFF2-40B4-BE49-F238E27FC236}">
                <a16:creationId xmlns:a16="http://schemas.microsoft.com/office/drawing/2014/main" id="{7C63CC49-2937-C89C-FF7E-44C36E1AFB9E}"/>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15</a:t>
            </a:fld>
            <a:endParaRPr lang="fr-CI" dirty="0">
              <a:solidFill>
                <a:schemeClr val="bg1">
                  <a:lumMod val="65000"/>
                </a:schemeClr>
              </a:solidFill>
            </a:endParaRPr>
          </a:p>
        </p:txBody>
      </p:sp>
    </p:spTree>
    <p:extLst>
      <p:ext uri="{BB962C8B-B14F-4D97-AF65-F5344CB8AC3E}">
        <p14:creationId xmlns:p14="http://schemas.microsoft.com/office/powerpoint/2010/main" val="2019421752"/>
      </p:ext>
    </p:extLst>
  </p:cSld>
  <p:clrMapOvr>
    <a:masterClrMapping/>
  </p:clrMapOvr>
  <mc:AlternateContent xmlns:mc="http://schemas.openxmlformats.org/markup-compatibility/2006" xmlns:p14="http://schemas.microsoft.com/office/powerpoint/2010/main">
    <mc:Choice Requires="p14">
      <p:transition spd="slow" p14:dur="3400" advTm="5000">
        <p14:reveal/>
      </p:transition>
    </mc:Choice>
    <mc:Fallback xmlns="">
      <p:transition spd="slow" advTm="5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2C6076-3877-8A7A-5BC3-C1EE1DD9C2C4}"/>
              </a:ext>
            </a:extLst>
          </p:cNvPr>
          <p:cNvSpPr>
            <a:spLocks noGrp="1"/>
          </p:cNvSpPr>
          <p:nvPr>
            <p:ph type="title"/>
          </p:nvPr>
        </p:nvSpPr>
        <p:spPr>
          <a:xfrm>
            <a:off x="1143002" y="2919641"/>
            <a:ext cx="10515600" cy="1325563"/>
          </a:xfrm>
        </p:spPr>
        <p:txBody>
          <a:bodyPr>
            <a:normAutofit fontScale="90000"/>
          </a:bodyPr>
          <a:lstStyle/>
          <a:p>
            <a:br>
              <a:rPr lang="fr-FR" dirty="0">
                <a:effectLst/>
              </a:rPr>
            </a:br>
            <a:r>
              <a:rPr lang="fr-FR" dirty="0">
                <a:effectLst/>
              </a:rPr>
              <a:t>La BCEAO </a:t>
            </a:r>
            <a:r>
              <a:rPr lang="fr-FR" dirty="0"/>
              <a:t>à établit les obligations des institutions financières et des agréés de change manuel en matière de LBC/FT/FP.</a:t>
            </a:r>
            <a:br>
              <a:rPr lang="fr-FR" dirty="0"/>
            </a:br>
            <a:endParaRPr lang="fr-FR" dirty="0"/>
          </a:p>
        </p:txBody>
      </p:sp>
      <p:sp>
        <p:nvSpPr>
          <p:cNvPr id="4" name="ZoneTexte 3">
            <a:extLst>
              <a:ext uri="{FF2B5EF4-FFF2-40B4-BE49-F238E27FC236}">
                <a16:creationId xmlns:a16="http://schemas.microsoft.com/office/drawing/2014/main" id="{3460E27A-DEC4-E35E-83FF-4EF5D55D4D32}"/>
              </a:ext>
            </a:extLst>
          </p:cNvPr>
          <p:cNvSpPr txBox="1"/>
          <p:nvPr/>
        </p:nvSpPr>
        <p:spPr>
          <a:xfrm>
            <a:off x="783771" y="316080"/>
            <a:ext cx="6096000" cy="400110"/>
          </a:xfrm>
          <a:prstGeom prst="rect">
            <a:avLst/>
          </a:prstGeom>
          <a:noFill/>
        </p:spPr>
        <p:txBody>
          <a:bodyPr wrap="square">
            <a:spAutoFit/>
          </a:bodyPr>
          <a:lstStyle/>
          <a:p>
            <a:r>
              <a:rPr lang="fr-FR" sz="2000" b="1" dirty="0">
                <a:solidFill>
                  <a:schemeClr val="accent4"/>
                </a:solidFill>
              </a:rPr>
              <a:t>L’INSTRUCTION N° 01-03-2025 DE LA BCEAO</a:t>
            </a:r>
            <a:endParaRPr lang="fr-FR" sz="2000" dirty="0"/>
          </a:p>
        </p:txBody>
      </p:sp>
      <p:cxnSp>
        <p:nvCxnSpPr>
          <p:cNvPr id="6" name="Connecteur droit 5">
            <a:extLst>
              <a:ext uri="{FF2B5EF4-FFF2-40B4-BE49-F238E27FC236}">
                <a16:creationId xmlns:a16="http://schemas.microsoft.com/office/drawing/2014/main" id="{C841B74D-39C4-DBD7-616A-EE2B7DB7AD47}"/>
              </a:ext>
            </a:extLst>
          </p:cNvPr>
          <p:cNvCxnSpPr/>
          <p:nvPr/>
        </p:nvCxnSpPr>
        <p:spPr>
          <a:xfrm>
            <a:off x="783772" y="725716"/>
            <a:ext cx="11132457" cy="0"/>
          </a:xfrm>
          <a:prstGeom prst="line">
            <a:avLst/>
          </a:prstGeom>
        </p:spPr>
        <p:style>
          <a:lnRef idx="1">
            <a:schemeClr val="dk1"/>
          </a:lnRef>
          <a:fillRef idx="0">
            <a:schemeClr val="dk1"/>
          </a:fillRef>
          <a:effectRef idx="0">
            <a:schemeClr val="dk1"/>
          </a:effectRef>
          <a:fontRef idx="minor">
            <a:schemeClr val="tx1"/>
          </a:fontRef>
        </p:style>
      </p:cxnSp>
      <p:sp>
        <p:nvSpPr>
          <p:cNvPr id="10" name="Espace réservé du numéro de diapositive 1">
            <a:extLst>
              <a:ext uri="{FF2B5EF4-FFF2-40B4-BE49-F238E27FC236}">
                <a16:creationId xmlns:a16="http://schemas.microsoft.com/office/drawing/2014/main" id="{5473FA1F-3E9A-5109-8DB1-0C5F7E731172}"/>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16</a:t>
            </a:fld>
            <a:endParaRPr lang="fr-CI" dirty="0">
              <a:solidFill>
                <a:schemeClr val="bg1">
                  <a:lumMod val="65000"/>
                </a:schemeClr>
              </a:solidFill>
            </a:endParaRPr>
          </a:p>
        </p:txBody>
      </p:sp>
    </p:spTree>
    <p:extLst>
      <p:ext uri="{BB962C8B-B14F-4D97-AF65-F5344CB8AC3E}">
        <p14:creationId xmlns:p14="http://schemas.microsoft.com/office/powerpoint/2010/main" val="3921119885"/>
      </p:ext>
    </p:extLst>
  </p:cSld>
  <p:clrMapOvr>
    <a:masterClrMapping/>
  </p:clrMapOvr>
  <p:transition spd="slow" advTm="5000">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B64D01-2F8D-4790-C77F-18C63C85F395}"/>
              </a:ext>
            </a:extLst>
          </p:cNvPr>
          <p:cNvSpPr>
            <a:spLocks noGrp="1"/>
          </p:cNvSpPr>
          <p:nvPr>
            <p:ph type="title"/>
          </p:nvPr>
        </p:nvSpPr>
        <p:spPr>
          <a:xfrm>
            <a:off x="1273625" y="568322"/>
            <a:ext cx="10515600" cy="621846"/>
          </a:xfrm>
        </p:spPr>
        <p:txBody>
          <a:bodyPr>
            <a:normAutofit fontScale="90000"/>
          </a:bodyPr>
          <a:lstStyle/>
          <a:p>
            <a:r>
              <a:rPr lang="fr-FR" sz="3600" b="1" u="sng" dirty="0">
                <a:solidFill>
                  <a:schemeClr val="accent4"/>
                </a:solidFill>
              </a:rPr>
              <a:t>A-Pour les institutions financières (hors agréés de change manuel) </a:t>
            </a:r>
            <a:endParaRPr lang="fr-FR" u="sng" dirty="0">
              <a:solidFill>
                <a:schemeClr val="accent4"/>
              </a:solidFill>
            </a:endParaRPr>
          </a:p>
        </p:txBody>
      </p:sp>
      <p:graphicFrame>
        <p:nvGraphicFramePr>
          <p:cNvPr id="4" name="Espace réservé du contenu 3">
            <a:extLst>
              <a:ext uri="{FF2B5EF4-FFF2-40B4-BE49-F238E27FC236}">
                <a16:creationId xmlns:a16="http://schemas.microsoft.com/office/drawing/2014/main" id="{34F256B9-F5BE-26AF-4878-915E36DCEE07}"/>
              </a:ext>
            </a:extLst>
          </p:cNvPr>
          <p:cNvGraphicFramePr>
            <a:graphicFrameLocks noGrp="1"/>
          </p:cNvGraphicFramePr>
          <p:nvPr>
            <p:ph idx="1"/>
            <p:extLst>
              <p:ext uri="{D42A27DB-BD31-4B8C-83A1-F6EECF244321}">
                <p14:modId xmlns:p14="http://schemas.microsoft.com/office/powerpoint/2010/main" val="4001901251"/>
              </p:ext>
            </p:extLst>
          </p:nvPr>
        </p:nvGraphicFramePr>
        <p:xfrm>
          <a:off x="1267970" y="1901374"/>
          <a:ext cx="10604716" cy="42236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Espace réservé du numéro de diapositive 1">
            <a:extLst>
              <a:ext uri="{FF2B5EF4-FFF2-40B4-BE49-F238E27FC236}">
                <a16:creationId xmlns:a16="http://schemas.microsoft.com/office/drawing/2014/main" id="{0235FC79-D5B7-97CE-F47E-A7778E273E10}"/>
              </a:ext>
            </a:extLst>
          </p:cNvPr>
          <p:cNvSpPr txBox="1">
            <a:spLocks/>
          </p:cNvSpPr>
          <p:nvPr/>
        </p:nvSpPr>
        <p:spPr>
          <a:xfrm>
            <a:off x="73457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17</a:t>
            </a:fld>
            <a:endParaRPr lang="fr-CI" dirty="0">
              <a:solidFill>
                <a:schemeClr val="bg1">
                  <a:lumMod val="65000"/>
                </a:schemeClr>
              </a:solidFill>
            </a:endParaRPr>
          </a:p>
        </p:txBody>
      </p:sp>
    </p:spTree>
    <p:extLst>
      <p:ext uri="{BB962C8B-B14F-4D97-AF65-F5344CB8AC3E}">
        <p14:creationId xmlns:p14="http://schemas.microsoft.com/office/powerpoint/2010/main" val="2946595750"/>
      </p:ext>
    </p:extLst>
  </p:cSld>
  <p:clrMapOvr>
    <a:masterClrMapping/>
  </p:clrMapOvr>
  <p:transition spd="slow" advTm="25000">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3279F5-6FB3-5B16-C3C2-3481959A9444}"/>
              </a:ext>
            </a:extLst>
          </p:cNvPr>
          <p:cNvSpPr>
            <a:spLocks noGrp="1"/>
          </p:cNvSpPr>
          <p:nvPr>
            <p:ph type="title"/>
          </p:nvPr>
        </p:nvSpPr>
        <p:spPr>
          <a:xfrm>
            <a:off x="1186542" y="45810"/>
            <a:ext cx="10515600" cy="1325563"/>
          </a:xfrm>
        </p:spPr>
        <p:txBody>
          <a:bodyPr>
            <a:normAutofit/>
          </a:bodyPr>
          <a:lstStyle/>
          <a:p>
            <a:r>
              <a:rPr lang="fr-FR" sz="3200" b="1" u="sng" dirty="0">
                <a:solidFill>
                  <a:schemeClr val="accent4"/>
                </a:solidFill>
              </a:rPr>
              <a:t>B-Obligations Spécifiques des Agréés de Change Manuel</a:t>
            </a:r>
          </a:p>
        </p:txBody>
      </p:sp>
      <p:graphicFrame>
        <p:nvGraphicFramePr>
          <p:cNvPr id="18" name="Espace réservé du contenu 17">
            <a:extLst>
              <a:ext uri="{FF2B5EF4-FFF2-40B4-BE49-F238E27FC236}">
                <a16:creationId xmlns:a16="http://schemas.microsoft.com/office/drawing/2014/main" id="{DA1727A5-7FDE-976F-3409-2C4483522DF2}"/>
              </a:ext>
            </a:extLst>
          </p:cNvPr>
          <p:cNvGraphicFramePr>
            <a:graphicFrameLocks noGrp="1"/>
          </p:cNvGraphicFramePr>
          <p:nvPr>
            <p:ph idx="1"/>
            <p:extLst>
              <p:ext uri="{D42A27DB-BD31-4B8C-83A1-F6EECF244321}">
                <p14:modId xmlns:p14="http://schemas.microsoft.com/office/powerpoint/2010/main" val="1615906037"/>
              </p:ext>
            </p:extLst>
          </p:nvPr>
        </p:nvGraphicFramePr>
        <p:xfrm>
          <a:off x="1186547" y="1506307"/>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Espace réservé du numéro de diapositive 1">
            <a:extLst>
              <a:ext uri="{FF2B5EF4-FFF2-40B4-BE49-F238E27FC236}">
                <a16:creationId xmlns:a16="http://schemas.microsoft.com/office/drawing/2014/main" id="{0EB3D67F-DF7C-E65C-136B-7766B3168996}"/>
              </a:ext>
            </a:extLst>
          </p:cNvPr>
          <p:cNvSpPr txBox="1">
            <a:spLocks/>
          </p:cNvSpPr>
          <p:nvPr/>
        </p:nvSpPr>
        <p:spPr>
          <a:xfrm>
            <a:off x="73457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18</a:t>
            </a:fld>
            <a:endParaRPr lang="fr-CI" dirty="0">
              <a:solidFill>
                <a:schemeClr val="bg1">
                  <a:lumMod val="65000"/>
                </a:schemeClr>
              </a:solidFill>
            </a:endParaRPr>
          </a:p>
        </p:txBody>
      </p:sp>
    </p:spTree>
    <p:extLst>
      <p:ext uri="{BB962C8B-B14F-4D97-AF65-F5344CB8AC3E}">
        <p14:creationId xmlns:p14="http://schemas.microsoft.com/office/powerpoint/2010/main" val="3341771246"/>
      </p:ext>
    </p:extLst>
  </p:cSld>
  <p:clrMapOvr>
    <a:masterClrMapping/>
  </p:clrMapOvr>
  <p:transition spd="slow" advTm="25000">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F98CD9-AC44-E2FD-C57F-1369D9BCEA64}"/>
              </a:ext>
            </a:extLst>
          </p:cNvPr>
          <p:cNvSpPr>
            <a:spLocks noGrp="1"/>
          </p:cNvSpPr>
          <p:nvPr>
            <p:ph type="title"/>
          </p:nvPr>
        </p:nvSpPr>
        <p:spPr>
          <a:xfrm>
            <a:off x="910770" y="292555"/>
            <a:ext cx="10515600" cy="1325563"/>
          </a:xfrm>
        </p:spPr>
        <p:txBody>
          <a:bodyPr/>
          <a:lstStyle/>
          <a:p>
            <a:r>
              <a:rPr lang="fr-FR" u="sng" dirty="0">
                <a:solidFill>
                  <a:schemeClr val="accent4"/>
                </a:solidFill>
              </a:rPr>
              <a:t>CONCLUSION PARTIELLE </a:t>
            </a:r>
          </a:p>
        </p:txBody>
      </p:sp>
      <p:sp>
        <p:nvSpPr>
          <p:cNvPr id="3" name="Espace réservé du contenu 2">
            <a:extLst>
              <a:ext uri="{FF2B5EF4-FFF2-40B4-BE49-F238E27FC236}">
                <a16:creationId xmlns:a16="http://schemas.microsoft.com/office/drawing/2014/main" id="{6F69E0F8-4326-6B95-671A-F46FDD932E1A}"/>
              </a:ext>
            </a:extLst>
          </p:cNvPr>
          <p:cNvSpPr>
            <a:spLocks noGrp="1"/>
          </p:cNvSpPr>
          <p:nvPr>
            <p:ph idx="1"/>
          </p:nvPr>
        </p:nvSpPr>
        <p:spPr>
          <a:xfrm>
            <a:off x="838200" y="1636943"/>
            <a:ext cx="10515600" cy="4351338"/>
          </a:xfrm>
        </p:spPr>
        <p:txBody>
          <a:bodyPr/>
          <a:lstStyle/>
          <a:p>
            <a:pPr marL="0" indent="0">
              <a:buNone/>
            </a:pPr>
            <a:r>
              <a:rPr lang="fr-FR" dirty="0">
                <a:latin typeface="+mj-lt"/>
              </a:rPr>
              <a:t>La conformité aux obligations LBC/FT/FP n’est plus une option mais une exigence fondamentale en Côte d’Ivoire.</a:t>
            </a:r>
          </a:p>
          <a:p>
            <a:pPr marL="0" indent="0">
              <a:buNone/>
            </a:pPr>
            <a:endParaRPr lang="fr-FR" dirty="0"/>
          </a:p>
          <a:p>
            <a:pPr marL="0" indent="0">
              <a:buNone/>
            </a:pPr>
            <a:endParaRPr lang="fr-FR" dirty="0"/>
          </a:p>
          <a:p>
            <a:endParaRPr lang="fr-FR" dirty="0"/>
          </a:p>
        </p:txBody>
      </p:sp>
      <p:cxnSp>
        <p:nvCxnSpPr>
          <p:cNvPr id="5" name="Connecteur droit 4">
            <a:extLst>
              <a:ext uri="{FF2B5EF4-FFF2-40B4-BE49-F238E27FC236}">
                <a16:creationId xmlns:a16="http://schemas.microsoft.com/office/drawing/2014/main" id="{ECDDC6DC-C274-1CA8-DF2D-9B6A39D75201}"/>
              </a:ext>
            </a:extLst>
          </p:cNvPr>
          <p:cNvCxnSpPr/>
          <p:nvPr/>
        </p:nvCxnSpPr>
        <p:spPr>
          <a:xfrm>
            <a:off x="783771" y="1582057"/>
            <a:ext cx="11234057" cy="0"/>
          </a:xfrm>
          <a:prstGeom prst="line">
            <a:avLst/>
          </a:prstGeom>
        </p:spPr>
        <p:style>
          <a:lnRef idx="1">
            <a:schemeClr val="dk1"/>
          </a:lnRef>
          <a:fillRef idx="0">
            <a:schemeClr val="dk1"/>
          </a:fillRef>
          <a:effectRef idx="0">
            <a:schemeClr val="dk1"/>
          </a:effectRef>
          <a:fontRef idx="minor">
            <a:schemeClr val="tx1"/>
          </a:fontRef>
        </p:style>
      </p:cxnSp>
      <p:pic>
        <p:nvPicPr>
          <p:cNvPr id="7" name="Image 6">
            <a:extLst>
              <a:ext uri="{FF2B5EF4-FFF2-40B4-BE49-F238E27FC236}">
                <a16:creationId xmlns:a16="http://schemas.microsoft.com/office/drawing/2014/main" id="{422C5CDA-4ED2-FD66-4636-628427AF9C96}"/>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892540" y="5428339"/>
            <a:ext cx="3963643" cy="1346919"/>
          </a:xfrm>
          <a:prstGeom prst="rect">
            <a:avLst/>
          </a:prstGeom>
          <a:noFill/>
          <a:ln>
            <a:noFill/>
          </a:ln>
          <a:extLst>
            <a:ext uri="{53640926-AAD7-44D8-BBD7-CCE9431645EC}">
              <a14:shadowObscured xmlns:a14="http://schemas.microsoft.com/office/drawing/2010/main"/>
            </a:ext>
          </a:extLst>
        </p:spPr>
      </p:pic>
      <p:sp>
        <p:nvSpPr>
          <p:cNvPr id="8" name="Sous-titre 2">
            <a:extLst>
              <a:ext uri="{FF2B5EF4-FFF2-40B4-BE49-F238E27FC236}">
                <a16:creationId xmlns:a16="http://schemas.microsoft.com/office/drawing/2014/main" id="{89045A1F-867D-DAFA-5315-CBC0B95162D5}"/>
              </a:ext>
            </a:extLst>
          </p:cNvPr>
          <p:cNvSpPr txBox="1">
            <a:spLocks/>
          </p:cNvSpPr>
          <p:nvPr/>
        </p:nvSpPr>
        <p:spPr>
          <a:xfrm>
            <a:off x="7787640" y="6365412"/>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9" name="Espace réservé du numéro de diapositive 1">
            <a:extLst>
              <a:ext uri="{FF2B5EF4-FFF2-40B4-BE49-F238E27FC236}">
                <a16:creationId xmlns:a16="http://schemas.microsoft.com/office/drawing/2014/main" id="{4273A1B2-E1C3-E156-E049-3E4FF854F0BC}"/>
              </a:ext>
            </a:extLst>
          </p:cNvPr>
          <p:cNvSpPr txBox="1">
            <a:spLocks/>
          </p:cNvSpPr>
          <p:nvPr/>
        </p:nvSpPr>
        <p:spPr>
          <a:xfrm>
            <a:off x="73457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19</a:t>
            </a:fld>
            <a:endParaRPr lang="fr-CI" dirty="0">
              <a:solidFill>
                <a:schemeClr val="bg1">
                  <a:lumMod val="65000"/>
                </a:schemeClr>
              </a:solidFill>
            </a:endParaRPr>
          </a:p>
        </p:txBody>
      </p:sp>
      <p:sp>
        <p:nvSpPr>
          <p:cNvPr id="11" name="Rectangle : coins arrondis 10">
            <a:extLst>
              <a:ext uri="{FF2B5EF4-FFF2-40B4-BE49-F238E27FC236}">
                <a16:creationId xmlns:a16="http://schemas.microsoft.com/office/drawing/2014/main" id="{630034DF-C535-881E-3169-00BE3DB7C1F4}"/>
              </a:ext>
            </a:extLst>
          </p:cNvPr>
          <p:cNvSpPr/>
          <p:nvPr/>
        </p:nvSpPr>
        <p:spPr>
          <a:xfrm>
            <a:off x="910770" y="2975433"/>
            <a:ext cx="10443030" cy="243840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latin typeface="+mj-lt"/>
              </a:rPr>
              <a:t>🎯 À retenir :</a:t>
            </a:r>
          </a:p>
          <a:p>
            <a:endParaRPr lang="fr-FR" b="1" dirty="0">
              <a:latin typeface="+mj-lt"/>
            </a:endParaRPr>
          </a:p>
          <a:p>
            <a:pPr lvl="0"/>
            <a:r>
              <a:rPr lang="fr-FR" b="1" dirty="0">
                <a:latin typeface="+mj-lt"/>
              </a:rPr>
              <a:t>La déclaration des bénéficiaires effectifs est un levier essentiel de transparence.</a:t>
            </a:r>
          </a:p>
          <a:p>
            <a:pPr lvl="0"/>
            <a:r>
              <a:rPr lang="fr-FR" b="1" dirty="0">
                <a:latin typeface="+mj-lt"/>
              </a:rPr>
              <a:t>Les facilitateurs professionnels doivent être identifiés et surveillés.</a:t>
            </a:r>
          </a:p>
          <a:p>
            <a:pPr lvl="0"/>
            <a:r>
              <a:rPr lang="fr-FR" b="1" dirty="0">
                <a:latin typeface="+mj-lt"/>
              </a:rPr>
              <a:t>Les institutions financières et les acteurs du change manuel ont des responsabilités spécifiques et renforcées.</a:t>
            </a:r>
          </a:p>
        </p:txBody>
      </p:sp>
    </p:spTree>
    <p:extLst>
      <p:ext uri="{BB962C8B-B14F-4D97-AF65-F5344CB8AC3E}">
        <p14:creationId xmlns:p14="http://schemas.microsoft.com/office/powerpoint/2010/main" val="1009684391"/>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nodeType="clickEffect">
                                  <p:stCondLst>
                                    <p:cond delay="0"/>
                                  </p:stCondLst>
                                  <p:childTnLst>
                                    <p:animClr clrSpc="rgb" dir="cw">
                                      <p:cBhvr override="childStyle">
                                        <p:cTn id="13" dur="250" autoRev="1" fill="remove"/>
                                        <p:tgtEl>
                                          <p:spTgt spid="3">
                                            <p:txEl>
                                              <p:pRg st="0" end="0"/>
                                            </p:txEl>
                                          </p:spTgt>
                                        </p:tgtEl>
                                        <p:attrNameLst>
                                          <p:attrName>style.color</p:attrName>
                                        </p:attrNameLst>
                                      </p:cBhvr>
                                      <p:to>
                                        <a:schemeClr val="bg1"/>
                                      </p:to>
                                    </p:animClr>
                                    <p:animClr clrSpc="rgb" dir="cw">
                                      <p:cBhvr>
                                        <p:cTn id="14" dur="250" autoRev="1" fill="remove"/>
                                        <p:tgtEl>
                                          <p:spTgt spid="3">
                                            <p:txEl>
                                              <p:pRg st="0" end="0"/>
                                            </p:txEl>
                                          </p:spTgt>
                                        </p:tgtEl>
                                        <p:attrNameLst>
                                          <p:attrName>fillcolor</p:attrName>
                                        </p:attrNameLst>
                                      </p:cBhvr>
                                      <p:to>
                                        <a:schemeClr val="bg1"/>
                                      </p:to>
                                    </p:animClr>
                                    <p:set>
                                      <p:cBhvr>
                                        <p:cTn id="15" dur="250" autoRev="1" fill="remove"/>
                                        <p:tgtEl>
                                          <p:spTgt spid="3">
                                            <p:txEl>
                                              <p:pRg st="0" end="0"/>
                                            </p:txEl>
                                          </p:spTgt>
                                        </p:tgtEl>
                                        <p:attrNameLst>
                                          <p:attrName>fill.type</p:attrName>
                                        </p:attrNameLst>
                                      </p:cBhvr>
                                      <p:to>
                                        <p:strVal val="solid"/>
                                      </p:to>
                                    </p:set>
                                    <p:set>
                                      <p:cBhvr>
                                        <p:cTn id="16" dur="250" autoRev="1" fill="remove"/>
                                        <p:tgtEl>
                                          <p:spTgt spid="3">
                                            <p:txEl>
                                              <p:pRg st="0" end="0"/>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80">
                                          <p:stCondLst>
                                            <p:cond delay="0"/>
                                          </p:stCondLst>
                                        </p:cTn>
                                        <p:tgtEl>
                                          <p:spTgt spid="11"/>
                                        </p:tgtEl>
                                      </p:cBhvr>
                                    </p:animEffect>
                                    <p:anim calcmode="lin" valueType="num">
                                      <p:cBhvr>
                                        <p:cTn id="2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7" dur="26">
                                          <p:stCondLst>
                                            <p:cond delay="650"/>
                                          </p:stCondLst>
                                        </p:cTn>
                                        <p:tgtEl>
                                          <p:spTgt spid="11"/>
                                        </p:tgtEl>
                                      </p:cBhvr>
                                      <p:to x="100000" y="60000"/>
                                    </p:animScale>
                                    <p:animScale>
                                      <p:cBhvr>
                                        <p:cTn id="28" dur="166" decel="50000">
                                          <p:stCondLst>
                                            <p:cond delay="676"/>
                                          </p:stCondLst>
                                        </p:cTn>
                                        <p:tgtEl>
                                          <p:spTgt spid="11"/>
                                        </p:tgtEl>
                                      </p:cBhvr>
                                      <p:to x="100000" y="100000"/>
                                    </p:animScale>
                                    <p:animScale>
                                      <p:cBhvr>
                                        <p:cTn id="29" dur="26">
                                          <p:stCondLst>
                                            <p:cond delay="1312"/>
                                          </p:stCondLst>
                                        </p:cTn>
                                        <p:tgtEl>
                                          <p:spTgt spid="11"/>
                                        </p:tgtEl>
                                      </p:cBhvr>
                                      <p:to x="100000" y="80000"/>
                                    </p:animScale>
                                    <p:animScale>
                                      <p:cBhvr>
                                        <p:cTn id="30" dur="166" decel="50000">
                                          <p:stCondLst>
                                            <p:cond delay="1338"/>
                                          </p:stCondLst>
                                        </p:cTn>
                                        <p:tgtEl>
                                          <p:spTgt spid="11"/>
                                        </p:tgtEl>
                                      </p:cBhvr>
                                      <p:to x="100000" y="100000"/>
                                    </p:animScale>
                                    <p:animScale>
                                      <p:cBhvr>
                                        <p:cTn id="31" dur="26">
                                          <p:stCondLst>
                                            <p:cond delay="1642"/>
                                          </p:stCondLst>
                                        </p:cTn>
                                        <p:tgtEl>
                                          <p:spTgt spid="11"/>
                                        </p:tgtEl>
                                      </p:cBhvr>
                                      <p:to x="100000" y="90000"/>
                                    </p:animScale>
                                    <p:animScale>
                                      <p:cBhvr>
                                        <p:cTn id="32" dur="166" decel="50000">
                                          <p:stCondLst>
                                            <p:cond delay="1668"/>
                                          </p:stCondLst>
                                        </p:cTn>
                                        <p:tgtEl>
                                          <p:spTgt spid="11"/>
                                        </p:tgtEl>
                                      </p:cBhvr>
                                      <p:to x="100000" y="100000"/>
                                    </p:animScale>
                                    <p:animScale>
                                      <p:cBhvr>
                                        <p:cTn id="33" dur="26">
                                          <p:stCondLst>
                                            <p:cond delay="1808"/>
                                          </p:stCondLst>
                                        </p:cTn>
                                        <p:tgtEl>
                                          <p:spTgt spid="11"/>
                                        </p:tgtEl>
                                      </p:cBhvr>
                                      <p:to x="100000" y="95000"/>
                                    </p:animScale>
                                    <p:animScale>
                                      <p:cBhvr>
                                        <p:cTn id="34"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87B7DF-886E-385D-B20F-1A82107AFFC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9E0F69-5DD0-1964-2463-40A0C5CA7CDB}"/>
              </a:ext>
            </a:extLst>
          </p:cNvPr>
          <p:cNvSpPr>
            <a:spLocks noGrp="1"/>
          </p:cNvSpPr>
          <p:nvPr>
            <p:ph type="ctrTitle"/>
          </p:nvPr>
        </p:nvSpPr>
        <p:spPr>
          <a:xfrm>
            <a:off x="1524000" y="1543276"/>
            <a:ext cx="9757340" cy="1082118"/>
          </a:xfrm>
        </p:spPr>
        <p:txBody>
          <a:bodyPr>
            <a:normAutofit/>
          </a:bodyPr>
          <a:lstStyle/>
          <a:p>
            <a:r>
              <a:rPr lang="fr-FR" b="1" dirty="0">
                <a:solidFill>
                  <a:srgbClr val="FF0000"/>
                </a:solidFill>
              </a:rPr>
              <a:t>INTERVENTION DU FISCALISTE</a:t>
            </a:r>
            <a:endParaRPr lang="fr-FR" dirty="0">
              <a:solidFill>
                <a:srgbClr val="FF0000"/>
              </a:solidFill>
            </a:endParaRPr>
          </a:p>
        </p:txBody>
      </p:sp>
      <p:sp>
        <p:nvSpPr>
          <p:cNvPr id="4" name="Espace réservé du numéro de diapositive 1">
            <a:extLst>
              <a:ext uri="{FF2B5EF4-FFF2-40B4-BE49-F238E27FC236}">
                <a16:creationId xmlns:a16="http://schemas.microsoft.com/office/drawing/2014/main" id="{80FA18E7-6224-5497-09F3-859505B73BD9}"/>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20</a:t>
            </a:fld>
            <a:endParaRPr lang="fr-CI" dirty="0">
              <a:solidFill>
                <a:schemeClr val="bg1">
                  <a:lumMod val="65000"/>
                </a:schemeClr>
              </a:solidFill>
            </a:endParaRPr>
          </a:p>
        </p:txBody>
      </p:sp>
      <p:pic>
        <p:nvPicPr>
          <p:cNvPr id="6" name="Image 5">
            <a:extLst>
              <a:ext uri="{FF2B5EF4-FFF2-40B4-BE49-F238E27FC236}">
                <a16:creationId xmlns:a16="http://schemas.microsoft.com/office/drawing/2014/main" id="{267591A1-8C3A-BE0A-16D6-592D90401872}"/>
              </a:ext>
            </a:extLst>
          </p:cNvPr>
          <p:cNvPicPr>
            <a:picLocks noChangeAspect="1"/>
          </p:cNvPicPr>
          <p:nvPr/>
        </p:nvPicPr>
        <p:blipFill rotWithShape="1">
          <a:blip r:embed="rId2">
            <a:extLst>
              <a:ext uri="{28A0092B-C50C-407E-A947-70E740481C1C}">
                <a14:useLocalDpi xmlns:a14="http://schemas.microsoft.com/office/drawing/2010/main" val="0"/>
              </a:ext>
            </a:extLst>
          </a:blip>
          <a:srcRect l="13234" t="32390" r="22347" b="45262"/>
          <a:stretch>
            <a:fillRect/>
          </a:stretch>
        </p:blipFill>
        <p:spPr bwMode="auto">
          <a:xfrm>
            <a:off x="9650186" y="5419813"/>
            <a:ext cx="2406949" cy="793817"/>
          </a:xfrm>
          <a:prstGeom prst="rect">
            <a:avLst/>
          </a:prstGeom>
          <a:noFill/>
          <a:ln>
            <a:noFill/>
          </a:ln>
          <a:extLst>
            <a:ext uri="{53640926-AAD7-44D8-BBD7-CCE9431645EC}">
              <a14:shadowObscured xmlns:a14="http://schemas.microsoft.com/office/drawing/2010/main"/>
            </a:ext>
          </a:extLst>
        </p:spPr>
      </p:pic>
      <p:sp>
        <p:nvSpPr>
          <p:cNvPr id="7" name="Sous-titre 2">
            <a:extLst>
              <a:ext uri="{FF2B5EF4-FFF2-40B4-BE49-F238E27FC236}">
                <a16:creationId xmlns:a16="http://schemas.microsoft.com/office/drawing/2014/main" id="{B35FAA4D-593D-579C-7606-FA3AB4D84D94}"/>
              </a:ext>
            </a:extLst>
          </p:cNvPr>
          <p:cNvSpPr txBox="1">
            <a:spLocks/>
          </p:cNvSpPr>
          <p:nvPr/>
        </p:nvSpPr>
        <p:spPr>
          <a:xfrm>
            <a:off x="9397756" y="6148967"/>
            <a:ext cx="2659379" cy="793817"/>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lnSpc>
                <a:spcPct val="100000"/>
              </a:lnSpc>
            </a:pP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lnSpc>
                <a:spcPct val="100000"/>
              </a:lnSpc>
            </a:pPr>
            <a:r>
              <a:rPr lang="fr-FR" sz="1200" b="1" spc="-15" dirty="0">
                <a:latin typeface="Tw Cen MT"/>
                <a:cs typeface="Tw Cen MT"/>
              </a:rPr>
              <a:t>27-22-42-14-43 / dcknowing@gmail.com</a:t>
            </a:r>
            <a:endParaRPr lang="fr-FR" sz="1200" b="1" dirty="0">
              <a:latin typeface="Tw Cen MT"/>
              <a:cs typeface="Tw Cen MT"/>
            </a:endParaRPr>
          </a:p>
        </p:txBody>
      </p:sp>
      <p:sp>
        <p:nvSpPr>
          <p:cNvPr id="3" name="Sous-titre 2">
            <a:extLst>
              <a:ext uri="{FF2B5EF4-FFF2-40B4-BE49-F238E27FC236}">
                <a16:creationId xmlns:a16="http://schemas.microsoft.com/office/drawing/2014/main" id="{AD56AC40-091C-0F7C-BCD2-5BCEEA18F4D3}"/>
              </a:ext>
            </a:extLst>
          </p:cNvPr>
          <p:cNvSpPr>
            <a:spLocks noGrp="1"/>
          </p:cNvSpPr>
          <p:nvPr>
            <p:ph type="subTitle" idx="1"/>
          </p:nvPr>
        </p:nvSpPr>
        <p:spPr>
          <a:xfrm>
            <a:off x="1925632" y="2520484"/>
            <a:ext cx="8993945" cy="2691034"/>
          </a:xfrm>
        </p:spPr>
        <p:txBody>
          <a:bodyPr>
            <a:normAutofit fontScale="70000" lnSpcReduction="20000"/>
          </a:bodyPr>
          <a:lstStyle/>
          <a:p>
            <a:pPr algn="l"/>
            <a:r>
              <a:rPr lang="fr-FR" dirty="0">
                <a:solidFill>
                  <a:schemeClr val="tx2">
                    <a:lumMod val="75000"/>
                  </a:schemeClr>
                </a:solidFill>
                <a:latin typeface="Aptos" panose="020B0004020202020204" pitchFamily="34" charset="0"/>
              </a:rPr>
              <a:t>Dans ces diapos qui vont suivre vous êtes autorisés en tant que fiscaliste à  :</a:t>
            </a:r>
          </a:p>
          <a:p>
            <a:pPr marL="342900" indent="-342900" algn="l">
              <a:buFontTx/>
              <a:buChar char="-"/>
            </a:pPr>
            <a:r>
              <a:rPr lang="fr-FR" dirty="0">
                <a:solidFill>
                  <a:schemeClr val="tx2">
                    <a:lumMod val="75000"/>
                  </a:schemeClr>
                </a:solidFill>
                <a:latin typeface="Aptos" panose="020B0004020202020204" pitchFamily="34" charset="0"/>
              </a:rPr>
              <a:t>Modifier ou actualiser les informations rapportées</a:t>
            </a:r>
          </a:p>
          <a:p>
            <a:pPr marL="342900" indent="-342900" algn="l">
              <a:buFontTx/>
              <a:buChar char="-"/>
            </a:pPr>
            <a:r>
              <a:rPr lang="fr-FR" dirty="0">
                <a:solidFill>
                  <a:schemeClr val="tx2">
                    <a:lumMod val="75000"/>
                  </a:schemeClr>
                </a:solidFill>
                <a:latin typeface="Aptos" panose="020B0004020202020204" pitchFamily="34" charset="0"/>
              </a:rPr>
              <a:t>Faire des inputs et revoir des formulations</a:t>
            </a:r>
          </a:p>
          <a:p>
            <a:pPr marL="342900" indent="-342900" algn="l">
              <a:buFontTx/>
              <a:buChar char="-"/>
            </a:pPr>
            <a:r>
              <a:rPr lang="fr-FR" dirty="0">
                <a:solidFill>
                  <a:schemeClr val="tx2">
                    <a:lumMod val="75000"/>
                  </a:schemeClr>
                </a:solidFill>
                <a:latin typeface="Aptos" panose="020B0004020202020204" pitchFamily="34" charset="0"/>
              </a:rPr>
              <a:t>Faire des corrections</a:t>
            </a:r>
          </a:p>
          <a:p>
            <a:pPr marL="342900" indent="-342900" algn="l">
              <a:buFontTx/>
              <a:buChar char="-"/>
            </a:pPr>
            <a:r>
              <a:rPr lang="fr-FR" dirty="0">
                <a:solidFill>
                  <a:schemeClr val="tx2">
                    <a:lumMod val="75000"/>
                  </a:schemeClr>
                </a:solidFill>
                <a:latin typeface="Aptos" panose="020B0004020202020204" pitchFamily="34" charset="0"/>
              </a:rPr>
              <a:t>Réorganiser son sommaire</a:t>
            </a:r>
          </a:p>
          <a:p>
            <a:pPr marL="342900" indent="-342900" algn="l">
              <a:buFontTx/>
              <a:buChar char="-"/>
            </a:pPr>
            <a:r>
              <a:rPr lang="fr-FR" dirty="0">
                <a:solidFill>
                  <a:schemeClr val="tx2">
                    <a:lumMod val="75000"/>
                  </a:schemeClr>
                </a:solidFill>
                <a:latin typeface="Aptos" panose="020B0004020202020204" pitchFamily="34" charset="0"/>
              </a:rPr>
              <a:t>Améliorer ses animations et autres </a:t>
            </a:r>
          </a:p>
          <a:p>
            <a:pPr marL="342900" indent="-342900" algn="l">
              <a:buFontTx/>
              <a:buChar char="-"/>
            </a:pPr>
            <a:endParaRPr lang="fr-FR" dirty="0">
              <a:solidFill>
                <a:schemeClr val="tx2">
                  <a:lumMod val="75000"/>
                </a:schemeClr>
              </a:solidFill>
              <a:latin typeface="Aptos" panose="020B0004020202020204" pitchFamily="34" charset="0"/>
            </a:endParaRPr>
          </a:p>
          <a:p>
            <a:pPr algn="l"/>
            <a:r>
              <a:rPr lang="fr-FR" dirty="0" err="1">
                <a:solidFill>
                  <a:srgbClr val="FF0000"/>
                </a:solidFill>
                <a:latin typeface="Aptos" panose="020B0004020202020204" pitchFamily="34" charset="0"/>
              </a:rPr>
              <a:t>N.B</a:t>
            </a:r>
            <a:r>
              <a:rPr lang="fr-FR" dirty="0">
                <a:solidFill>
                  <a:srgbClr val="FF0000"/>
                </a:solidFill>
                <a:latin typeface="Aptos" panose="020B0004020202020204" pitchFamily="34" charset="0"/>
              </a:rPr>
              <a:t>: </a:t>
            </a:r>
            <a:r>
              <a:rPr lang="fr-FR" i="1" dirty="0">
                <a:solidFill>
                  <a:srgbClr val="FF0000"/>
                </a:solidFill>
                <a:latin typeface="Aptos" panose="020B0004020202020204" pitchFamily="34" charset="0"/>
              </a:rPr>
              <a:t>il est simplement tenu de conserver le masque de présentation à savoir la disposition à gauche de DC-Knowing et le logo en bas à droite</a:t>
            </a:r>
            <a:r>
              <a:rPr lang="fr-FR" dirty="0">
                <a:solidFill>
                  <a:srgbClr val="FF0000"/>
                </a:solidFill>
                <a:latin typeface="Aptos" panose="020B0004020202020204" pitchFamily="34" charset="0"/>
              </a:rPr>
              <a:t>.</a:t>
            </a:r>
          </a:p>
          <a:p>
            <a:endParaRPr lang="fr-FR" dirty="0"/>
          </a:p>
        </p:txBody>
      </p:sp>
      <p:pic>
        <p:nvPicPr>
          <p:cNvPr id="8" name="Image 7">
            <a:extLst>
              <a:ext uri="{FF2B5EF4-FFF2-40B4-BE49-F238E27FC236}">
                <a16:creationId xmlns:a16="http://schemas.microsoft.com/office/drawing/2014/main" id="{32A3B509-96D4-EA7D-9EDD-4BDE78687289}"/>
              </a:ext>
            </a:extLst>
          </p:cNvPr>
          <p:cNvPicPr>
            <a:picLocks noChangeAspect="1"/>
          </p:cNvPicPr>
          <p:nvPr/>
        </p:nvPicPr>
        <p:blipFill>
          <a:blip r:embed="rId3"/>
          <a:srcRect l="50000" r="26459"/>
          <a:stretch>
            <a:fillRect/>
          </a:stretch>
        </p:blipFill>
        <p:spPr>
          <a:xfrm>
            <a:off x="0" y="437191"/>
            <a:ext cx="512364" cy="6281587"/>
          </a:xfrm>
          <a:prstGeom prst="rect">
            <a:avLst/>
          </a:prstGeom>
        </p:spPr>
      </p:pic>
    </p:spTree>
    <p:extLst>
      <p:ext uri="{BB962C8B-B14F-4D97-AF65-F5344CB8AC3E}">
        <p14:creationId xmlns:p14="http://schemas.microsoft.com/office/powerpoint/2010/main" val="3572332032"/>
      </p:ext>
    </p:extLst>
  </p:cSld>
  <p:clrMapOvr>
    <a:masterClrMapping/>
  </p:clrMapOvr>
  <mc:AlternateContent xmlns:mc="http://schemas.openxmlformats.org/markup-compatibility/2006">
    <mc:Choice xmlns:p14="http://schemas.microsoft.com/office/powerpoint/2010/main" Requires="p14">
      <p:transition spd="slow" p14:dur="1500" advTm="5000">
        <p:split orient="vert"/>
      </p:transition>
    </mc:Choice>
    <mc:Fallback>
      <p:transition spd="slow" advTm="5000">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98BD5-4F47-39E9-EE70-2442F711F21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6852DEA-85FD-AE14-587A-7A758C63D0CB}"/>
              </a:ext>
            </a:extLst>
          </p:cNvPr>
          <p:cNvSpPr>
            <a:spLocks noGrp="1"/>
          </p:cNvSpPr>
          <p:nvPr>
            <p:ph type="title"/>
          </p:nvPr>
        </p:nvSpPr>
        <p:spPr/>
        <p:txBody>
          <a:bodyPr>
            <a:normAutofit fontScale="90000"/>
          </a:bodyPr>
          <a:lstStyle/>
          <a:p>
            <a:pPr algn="ctr"/>
            <a:r>
              <a:rPr lang="fr-FR" sz="6000" b="1" dirty="0">
                <a:solidFill>
                  <a:schemeClr val="accent4"/>
                </a:solidFill>
              </a:rPr>
              <a:t>INTRODUCTION</a:t>
            </a:r>
            <a:br>
              <a:rPr lang="fr-FR" b="1" dirty="0"/>
            </a:br>
            <a:endParaRPr lang="fr-FR" dirty="0"/>
          </a:p>
        </p:txBody>
      </p:sp>
      <p:sp>
        <p:nvSpPr>
          <p:cNvPr id="3" name="Espace réservé du contenu 2">
            <a:extLst>
              <a:ext uri="{FF2B5EF4-FFF2-40B4-BE49-F238E27FC236}">
                <a16:creationId xmlns:a16="http://schemas.microsoft.com/office/drawing/2014/main" id="{7081A670-FE3B-DBE3-930A-E5F24D2CE3A6}"/>
              </a:ext>
            </a:extLst>
          </p:cNvPr>
          <p:cNvSpPr>
            <a:spLocks noGrp="1"/>
          </p:cNvSpPr>
          <p:nvPr>
            <p:ph idx="1"/>
          </p:nvPr>
        </p:nvSpPr>
        <p:spPr>
          <a:xfrm>
            <a:off x="819453" y="1690688"/>
            <a:ext cx="10515600" cy="4351338"/>
          </a:xfrm>
        </p:spPr>
        <p:txBody>
          <a:bodyPr/>
          <a:lstStyle/>
          <a:p>
            <a:pPr marL="0" indent="0" algn="ctr">
              <a:buNone/>
            </a:pPr>
            <a:r>
              <a:rPr lang="fr-FR" dirty="0">
                <a:solidFill>
                  <a:srgbClr val="FF0000"/>
                </a:solidFill>
              </a:rPr>
              <a:t>MONTEZ LES DIAPOS DU FISCALISTE</a:t>
            </a:r>
            <a:endParaRPr lang="fr-FR" b="1" dirty="0">
              <a:solidFill>
                <a:srgbClr val="FF0000"/>
              </a:solidFill>
            </a:endParaRPr>
          </a:p>
          <a:p>
            <a:endParaRPr lang="fr-FR" dirty="0"/>
          </a:p>
        </p:txBody>
      </p:sp>
      <p:pic>
        <p:nvPicPr>
          <p:cNvPr id="6" name="Image 5">
            <a:extLst>
              <a:ext uri="{FF2B5EF4-FFF2-40B4-BE49-F238E27FC236}">
                <a16:creationId xmlns:a16="http://schemas.microsoft.com/office/drawing/2014/main" id="{71A09508-082E-993D-A855-50FE9C28C4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796" y="2615667"/>
            <a:ext cx="461431" cy="487119"/>
          </a:xfrm>
          <a:prstGeom prst="rect">
            <a:avLst/>
          </a:prstGeom>
        </p:spPr>
      </p:pic>
      <p:pic>
        <p:nvPicPr>
          <p:cNvPr id="7" name="Image 6">
            <a:extLst>
              <a:ext uri="{FF2B5EF4-FFF2-40B4-BE49-F238E27FC236}">
                <a16:creationId xmlns:a16="http://schemas.microsoft.com/office/drawing/2014/main" id="{7C7E4321-35D3-777F-7764-64CFE395E7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053" y="3522810"/>
            <a:ext cx="461432" cy="487120"/>
          </a:xfrm>
          <a:prstGeom prst="rect">
            <a:avLst/>
          </a:prstGeom>
        </p:spPr>
      </p:pic>
      <p:cxnSp>
        <p:nvCxnSpPr>
          <p:cNvPr id="12" name="Connecteur droit 11">
            <a:extLst>
              <a:ext uri="{FF2B5EF4-FFF2-40B4-BE49-F238E27FC236}">
                <a16:creationId xmlns:a16="http://schemas.microsoft.com/office/drawing/2014/main" id="{C40D764B-7C95-A8BF-4B40-40DE0B660863}"/>
              </a:ext>
            </a:extLst>
          </p:cNvPr>
          <p:cNvCxnSpPr/>
          <p:nvPr/>
        </p:nvCxnSpPr>
        <p:spPr>
          <a:xfrm>
            <a:off x="875715" y="1204686"/>
            <a:ext cx="10880856" cy="0"/>
          </a:xfrm>
          <a:prstGeom prst="line">
            <a:avLst/>
          </a:prstGeom>
        </p:spPr>
        <p:style>
          <a:lnRef idx="1">
            <a:schemeClr val="dk1"/>
          </a:lnRef>
          <a:fillRef idx="0">
            <a:schemeClr val="dk1"/>
          </a:fillRef>
          <a:effectRef idx="0">
            <a:schemeClr val="dk1"/>
          </a:effectRef>
          <a:fontRef idx="minor">
            <a:schemeClr val="tx1"/>
          </a:fontRef>
        </p:style>
      </p:cxnSp>
      <p:sp>
        <p:nvSpPr>
          <p:cNvPr id="13" name="Espace réservé du numéro de diapositive 1">
            <a:extLst>
              <a:ext uri="{FF2B5EF4-FFF2-40B4-BE49-F238E27FC236}">
                <a16:creationId xmlns:a16="http://schemas.microsoft.com/office/drawing/2014/main" id="{26926A75-9B39-4154-8E45-A852ADAC8242}"/>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21</a:t>
            </a:fld>
            <a:endParaRPr lang="fr-CI" dirty="0">
              <a:solidFill>
                <a:schemeClr val="bg1">
                  <a:lumMod val="65000"/>
                </a:schemeClr>
              </a:solidFill>
            </a:endParaRPr>
          </a:p>
        </p:txBody>
      </p:sp>
      <p:pic>
        <p:nvPicPr>
          <p:cNvPr id="4" name="Image 3">
            <a:extLst>
              <a:ext uri="{FF2B5EF4-FFF2-40B4-BE49-F238E27FC236}">
                <a16:creationId xmlns:a16="http://schemas.microsoft.com/office/drawing/2014/main" id="{E6006E1F-FEB5-2093-EFF6-42EFFD4693F2}"/>
              </a:ext>
            </a:extLst>
          </p:cNvPr>
          <p:cNvPicPr>
            <a:picLocks noChangeAspect="1"/>
          </p:cNvPicPr>
          <p:nvPr/>
        </p:nvPicPr>
        <p:blipFill rotWithShape="1">
          <a:blip r:embed="rId3">
            <a:extLst>
              <a:ext uri="{28A0092B-C50C-407E-A947-70E740481C1C}">
                <a14:useLocalDpi xmlns:a14="http://schemas.microsoft.com/office/drawing/2010/main" val="0"/>
              </a:ext>
            </a:extLst>
          </a:blip>
          <a:srcRect l="13234" t="32390" r="22347" b="45262"/>
          <a:stretch>
            <a:fillRect/>
          </a:stretch>
        </p:blipFill>
        <p:spPr bwMode="auto">
          <a:xfrm>
            <a:off x="9650186" y="5419813"/>
            <a:ext cx="2406949" cy="793817"/>
          </a:xfrm>
          <a:prstGeom prst="rect">
            <a:avLst/>
          </a:prstGeom>
          <a:noFill/>
          <a:ln>
            <a:noFill/>
          </a:ln>
          <a:extLst>
            <a:ext uri="{53640926-AAD7-44D8-BBD7-CCE9431645EC}">
              <a14:shadowObscured xmlns:a14="http://schemas.microsoft.com/office/drawing/2010/main"/>
            </a:ext>
          </a:extLst>
        </p:spPr>
      </p:pic>
      <p:sp>
        <p:nvSpPr>
          <p:cNvPr id="5" name="Sous-titre 2">
            <a:extLst>
              <a:ext uri="{FF2B5EF4-FFF2-40B4-BE49-F238E27FC236}">
                <a16:creationId xmlns:a16="http://schemas.microsoft.com/office/drawing/2014/main" id="{EBDB999C-0674-043B-9FF8-AC7FF1CDD5C3}"/>
              </a:ext>
            </a:extLst>
          </p:cNvPr>
          <p:cNvSpPr txBox="1">
            <a:spLocks/>
          </p:cNvSpPr>
          <p:nvPr/>
        </p:nvSpPr>
        <p:spPr>
          <a:xfrm>
            <a:off x="9397756" y="6148967"/>
            <a:ext cx="2659379" cy="793817"/>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lnSpc>
                <a:spcPct val="100000"/>
              </a:lnSpc>
            </a:pP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lnSpc>
                <a:spcPct val="100000"/>
              </a:lnSpc>
            </a:pPr>
            <a:r>
              <a:rPr lang="fr-FR" sz="1200" b="1" spc="-15" dirty="0">
                <a:latin typeface="Tw Cen MT"/>
                <a:cs typeface="Tw Cen MT"/>
              </a:rPr>
              <a:t>27-22-42-14-43 / dcknowing@gmail.com</a:t>
            </a:r>
            <a:endParaRPr lang="fr-FR" sz="1200" b="1" dirty="0">
              <a:latin typeface="Tw Cen MT"/>
              <a:cs typeface="Tw Cen MT"/>
            </a:endParaRPr>
          </a:p>
        </p:txBody>
      </p:sp>
      <p:pic>
        <p:nvPicPr>
          <p:cNvPr id="11" name="Image 10">
            <a:extLst>
              <a:ext uri="{FF2B5EF4-FFF2-40B4-BE49-F238E27FC236}">
                <a16:creationId xmlns:a16="http://schemas.microsoft.com/office/drawing/2014/main" id="{CDFAAA84-D2A6-7055-A5BC-FE971DF5DD3B}"/>
              </a:ext>
            </a:extLst>
          </p:cNvPr>
          <p:cNvPicPr>
            <a:picLocks noChangeAspect="1"/>
          </p:cNvPicPr>
          <p:nvPr/>
        </p:nvPicPr>
        <p:blipFill>
          <a:blip r:embed="rId4"/>
          <a:srcRect l="50000" r="26459"/>
          <a:stretch>
            <a:fillRect/>
          </a:stretch>
        </p:blipFill>
        <p:spPr>
          <a:xfrm>
            <a:off x="0" y="437191"/>
            <a:ext cx="512364" cy="6281587"/>
          </a:xfrm>
          <a:prstGeom prst="rect">
            <a:avLst/>
          </a:prstGeom>
        </p:spPr>
      </p:pic>
    </p:spTree>
    <p:extLst>
      <p:ext uri="{BB962C8B-B14F-4D97-AF65-F5344CB8AC3E}">
        <p14:creationId xmlns:p14="http://schemas.microsoft.com/office/powerpoint/2010/main" val="3324303728"/>
      </p:ext>
    </p:extLst>
  </p:cSld>
  <p:clrMapOvr>
    <a:masterClrMapping/>
  </p:clrMapOvr>
  <p:transition spd="slow" advTm="10000">
    <p:wip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06A77D-DF52-4F7D-06C3-A27A87A672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17F2CE-CAD7-F5C0-10A4-ED9EB2753E5E}"/>
              </a:ext>
            </a:extLst>
          </p:cNvPr>
          <p:cNvSpPr>
            <a:spLocks noGrp="1"/>
          </p:cNvSpPr>
          <p:nvPr>
            <p:ph type="ctrTitle"/>
          </p:nvPr>
        </p:nvSpPr>
        <p:spPr>
          <a:xfrm>
            <a:off x="1524000" y="1543276"/>
            <a:ext cx="9757340" cy="1082118"/>
          </a:xfrm>
        </p:spPr>
        <p:txBody>
          <a:bodyPr>
            <a:normAutofit/>
          </a:bodyPr>
          <a:lstStyle/>
          <a:p>
            <a:r>
              <a:rPr lang="fr-FR" b="1" dirty="0">
                <a:solidFill>
                  <a:srgbClr val="FF0000"/>
                </a:solidFill>
              </a:rPr>
              <a:t>INTERVENTION DU BANQUIER</a:t>
            </a:r>
            <a:endParaRPr lang="fr-FR" dirty="0">
              <a:solidFill>
                <a:srgbClr val="FF0000"/>
              </a:solidFill>
            </a:endParaRPr>
          </a:p>
        </p:txBody>
      </p:sp>
      <p:sp>
        <p:nvSpPr>
          <p:cNvPr id="4" name="Espace réservé du numéro de diapositive 1">
            <a:extLst>
              <a:ext uri="{FF2B5EF4-FFF2-40B4-BE49-F238E27FC236}">
                <a16:creationId xmlns:a16="http://schemas.microsoft.com/office/drawing/2014/main" id="{E9884263-BF2B-A1BC-32EB-8B17A3803188}"/>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22</a:t>
            </a:fld>
            <a:endParaRPr lang="fr-CI" dirty="0">
              <a:solidFill>
                <a:schemeClr val="bg1">
                  <a:lumMod val="65000"/>
                </a:schemeClr>
              </a:solidFill>
            </a:endParaRPr>
          </a:p>
        </p:txBody>
      </p:sp>
      <p:pic>
        <p:nvPicPr>
          <p:cNvPr id="6" name="Image 5">
            <a:extLst>
              <a:ext uri="{FF2B5EF4-FFF2-40B4-BE49-F238E27FC236}">
                <a16:creationId xmlns:a16="http://schemas.microsoft.com/office/drawing/2014/main" id="{DBFF7CDD-9B58-8D1B-4A90-4FFCF507C4A6}"/>
              </a:ext>
            </a:extLst>
          </p:cNvPr>
          <p:cNvPicPr>
            <a:picLocks noChangeAspect="1"/>
          </p:cNvPicPr>
          <p:nvPr/>
        </p:nvPicPr>
        <p:blipFill rotWithShape="1">
          <a:blip r:embed="rId2">
            <a:extLst>
              <a:ext uri="{28A0092B-C50C-407E-A947-70E740481C1C}">
                <a14:useLocalDpi xmlns:a14="http://schemas.microsoft.com/office/drawing/2010/main" val="0"/>
              </a:ext>
            </a:extLst>
          </a:blip>
          <a:srcRect l="13234" t="32390" r="22347" b="45262"/>
          <a:stretch>
            <a:fillRect/>
          </a:stretch>
        </p:blipFill>
        <p:spPr bwMode="auto">
          <a:xfrm>
            <a:off x="9650186" y="5419813"/>
            <a:ext cx="2406949" cy="793817"/>
          </a:xfrm>
          <a:prstGeom prst="rect">
            <a:avLst/>
          </a:prstGeom>
          <a:noFill/>
          <a:ln>
            <a:noFill/>
          </a:ln>
          <a:extLst>
            <a:ext uri="{53640926-AAD7-44D8-BBD7-CCE9431645EC}">
              <a14:shadowObscured xmlns:a14="http://schemas.microsoft.com/office/drawing/2010/main"/>
            </a:ext>
          </a:extLst>
        </p:spPr>
      </p:pic>
      <p:sp>
        <p:nvSpPr>
          <p:cNvPr id="7" name="Sous-titre 2">
            <a:extLst>
              <a:ext uri="{FF2B5EF4-FFF2-40B4-BE49-F238E27FC236}">
                <a16:creationId xmlns:a16="http://schemas.microsoft.com/office/drawing/2014/main" id="{DEF7F0CD-D171-AC17-98AD-DA8455943C88}"/>
              </a:ext>
            </a:extLst>
          </p:cNvPr>
          <p:cNvSpPr txBox="1">
            <a:spLocks/>
          </p:cNvSpPr>
          <p:nvPr/>
        </p:nvSpPr>
        <p:spPr>
          <a:xfrm>
            <a:off x="9397756" y="6148967"/>
            <a:ext cx="2659379" cy="793817"/>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lnSpc>
                <a:spcPct val="100000"/>
              </a:lnSpc>
            </a:pP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lnSpc>
                <a:spcPct val="100000"/>
              </a:lnSpc>
            </a:pPr>
            <a:r>
              <a:rPr lang="fr-FR" sz="1200" b="1" spc="-15" dirty="0">
                <a:latin typeface="Tw Cen MT"/>
                <a:cs typeface="Tw Cen MT"/>
              </a:rPr>
              <a:t>27-22-42-14-43 / dcknowing@gmail.com</a:t>
            </a:r>
            <a:endParaRPr lang="fr-FR" sz="1200" b="1" dirty="0">
              <a:latin typeface="Tw Cen MT"/>
              <a:cs typeface="Tw Cen MT"/>
            </a:endParaRPr>
          </a:p>
        </p:txBody>
      </p:sp>
      <p:sp>
        <p:nvSpPr>
          <p:cNvPr id="3" name="Sous-titre 2">
            <a:extLst>
              <a:ext uri="{FF2B5EF4-FFF2-40B4-BE49-F238E27FC236}">
                <a16:creationId xmlns:a16="http://schemas.microsoft.com/office/drawing/2014/main" id="{07AB969C-FF36-6C91-F9BF-84C279366DE0}"/>
              </a:ext>
            </a:extLst>
          </p:cNvPr>
          <p:cNvSpPr>
            <a:spLocks noGrp="1"/>
          </p:cNvSpPr>
          <p:nvPr>
            <p:ph type="subTitle" idx="1"/>
          </p:nvPr>
        </p:nvSpPr>
        <p:spPr>
          <a:xfrm>
            <a:off x="1925632" y="2520484"/>
            <a:ext cx="8993945" cy="2691034"/>
          </a:xfrm>
        </p:spPr>
        <p:txBody>
          <a:bodyPr>
            <a:normAutofit fontScale="70000" lnSpcReduction="20000"/>
          </a:bodyPr>
          <a:lstStyle/>
          <a:p>
            <a:pPr algn="l"/>
            <a:r>
              <a:rPr lang="fr-FR" dirty="0">
                <a:solidFill>
                  <a:schemeClr val="tx2">
                    <a:lumMod val="75000"/>
                  </a:schemeClr>
                </a:solidFill>
                <a:latin typeface="Aptos" panose="020B0004020202020204" pitchFamily="34" charset="0"/>
              </a:rPr>
              <a:t>Dans ces diapos qui vont suivre vous êtes autorisés en tant que banquier à  :</a:t>
            </a:r>
          </a:p>
          <a:p>
            <a:pPr marL="342900" indent="-342900" algn="l">
              <a:buFontTx/>
              <a:buChar char="-"/>
            </a:pPr>
            <a:r>
              <a:rPr lang="fr-FR" dirty="0">
                <a:solidFill>
                  <a:schemeClr val="tx2">
                    <a:lumMod val="75000"/>
                  </a:schemeClr>
                </a:solidFill>
                <a:latin typeface="Aptos" panose="020B0004020202020204" pitchFamily="34" charset="0"/>
              </a:rPr>
              <a:t>Modifier ou actualiser les informations rapportées</a:t>
            </a:r>
          </a:p>
          <a:p>
            <a:pPr marL="342900" indent="-342900" algn="l">
              <a:buFontTx/>
              <a:buChar char="-"/>
            </a:pPr>
            <a:r>
              <a:rPr lang="fr-FR" dirty="0">
                <a:solidFill>
                  <a:schemeClr val="tx2">
                    <a:lumMod val="75000"/>
                  </a:schemeClr>
                </a:solidFill>
                <a:latin typeface="Aptos" panose="020B0004020202020204" pitchFamily="34" charset="0"/>
              </a:rPr>
              <a:t>Faire des inputs et revoir des formulations</a:t>
            </a:r>
          </a:p>
          <a:p>
            <a:pPr marL="342900" indent="-342900" algn="l">
              <a:buFontTx/>
              <a:buChar char="-"/>
            </a:pPr>
            <a:r>
              <a:rPr lang="fr-FR" dirty="0">
                <a:solidFill>
                  <a:schemeClr val="tx2">
                    <a:lumMod val="75000"/>
                  </a:schemeClr>
                </a:solidFill>
                <a:latin typeface="Aptos" panose="020B0004020202020204" pitchFamily="34" charset="0"/>
              </a:rPr>
              <a:t>Faire des corrections</a:t>
            </a:r>
          </a:p>
          <a:p>
            <a:pPr marL="342900" indent="-342900" algn="l">
              <a:buFontTx/>
              <a:buChar char="-"/>
            </a:pPr>
            <a:r>
              <a:rPr lang="fr-FR" dirty="0">
                <a:solidFill>
                  <a:schemeClr val="tx2">
                    <a:lumMod val="75000"/>
                  </a:schemeClr>
                </a:solidFill>
                <a:latin typeface="Aptos" panose="020B0004020202020204" pitchFamily="34" charset="0"/>
              </a:rPr>
              <a:t>Réorganiser son sommaire</a:t>
            </a:r>
          </a:p>
          <a:p>
            <a:pPr marL="342900" indent="-342900" algn="l">
              <a:buFontTx/>
              <a:buChar char="-"/>
            </a:pPr>
            <a:r>
              <a:rPr lang="fr-FR" dirty="0">
                <a:solidFill>
                  <a:schemeClr val="tx2">
                    <a:lumMod val="75000"/>
                  </a:schemeClr>
                </a:solidFill>
                <a:latin typeface="Aptos" panose="020B0004020202020204" pitchFamily="34" charset="0"/>
              </a:rPr>
              <a:t>Améliorer ses animations et autres </a:t>
            </a:r>
          </a:p>
          <a:p>
            <a:pPr marL="342900" indent="-342900" algn="l">
              <a:buFontTx/>
              <a:buChar char="-"/>
            </a:pPr>
            <a:endParaRPr lang="fr-FR" dirty="0">
              <a:solidFill>
                <a:schemeClr val="tx2">
                  <a:lumMod val="75000"/>
                </a:schemeClr>
              </a:solidFill>
              <a:latin typeface="Aptos" panose="020B0004020202020204" pitchFamily="34" charset="0"/>
            </a:endParaRPr>
          </a:p>
          <a:p>
            <a:pPr algn="l"/>
            <a:r>
              <a:rPr lang="fr-FR" dirty="0" err="1">
                <a:solidFill>
                  <a:srgbClr val="FF0000"/>
                </a:solidFill>
                <a:latin typeface="Aptos" panose="020B0004020202020204" pitchFamily="34" charset="0"/>
              </a:rPr>
              <a:t>N.B</a:t>
            </a:r>
            <a:r>
              <a:rPr lang="fr-FR" dirty="0">
                <a:solidFill>
                  <a:srgbClr val="FF0000"/>
                </a:solidFill>
                <a:latin typeface="Aptos" panose="020B0004020202020204" pitchFamily="34" charset="0"/>
              </a:rPr>
              <a:t>: </a:t>
            </a:r>
            <a:r>
              <a:rPr lang="fr-FR" i="1" dirty="0">
                <a:solidFill>
                  <a:srgbClr val="FF0000"/>
                </a:solidFill>
                <a:latin typeface="Aptos" panose="020B0004020202020204" pitchFamily="34" charset="0"/>
              </a:rPr>
              <a:t>il est simplement tenu de conserver le masque de présentation à savoir la disposition à gauche de DC-Knowing et le logo en bas à droite</a:t>
            </a:r>
            <a:r>
              <a:rPr lang="fr-FR" dirty="0">
                <a:solidFill>
                  <a:srgbClr val="FF0000"/>
                </a:solidFill>
                <a:latin typeface="Aptos" panose="020B0004020202020204" pitchFamily="34" charset="0"/>
              </a:rPr>
              <a:t>.</a:t>
            </a:r>
          </a:p>
          <a:p>
            <a:endParaRPr lang="fr-FR" dirty="0"/>
          </a:p>
        </p:txBody>
      </p:sp>
      <p:pic>
        <p:nvPicPr>
          <p:cNvPr id="8" name="Image 7">
            <a:extLst>
              <a:ext uri="{FF2B5EF4-FFF2-40B4-BE49-F238E27FC236}">
                <a16:creationId xmlns:a16="http://schemas.microsoft.com/office/drawing/2014/main" id="{A25F5780-812E-FC07-09ED-E2C85C43EAD1}"/>
              </a:ext>
            </a:extLst>
          </p:cNvPr>
          <p:cNvPicPr>
            <a:picLocks noChangeAspect="1"/>
          </p:cNvPicPr>
          <p:nvPr/>
        </p:nvPicPr>
        <p:blipFill>
          <a:blip r:embed="rId3"/>
          <a:srcRect l="50000" r="26459"/>
          <a:stretch>
            <a:fillRect/>
          </a:stretch>
        </p:blipFill>
        <p:spPr>
          <a:xfrm>
            <a:off x="0" y="437191"/>
            <a:ext cx="512364" cy="6281587"/>
          </a:xfrm>
          <a:prstGeom prst="rect">
            <a:avLst/>
          </a:prstGeom>
        </p:spPr>
      </p:pic>
    </p:spTree>
    <p:extLst>
      <p:ext uri="{BB962C8B-B14F-4D97-AF65-F5344CB8AC3E}">
        <p14:creationId xmlns:p14="http://schemas.microsoft.com/office/powerpoint/2010/main" val="3024208038"/>
      </p:ext>
    </p:extLst>
  </p:cSld>
  <p:clrMapOvr>
    <a:masterClrMapping/>
  </p:clrMapOvr>
  <mc:AlternateContent xmlns:mc="http://schemas.openxmlformats.org/markup-compatibility/2006">
    <mc:Choice xmlns:p14="http://schemas.microsoft.com/office/powerpoint/2010/main" Requires="p14">
      <p:transition spd="slow" p14:dur="1500" advTm="5000">
        <p:split orient="vert"/>
      </p:transition>
    </mc:Choice>
    <mc:Fallback>
      <p:transition spd="slow" advTm="5000">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4DC74-DF9E-38C7-D5EE-BAA05F90F8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E79B9FD-F98B-86F4-D429-F50236118BE9}"/>
              </a:ext>
            </a:extLst>
          </p:cNvPr>
          <p:cNvSpPr>
            <a:spLocks noGrp="1"/>
          </p:cNvSpPr>
          <p:nvPr>
            <p:ph type="title"/>
          </p:nvPr>
        </p:nvSpPr>
        <p:spPr/>
        <p:txBody>
          <a:bodyPr>
            <a:normAutofit fontScale="90000"/>
          </a:bodyPr>
          <a:lstStyle/>
          <a:p>
            <a:pPr algn="ctr"/>
            <a:r>
              <a:rPr lang="fr-FR" sz="6000" b="1" dirty="0">
                <a:solidFill>
                  <a:schemeClr val="accent4"/>
                </a:solidFill>
              </a:rPr>
              <a:t>INTRODUCTION</a:t>
            </a:r>
            <a:br>
              <a:rPr lang="fr-FR" b="1" dirty="0"/>
            </a:br>
            <a:endParaRPr lang="fr-FR" dirty="0"/>
          </a:p>
        </p:txBody>
      </p:sp>
      <p:sp>
        <p:nvSpPr>
          <p:cNvPr id="3" name="Espace réservé du contenu 2">
            <a:extLst>
              <a:ext uri="{FF2B5EF4-FFF2-40B4-BE49-F238E27FC236}">
                <a16:creationId xmlns:a16="http://schemas.microsoft.com/office/drawing/2014/main" id="{A4850A32-6EE7-F9ED-3119-8E3FDC9BF05B}"/>
              </a:ext>
            </a:extLst>
          </p:cNvPr>
          <p:cNvSpPr>
            <a:spLocks noGrp="1"/>
          </p:cNvSpPr>
          <p:nvPr>
            <p:ph idx="1"/>
          </p:nvPr>
        </p:nvSpPr>
        <p:spPr>
          <a:xfrm>
            <a:off x="819453" y="1690688"/>
            <a:ext cx="10515600" cy="4351338"/>
          </a:xfrm>
        </p:spPr>
        <p:txBody>
          <a:bodyPr/>
          <a:lstStyle/>
          <a:p>
            <a:pPr marL="0" indent="0" algn="ctr">
              <a:buNone/>
            </a:pPr>
            <a:r>
              <a:rPr lang="fr-FR" dirty="0">
                <a:solidFill>
                  <a:srgbClr val="FF0000"/>
                </a:solidFill>
              </a:rPr>
              <a:t>MONTEZ LES DIAPOS DU BANQUIER</a:t>
            </a:r>
            <a:endParaRPr lang="fr-FR" b="1" dirty="0">
              <a:solidFill>
                <a:srgbClr val="FF0000"/>
              </a:solidFill>
            </a:endParaRPr>
          </a:p>
          <a:p>
            <a:endParaRPr lang="fr-FR" dirty="0"/>
          </a:p>
        </p:txBody>
      </p:sp>
      <p:pic>
        <p:nvPicPr>
          <p:cNvPr id="6" name="Image 5">
            <a:extLst>
              <a:ext uri="{FF2B5EF4-FFF2-40B4-BE49-F238E27FC236}">
                <a16:creationId xmlns:a16="http://schemas.microsoft.com/office/drawing/2014/main" id="{2FCA60A7-4CB2-B301-9ACE-7303E05E5D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796" y="2615667"/>
            <a:ext cx="461431" cy="487119"/>
          </a:xfrm>
          <a:prstGeom prst="rect">
            <a:avLst/>
          </a:prstGeom>
        </p:spPr>
      </p:pic>
      <p:pic>
        <p:nvPicPr>
          <p:cNvPr id="7" name="Image 6">
            <a:extLst>
              <a:ext uri="{FF2B5EF4-FFF2-40B4-BE49-F238E27FC236}">
                <a16:creationId xmlns:a16="http://schemas.microsoft.com/office/drawing/2014/main" id="{AC3513B8-3C76-0875-1528-FD1468790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053" y="3522810"/>
            <a:ext cx="461432" cy="487120"/>
          </a:xfrm>
          <a:prstGeom prst="rect">
            <a:avLst/>
          </a:prstGeom>
        </p:spPr>
      </p:pic>
      <p:cxnSp>
        <p:nvCxnSpPr>
          <p:cNvPr id="12" name="Connecteur droit 11">
            <a:extLst>
              <a:ext uri="{FF2B5EF4-FFF2-40B4-BE49-F238E27FC236}">
                <a16:creationId xmlns:a16="http://schemas.microsoft.com/office/drawing/2014/main" id="{3FC96C2B-B8AA-7B80-98E6-8F346AC9D4E4}"/>
              </a:ext>
            </a:extLst>
          </p:cNvPr>
          <p:cNvCxnSpPr/>
          <p:nvPr/>
        </p:nvCxnSpPr>
        <p:spPr>
          <a:xfrm>
            <a:off x="875715" y="1204686"/>
            <a:ext cx="10880856" cy="0"/>
          </a:xfrm>
          <a:prstGeom prst="line">
            <a:avLst/>
          </a:prstGeom>
        </p:spPr>
        <p:style>
          <a:lnRef idx="1">
            <a:schemeClr val="dk1"/>
          </a:lnRef>
          <a:fillRef idx="0">
            <a:schemeClr val="dk1"/>
          </a:fillRef>
          <a:effectRef idx="0">
            <a:schemeClr val="dk1"/>
          </a:effectRef>
          <a:fontRef idx="minor">
            <a:schemeClr val="tx1"/>
          </a:fontRef>
        </p:style>
      </p:cxnSp>
      <p:sp>
        <p:nvSpPr>
          <p:cNvPr id="13" name="Espace réservé du numéro de diapositive 1">
            <a:extLst>
              <a:ext uri="{FF2B5EF4-FFF2-40B4-BE49-F238E27FC236}">
                <a16:creationId xmlns:a16="http://schemas.microsoft.com/office/drawing/2014/main" id="{580ED50D-1BBF-897E-B514-10DDB044D534}"/>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23</a:t>
            </a:fld>
            <a:endParaRPr lang="fr-CI" dirty="0">
              <a:solidFill>
                <a:schemeClr val="bg1">
                  <a:lumMod val="65000"/>
                </a:schemeClr>
              </a:solidFill>
            </a:endParaRPr>
          </a:p>
        </p:txBody>
      </p:sp>
      <p:pic>
        <p:nvPicPr>
          <p:cNvPr id="4" name="Image 3">
            <a:extLst>
              <a:ext uri="{FF2B5EF4-FFF2-40B4-BE49-F238E27FC236}">
                <a16:creationId xmlns:a16="http://schemas.microsoft.com/office/drawing/2014/main" id="{2EA96CA1-2966-3C43-CF82-3EC12303EACC}"/>
              </a:ext>
            </a:extLst>
          </p:cNvPr>
          <p:cNvPicPr>
            <a:picLocks noChangeAspect="1"/>
          </p:cNvPicPr>
          <p:nvPr/>
        </p:nvPicPr>
        <p:blipFill rotWithShape="1">
          <a:blip r:embed="rId3">
            <a:extLst>
              <a:ext uri="{28A0092B-C50C-407E-A947-70E740481C1C}">
                <a14:useLocalDpi xmlns:a14="http://schemas.microsoft.com/office/drawing/2010/main" val="0"/>
              </a:ext>
            </a:extLst>
          </a:blip>
          <a:srcRect l="13234" t="32390" r="22347" b="45262"/>
          <a:stretch>
            <a:fillRect/>
          </a:stretch>
        </p:blipFill>
        <p:spPr bwMode="auto">
          <a:xfrm>
            <a:off x="9650186" y="5419813"/>
            <a:ext cx="2406949" cy="793817"/>
          </a:xfrm>
          <a:prstGeom prst="rect">
            <a:avLst/>
          </a:prstGeom>
          <a:noFill/>
          <a:ln>
            <a:noFill/>
          </a:ln>
          <a:extLst>
            <a:ext uri="{53640926-AAD7-44D8-BBD7-CCE9431645EC}">
              <a14:shadowObscured xmlns:a14="http://schemas.microsoft.com/office/drawing/2010/main"/>
            </a:ext>
          </a:extLst>
        </p:spPr>
      </p:pic>
      <p:sp>
        <p:nvSpPr>
          <p:cNvPr id="5" name="Sous-titre 2">
            <a:extLst>
              <a:ext uri="{FF2B5EF4-FFF2-40B4-BE49-F238E27FC236}">
                <a16:creationId xmlns:a16="http://schemas.microsoft.com/office/drawing/2014/main" id="{976B2131-DEF0-9699-096D-2F32FC25E98F}"/>
              </a:ext>
            </a:extLst>
          </p:cNvPr>
          <p:cNvSpPr txBox="1">
            <a:spLocks/>
          </p:cNvSpPr>
          <p:nvPr/>
        </p:nvSpPr>
        <p:spPr>
          <a:xfrm>
            <a:off x="9397756" y="6148967"/>
            <a:ext cx="2659379" cy="793817"/>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lnSpc>
                <a:spcPct val="100000"/>
              </a:lnSpc>
            </a:pP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lnSpc>
                <a:spcPct val="100000"/>
              </a:lnSpc>
            </a:pPr>
            <a:r>
              <a:rPr lang="fr-FR" sz="1200" b="1" spc="-15" dirty="0">
                <a:latin typeface="Tw Cen MT"/>
                <a:cs typeface="Tw Cen MT"/>
              </a:rPr>
              <a:t>27-22-42-14-43 / dcknowing@gmail.com</a:t>
            </a:r>
            <a:endParaRPr lang="fr-FR" sz="1200" b="1" dirty="0">
              <a:latin typeface="Tw Cen MT"/>
              <a:cs typeface="Tw Cen MT"/>
            </a:endParaRPr>
          </a:p>
        </p:txBody>
      </p:sp>
      <p:pic>
        <p:nvPicPr>
          <p:cNvPr id="11" name="Image 10">
            <a:extLst>
              <a:ext uri="{FF2B5EF4-FFF2-40B4-BE49-F238E27FC236}">
                <a16:creationId xmlns:a16="http://schemas.microsoft.com/office/drawing/2014/main" id="{AE6251A0-2325-DB13-8052-C1C9939BE107}"/>
              </a:ext>
            </a:extLst>
          </p:cNvPr>
          <p:cNvPicPr>
            <a:picLocks noChangeAspect="1"/>
          </p:cNvPicPr>
          <p:nvPr/>
        </p:nvPicPr>
        <p:blipFill>
          <a:blip r:embed="rId4"/>
          <a:srcRect l="50000" r="26459"/>
          <a:stretch>
            <a:fillRect/>
          </a:stretch>
        </p:blipFill>
        <p:spPr>
          <a:xfrm>
            <a:off x="0" y="437191"/>
            <a:ext cx="512364" cy="6281587"/>
          </a:xfrm>
          <a:prstGeom prst="rect">
            <a:avLst/>
          </a:prstGeom>
        </p:spPr>
      </p:pic>
    </p:spTree>
    <p:extLst>
      <p:ext uri="{BB962C8B-B14F-4D97-AF65-F5344CB8AC3E}">
        <p14:creationId xmlns:p14="http://schemas.microsoft.com/office/powerpoint/2010/main" val="1622003441"/>
      </p:ext>
    </p:extLst>
  </p:cSld>
  <p:clrMapOvr>
    <a:masterClrMapping/>
  </p:clrMapOvr>
  <p:transition spd="slow" advTm="10000">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9BA3B0-D513-147C-B041-104327548426}"/>
              </a:ext>
            </a:extLst>
          </p:cNvPr>
          <p:cNvSpPr>
            <a:spLocks noChangeArrowheads="1"/>
          </p:cNvSpPr>
          <p:nvPr/>
        </p:nvSpPr>
        <p:spPr bwMode="auto">
          <a:xfrm>
            <a:off x="1353837" y="2751674"/>
            <a:ext cx="10297751" cy="2333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01568"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fr-FR" sz="32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fr-FR" sz="2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a:ln>
                  <a:noFill/>
                </a:ln>
                <a:solidFill>
                  <a:srgbClr val="00B0F0"/>
                </a:solidFill>
                <a:effectLst/>
                <a:latin typeface="Arial" panose="020B0604020202020204" pitchFamily="34" charset="0"/>
                <a:ea typeface="Calibri" panose="020F0502020204030204" pitchFamily="34" charset="0"/>
                <a:cs typeface="Times New Roman" panose="02020603050405020304" pitchFamily="18" charset="0"/>
              </a:rPr>
              <a:t>Place aux questions, préoccupations, contributions</a:t>
            </a:r>
            <a:br>
              <a:rPr kumimoji="0" lang="fr-FR" altLang="fr-FR" sz="3200" b="0" i="0" u="none" strike="noStrike" cap="none" normalizeH="0" baseline="0" dirty="0">
                <a:ln>
                  <a:noFill/>
                </a:ln>
                <a:solidFill>
                  <a:srgbClr val="00B0F0"/>
                </a:solidFill>
                <a:effectLst/>
                <a:latin typeface="Arial" panose="020B0604020202020204" pitchFamily="34" charset="0"/>
                <a:ea typeface="Calibri" panose="020F0502020204030204" pitchFamily="34" charset="0"/>
                <a:cs typeface="Times New Roman" panose="02020603050405020304" pitchFamily="18" charset="0"/>
              </a:rPr>
            </a:br>
            <a:r>
              <a:rPr kumimoji="0" lang="fr-FR" altLang="fr-FR" sz="3200" b="0" i="0" u="none" strike="noStrike" cap="none" normalizeH="0" baseline="0" dirty="0">
                <a:ln>
                  <a:noFill/>
                </a:ln>
                <a:solidFill>
                  <a:srgbClr val="00B0F0"/>
                </a:solidFill>
                <a:effectLst/>
                <a:latin typeface="Arial" panose="020B0604020202020204" pitchFamily="34" charset="0"/>
                <a:ea typeface="Calibri" panose="020F0502020204030204" pitchFamily="34" charset="0"/>
                <a:cs typeface="Times New Roman" panose="02020603050405020304" pitchFamily="18" charset="0"/>
              </a:rPr>
              <a:t>Nos Experts sont disposés</a:t>
            </a:r>
            <a:r>
              <a:rPr kumimoji="0" lang="fr-FR" altLang="fr-FR" sz="3200" b="0" i="0" u="none" strike="noStrike" cap="none" normalizeH="0" dirty="0">
                <a:ln>
                  <a:noFill/>
                </a:ln>
                <a:solidFill>
                  <a:srgbClr val="00B0F0"/>
                </a:solidFill>
                <a:effectLst/>
                <a:latin typeface="Arial" panose="020B0604020202020204" pitchFamily="34" charset="0"/>
                <a:ea typeface="Calibri" panose="020F0502020204030204" pitchFamily="34" charset="0"/>
                <a:cs typeface="Times New Roman" panose="02020603050405020304" pitchFamily="18" charset="0"/>
              </a:rPr>
              <a:t> à vous répondre</a:t>
            </a:r>
            <a:endParaRPr kumimoji="0" lang="fr-FR" altLang="fr-FR" sz="1100" b="0" i="0" u="none" strike="noStrike" cap="none" normalizeH="0" baseline="0" dirty="0">
              <a:ln>
                <a:noFill/>
              </a:ln>
              <a:solidFill>
                <a:srgbClr val="00B0F0"/>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7172" name="Picture 4" descr="Images de Merci – Téléchargement gratuit sur Freepik">
            <a:extLst>
              <a:ext uri="{FF2B5EF4-FFF2-40B4-BE49-F238E27FC236}">
                <a16:creationId xmlns:a16="http://schemas.microsoft.com/office/drawing/2014/main" id="{4285B141-C1AD-6F33-7503-22951CF624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9904" y="523625"/>
            <a:ext cx="4017736" cy="2356348"/>
          </a:xfrm>
          <a:prstGeom prst="rect">
            <a:avLst/>
          </a:prstGeom>
          <a:noFill/>
          <a:extLst>
            <a:ext uri="{909E8E84-426E-40DD-AFC4-6F175D3DCCD1}">
              <a14:hiddenFill xmlns:a14="http://schemas.microsoft.com/office/drawing/2010/main">
                <a:solidFill>
                  <a:srgbClr val="FFFFFF"/>
                </a:solidFill>
              </a14:hiddenFill>
            </a:ext>
          </a:extLst>
        </p:spPr>
      </p:pic>
      <p:sp>
        <p:nvSpPr>
          <p:cNvPr id="4" name="Sous-titre 2">
            <a:extLst>
              <a:ext uri="{FF2B5EF4-FFF2-40B4-BE49-F238E27FC236}">
                <a16:creationId xmlns:a16="http://schemas.microsoft.com/office/drawing/2014/main" id="{207DB853-E6BB-FAF9-AC05-342B1123E9F5}"/>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5" name="Image 4">
            <a:extLst>
              <a:ext uri="{FF2B5EF4-FFF2-40B4-BE49-F238E27FC236}">
                <a16:creationId xmlns:a16="http://schemas.microsoft.com/office/drawing/2014/main" id="{8A4A1682-6AA3-7AF0-E193-24106C86E1F5}"/>
              </a:ext>
            </a:extLst>
          </p:cNvPr>
          <p:cNvPicPr>
            <a:picLocks noChangeAspect="1"/>
          </p:cNvPicPr>
          <p:nvPr/>
        </p:nvPicPr>
        <p:blipFill rotWithShape="1">
          <a:blip r:embed="rId3">
            <a:extLst>
              <a:ext uri="{28A0092B-C50C-407E-A947-70E740481C1C}">
                <a14:useLocalDpi xmlns:a14="http://schemas.microsoft.com/office/drawing/2010/main" val="0"/>
              </a:ext>
            </a:extLst>
          </a:blip>
          <a:srcRect t="26353" b="36177"/>
          <a:stretch/>
        </p:blipFill>
        <p:spPr bwMode="auto">
          <a:xfrm>
            <a:off x="8892540" y="5326741"/>
            <a:ext cx="3963643" cy="1346919"/>
          </a:xfrm>
          <a:prstGeom prst="rect">
            <a:avLst/>
          </a:prstGeom>
          <a:noFill/>
          <a:ln>
            <a:noFill/>
          </a:ln>
          <a:extLst>
            <a:ext uri="{53640926-AAD7-44D8-BBD7-CCE9431645EC}">
              <a14:shadowObscured xmlns:a14="http://schemas.microsoft.com/office/drawing/2010/main"/>
            </a:ext>
          </a:extLst>
        </p:spPr>
      </p:pic>
      <p:sp>
        <p:nvSpPr>
          <p:cNvPr id="6" name="Sous-titre 2">
            <a:extLst>
              <a:ext uri="{FF2B5EF4-FFF2-40B4-BE49-F238E27FC236}">
                <a16:creationId xmlns:a16="http://schemas.microsoft.com/office/drawing/2014/main" id="{4D28F0A0-091D-F17E-CA9F-E9B517A5408A}"/>
              </a:ext>
            </a:extLst>
          </p:cNvPr>
          <p:cNvSpPr txBox="1">
            <a:spLocks/>
          </p:cNvSpPr>
          <p:nvPr/>
        </p:nvSpPr>
        <p:spPr>
          <a:xfrm>
            <a:off x="7787640" y="6365412"/>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7" name="Espace réservé du numéro de diapositive 1">
            <a:extLst>
              <a:ext uri="{FF2B5EF4-FFF2-40B4-BE49-F238E27FC236}">
                <a16:creationId xmlns:a16="http://schemas.microsoft.com/office/drawing/2014/main" id="{D756B9B6-9FD8-3F2F-8358-7AE1D86B0641}"/>
              </a:ext>
            </a:extLst>
          </p:cNvPr>
          <p:cNvSpPr txBox="1">
            <a:spLocks/>
          </p:cNvSpPr>
          <p:nvPr/>
        </p:nvSpPr>
        <p:spPr>
          <a:xfrm>
            <a:off x="73457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24</a:t>
            </a:fld>
            <a:endParaRPr lang="fr-CI" dirty="0">
              <a:solidFill>
                <a:schemeClr val="bg1">
                  <a:lumMod val="65000"/>
                </a:schemeClr>
              </a:solidFill>
            </a:endParaRPr>
          </a:p>
        </p:txBody>
      </p:sp>
    </p:spTree>
    <p:extLst>
      <p:ext uri="{BB962C8B-B14F-4D97-AF65-F5344CB8AC3E}">
        <p14:creationId xmlns:p14="http://schemas.microsoft.com/office/powerpoint/2010/main" val="892611515"/>
      </p:ext>
    </p:extLst>
  </p:cSld>
  <p:clrMapOvr>
    <a:masterClrMapping/>
  </p:clrMapOvr>
  <p:transition spd="slow" advTm="20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fade">
                                      <p:cBhvr>
                                        <p:cTn id="7" dur="2000"/>
                                        <p:tgtEl>
                                          <p:spTgt spid="7172"/>
                                        </p:tgtEl>
                                      </p:cBhvr>
                                    </p:animEffect>
                                    <p:anim calcmode="lin" valueType="num">
                                      <p:cBhvr>
                                        <p:cTn id="8" dur="2000" fill="hold"/>
                                        <p:tgtEl>
                                          <p:spTgt spid="7172"/>
                                        </p:tgtEl>
                                        <p:attrNameLst>
                                          <p:attrName>ppt_w</p:attrName>
                                        </p:attrNameLst>
                                      </p:cBhvr>
                                      <p:tavLst>
                                        <p:tav tm="0" fmla="#ppt_w*sin(2.5*pi*$)">
                                          <p:val>
                                            <p:fltVal val="0"/>
                                          </p:val>
                                        </p:tav>
                                        <p:tav tm="100000">
                                          <p:val>
                                            <p:fltVal val="1"/>
                                          </p:val>
                                        </p:tav>
                                      </p:tavLst>
                                    </p:anim>
                                    <p:anim calcmode="lin" valueType="num">
                                      <p:cBhvr>
                                        <p:cTn id="9" dur="2000" fill="hold"/>
                                        <p:tgtEl>
                                          <p:spTgt spid="717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1427</Words>
  <Application>Microsoft Office PowerPoint</Application>
  <PresentationFormat>Grand écran</PresentationFormat>
  <Paragraphs>189</Paragraphs>
  <Slides>24</Slides>
  <Notes>2</Notes>
  <HiddenSlides>3</HiddenSlides>
  <MMClips>0</MMClips>
  <ScaleCrop>false</ScaleCrop>
  <HeadingPairs>
    <vt:vector size="8" baseType="variant">
      <vt:variant>
        <vt:lpstr>Polices utilisées</vt:lpstr>
      </vt:variant>
      <vt:variant>
        <vt:i4>8</vt:i4>
      </vt:variant>
      <vt:variant>
        <vt:lpstr>Thème</vt:lpstr>
      </vt:variant>
      <vt:variant>
        <vt:i4>2</vt:i4>
      </vt:variant>
      <vt:variant>
        <vt:lpstr>Titres des diapositives</vt:lpstr>
      </vt:variant>
      <vt:variant>
        <vt:i4>24</vt:i4>
      </vt:variant>
      <vt:variant>
        <vt:lpstr>Diaporamas personnalisés</vt:lpstr>
      </vt:variant>
      <vt:variant>
        <vt:i4>1</vt:i4>
      </vt:variant>
    </vt:vector>
  </HeadingPairs>
  <TitlesOfParts>
    <vt:vector size="35" baseType="lpstr">
      <vt:lpstr>Aptos</vt:lpstr>
      <vt:lpstr>Aptos Display</vt:lpstr>
      <vt:lpstr>Arial</vt:lpstr>
      <vt:lpstr>Calibri</vt:lpstr>
      <vt:lpstr>Calibri Light</vt:lpstr>
      <vt:lpstr>Courier New</vt:lpstr>
      <vt:lpstr>Tw Cen MT</vt:lpstr>
      <vt:lpstr>Wingdings</vt:lpstr>
      <vt:lpstr>Thème Office</vt:lpstr>
      <vt:lpstr>Conception personnalisée</vt:lpstr>
      <vt:lpstr>LUTTE CONTRE LE BLANCHIMENT DES CAPITAUX  ET  LES BÉNÉFICIAIRES EFFECTIFS  </vt:lpstr>
      <vt:lpstr>INTERVENTION DU JURISTE</vt:lpstr>
      <vt:lpstr>INTRODUCTION </vt:lpstr>
      <vt:lpstr>I-LA DÉCLARATION DES BÉNÉFICIAIRES EFFECTIFS (BE)</vt:lpstr>
      <vt:lpstr>Présentation PowerPoint</vt:lpstr>
      <vt:lpstr>II-OBLIGATIONS ET CADRE LEGAL DE LA DECLARATION DES BÉNÉFICIAIRES EFFECTIFS (BE)</vt:lpstr>
      <vt:lpstr>Présentation PowerPoint</vt:lpstr>
      <vt:lpstr>Présentation PowerPoint</vt:lpstr>
      <vt:lpstr>III-SANCTIONS LIEES A LA DECLARATION DES BÉNÉFICIAIRES EFFECTIFS (BE)</vt:lpstr>
      <vt:lpstr>SANCTIONS EN CAS DE NON-CONFORMITÉ</vt:lpstr>
      <vt:lpstr>IV-LES FACILITATEURS PROFESSIONNELS DU BLANCHIMENT</vt:lpstr>
      <vt:lpstr> Définition : Ce sont des personnes qui, pour une rémunération, fournissent des services de blanchiment de capitaux pour le compte d'autres. Ils exploitent leur expertise pour mettre en œuvre des techniques sophistiquées, souvent en tirant parti de failles dans les systèmes financiers et juridiques. Ces services peuvent inclure la création de sociétés offshore, la gestion de comptes bancaires, l'achat et la vente d'actifs, et d'autres activités visant à dissimuler la provenance des fonds illicites . </vt:lpstr>
      <vt:lpstr>V-INDICATEURS CLES ET VIGILANCE  </vt:lpstr>
      <vt:lpstr>INDICATEURS CLÉS DE BLANCHIMENT       PROFESSIONNEL</vt:lpstr>
      <vt:lpstr>VI-L’INSTRUCTION N° 01-03-2025 DE LA BCEAO  </vt:lpstr>
      <vt:lpstr> La BCEAO à établit les obligations des institutions financières et des agréés de change manuel en matière de LBC/FT/FP. </vt:lpstr>
      <vt:lpstr>A-Pour les institutions financières (hors agréés de change manuel) </vt:lpstr>
      <vt:lpstr>B-Obligations Spécifiques des Agréés de Change Manuel</vt:lpstr>
      <vt:lpstr>CONCLUSION PARTIELLE </vt:lpstr>
      <vt:lpstr>INTERVENTION DU FISCALISTE</vt:lpstr>
      <vt:lpstr>INTRODUCTION </vt:lpstr>
      <vt:lpstr>INTERVENTION DU BANQUIER</vt:lpstr>
      <vt:lpstr>INTRODUCTION </vt:lpstr>
      <vt:lpstr>Présentation PowerPoint</vt:lpstr>
      <vt:lpstr>Diaporama personnalisé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 MARKET CI</dc:creator>
  <cp:lastModifiedBy>Constant KEYMAN</cp:lastModifiedBy>
  <cp:revision>17</cp:revision>
  <dcterms:created xsi:type="dcterms:W3CDTF">2025-06-08T09:24:29Z</dcterms:created>
  <dcterms:modified xsi:type="dcterms:W3CDTF">2025-08-09T06:57:55Z</dcterms:modified>
</cp:coreProperties>
</file>